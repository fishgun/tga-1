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4"/>
    <p:sldMasterId id="2147483732" r:id="rId5"/>
  </p:sldMasterIdLst>
  <p:notesMasterIdLst>
    <p:notesMasterId r:id="rId86"/>
  </p:notesMasterIdLst>
  <p:sldIdLst>
    <p:sldId id="256" r:id="rId6"/>
    <p:sldId id="731" r:id="rId7"/>
    <p:sldId id="891" r:id="rId8"/>
    <p:sldId id="878" r:id="rId9"/>
    <p:sldId id="892" r:id="rId10"/>
    <p:sldId id="893" r:id="rId11"/>
    <p:sldId id="894" r:id="rId12"/>
    <p:sldId id="895" r:id="rId13"/>
    <p:sldId id="896" r:id="rId14"/>
    <p:sldId id="897" r:id="rId15"/>
    <p:sldId id="898" r:id="rId16"/>
    <p:sldId id="899" r:id="rId17"/>
    <p:sldId id="900" r:id="rId18"/>
    <p:sldId id="901" r:id="rId19"/>
    <p:sldId id="821" r:id="rId20"/>
    <p:sldId id="822" r:id="rId21"/>
    <p:sldId id="823" r:id="rId22"/>
    <p:sldId id="824" r:id="rId23"/>
    <p:sldId id="825" r:id="rId24"/>
    <p:sldId id="826" r:id="rId25"/>
    <p:sldId id="827" r:id="rId26"/>
    <p:sldId id="828" r:id="rId27"/>
    <p:sldId id="829" r:id="rId28"/>
    <p:sldId id="830" r:id="rId29"/>
    <p:sldId id="831" r:id="rId30"/>
    <p:sldId id="832" r:id="rId31"/>
    <p:sldId id="833" r:id="rId32"/>
    <p:sldId id="884" r:id="rId33"/>
    <p:sldId id="835" r:id="rId34"/>
    <p:sldId id="836" r:id="rId35"/>
    <p:sldId id="837" r:id="rId36"/>
    <p:sldId id="838" r:id="rId37"/>
    <p:sldId id="885" r:id="rId38"/>
    <p:sldId id="879" r:id="rId39"/>
    <p:sldId id="840" r:id="rId40"/>
    <p:sldId id="841" r:id="rId41"/>
    <p:sldId id="842" r:id="rId42"/>
    <p:sldId id="843" r:id="rId43"/>
    <p:sldId id="844" r:id="rId44"/>
    <p:sldId id="845" r:id="rId45"/>
    <p:sldId id="846" r:id="rId46"/>
    <p:sldId id="847" r:id="rId47"/>
    <p:sldId id="848" r:id="rId48"/>
    <p:sldId id="886" r:id="rId49"/>
    <p:sldId id="851" r:id="rId50"/>
    <p:sldId id="852" r:id="rId51"/>
    <p:sldId id="853" r:id="rId52"/>
    <p:sldId id="854" r:id="rId53"/>
    <p:sldId id="855" r:id="rId54"/>
    <p:sldId id="856" r:id="rId55"/>
    <p:sldId id="857" r:id="rId56"/>
    <p:sldId id="858" r:id="rId57"/>
    <p:sldId id="859" r:id="rId58"/>
    <p:sldId id="860" r:id="rId59"/>
    <p:sldId id="861" r:id="rId60"/>
    <p:sldId id="887" r:id="rId61"/>
    <p:sldId id="863" r:id="rId62"/>
    <p:sldId id="864" r:id="rId63"/>
    <p:sldId id="865" r:id="rId64"/>
    <p:sldId id="866" r:id="rId65"/>
    <p:sldId id="889" r:id="rId66"/>
    <p:sldId id="534" r:id="rId67"/>
    <p:sldId id="880" r:id="rId68"/>
    <p:sldId id="813" r:id="rId69"/>
    <p:sldId id="814" r:id="rId70"/>
    <p:sldId id="815" r:id="rId71"/>
    <p:sldId id="881" r:id="rId72"/>
    <p:sldId id="888" r:id="rId73"/>
    <p:sldId id="869" r:id="rId74"/>
    <p:sldId id="870" r:id="rId75"/>
    <p:sldId id="872" r:id="rId76"/>
    <p:sldId id="871" r:id="rId77"/>
    <p:sldId id="873" r:id="rId78"/>
    <p:sldId id="874" r:id="rId79"/>
    <p:sldId id="875" r:id="rId80"/>
    <p:sldId id="876" r:id="rId81"/>
    <p:sldId id="877" r:id="rId82"/>
    <p:sldId id="890" r:id="rId83"/>
    <p:sldId id="629" r:id="rId84"/>
    <p:sldId id="264" r:id="rId85"/>
  </p:sldIdLst>
  <p:sldSz cx="12192000" cy="6858000"/>
  <p:notesSz cx="6858000" cy="9144000"/>
  <p:embeddedFontLst>
    <p:embeddedFont>
      <p:font typeface="Barlow Semi Condensed" panose="00000506000000000000" pitchFamily="2" charset="0"/>
      <p:regular r:id="rId87"/>
      <p:bold r:id="rId88"/>
      <p:italic r:id="rId89"/>
      <p:boldItalic r:id="rId90"/>
    </p:embeddedFont>
    <p:embeddedFont>
      <p:font typeface="Barlow Semi Condensed Light" panose="00000406000000000000" pitchFamily="2" charset="0"/>
      <p:regular r:id="rId91"/>
      <p:italic r:id="rId92"/>
    </p:embeddedFont>
    <p:embeddedFont>
      <p:font typeface="Barlow Semi Condensed Medium" panose="00000606000000000000" pitchFamily="2" charset="0"/>
      <p:regular r:id="rId93"/>
      <p:italic r:id="rId94"/>
    </p:embeddedFont>
    <p:embeddedFont>
      <p:font typeface="Consolas" panose="020B0609020204030204" pitchFamily="49" charset="0"/>
      <p:regular r:id="rId95"/>
      <p:bold r:id="rId96"/>
      <p:italic r:id="rId97"/>
      <p:boldItalic r:id="rId98"/>
    </p:embeddedFont>
    <p:embeddedFont>
      <p:font typeface="Montserrat" panose="00000500000000000000" pitchFamily="2" charset="0"/>
      <p:regular r:id="rId99"/>
      <p:bold r:id="rId100"/>
      <p:italic r:id="rId101"/>
      <p:boldItalic r:id="rId102"/>
    </p:embeddedFont>
    <p:embeddedFont>
      <p:font typeface="Montserrat Light" panose="00000400000000000000" pitchFamily="2" charset="0"/>
      <p:regular r:id="rId103"/>
      <p:italic r:id="rId104"/>
    </p:embeddedFont>
    <p:embeddedFont>
      <p:font typeface="Montserrat SemiBold" panose="00000700000000000000" pitchFamily="2" charset="0"/>
      <p:bold r:id="rId105"/>
      <p:boldItalic r:id="rId106"/>
    </p:embeddedFont>
  </p:embeddedFontLst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vsnitt" id="{9A7850B0-4C5E-46FD-A3F4-AF17FF976F02}">
          <p14:sldIdLst>
            <p14:sldId id="256"/>
          </p14:sldIdLst>
        </p14:section>
        <p14:section name="Agenda" id="{8D9AAE40-68B7-4815-9D64-EF7D36D5F184}">
          <p14:sldIdLst>
            <p14:sldId id="731"/>
          </p14:sldIdLst>
        </p14:section>
        <p14:section name="Bibliotek" id="{ECCA9ADE-D7CB-4112-AA77-930B9C3C473F}">
          <p14:sldIdLst>
            <p14:sldId id="891"/>
            <p14:sldId id="878"/>
            <p14:sldId id="892"/>
            <p14:sldId id="893"/>
            <p14:sldId id="894"/>
            <p14:sldId id="895"/>
            <p14:sldId id="896"/>
          </p14:sldIdLst>
        </p14:section>
        <p14:section name="Timer" id="{7AC4130B-7760-43F5-8326-2DC37E5BB113}">
          <p14:sldIdLst>
            <p14:sldId id="897"/>
            <p14:sldId id="898"/>
            <p14:sldId id="899"/>
            <p14:sldId id="900"/>
            <p14:sldId id="901"/>
          </p14:sldIdLst>
        </p14:section>
        <p14:section name="Projektinställningar" id="{B30E7D2B-C35D-411C-9410-B89FAD615EA9}">
          <p14:sldIdLst>
            <p14:sldId id="821"/>
            <p14:sldId id="822"/>
            <p14:sldId id="823"/>
            <p14:sldId id="824"/>
            <p14:sldId id="825"/>
            <p14:sldId id="826"/>
            <p14:sldId id="827"/>
            <p14:sldId id="828"/>
            <p14:sldId id="829"/>
            <p14:sldId id="830"/>
            <p14:sldId id="831"/>
            <p14:sldId id="832"/>
            <p14:sldId id="833"/>
          </p14:sldIdLst>
        </p14:section>
        <p14:section name="Konfigurationer" id="{37E40EB1-AE71-4B6B-B66D-6186A7406F8D}">
          <p14:sldIdLst>
            <p14:sldId id="884"/>
            <p14:sldId id="835"/>
            <p14:sldId id="836"/>
            <p14:sldId id="837"/>
            <p14:sldId id="838"/>
          </p14:sldIdLst>
        </p14:section>
        <p14:section name="Länka in bibliotek" id="{12CE2D5F-46AD-4104-9ACF-0AA80A097342}">
          <p14:sldIdLst>
            <p14:sldId id="885"/>
            <p14:sldId id="879"/>
            <p14:sldId id="840"/>
            <p14:sldId id="841"/>
            <p14:sldId id="842"/>
            <p14:sldId id="843"/>
            <p14:sldId id="844"/>
            <p14:sldId id="845"/>
            <p14:sldId id="846"/>
            <p14:sldId id="847"/>
            <p14:sldId id="848"/>
          </p14:sldIdLst>
        </p14:section>
        <p14:section name="Skapa eget bibliotek" id="{6372223B-CD15-480A-8F31-B4CBE1EC1B3A}">
          <p14:sldIdLst>
            <p14:sldId id="886"/>
            <p14:sldId id="851"/>
            <p14:sldId id="852"/>
            <p14:sldId id="853"/>
            <p14:sldId id="854"/>
            <p14:sldId id="855"/>
            <p14:sldId id="856"/>
            <p14:sldId id="857"/>
            <p14:sldId id="858"/>
            <p14:sldId id="859"/>
            <p14:sldId id="860"/>
            <p14:sldId id="861"/>
          </p14:sldIdLst>
        </p14:section>
        <p14:section name="Cleaning up the mess" id="{BB96898B-1D45-40C1-98E5-AD3D8A0C623C}">
          <p14:sldIdLst>
            <p14:sldId id="887"/>
            <p14:sldId id="863"/>
            <p14:sldId id="864"/>
            <p14:sldId id="865"/>
            <p14:sldId id="866"/>
          </p14:sldIdLst>
        </p14:section>
        <p14:section name="Timer" id="{85DDEA9E-909D-4858-BED4-3B222297AE6B}">
          <p14:sldIdLst>
            <p14:sldId id="889"/>
            <p14:sldId id="534"/>
            <p14:sldId id="880"/>
            <p14:sldId id="813"/>
            <p14:sldId id="814"/>
            <p14:sldId id="815"/>
            <p14:sldId id="881"/>
          </p14:sldIdLst>
        </p14:section>
        <p14:section name="Länka in ett eget bibliotek" id="{6BD880BD-4AEC-47DE-BF4D-36ECA5CA9140}">
          <p14:sldIdLst>
            <p14:sldId id="888"/>
            <p14:sldId id="869"/>
            <p14:sldId id="870"/>
            <p14:sldId id="872"/>
            <p14:sldId id="871"/>
            <p14:sldId id="873"/>
            <p14:sldId id="874"/>
            <p14:sldId id="875"/>
            <p14:sldId id="876"/>
            <p14:sldId id="877"/>
          </p14:sldIdLst>
        </p14:section>
        <p14:section name="Avlutningsvis" id="{D44CA5E5-1DFF-43F8-9F7F-D16C05CC8A25}">
          <p14:sldIdLst>
            <p14:sldId id="890"/>
            <p14:sldId id="629"/>
            <p14:sldId id="264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mmie Hansmar" initials="TH" lastIdx="5" clrIdx="0">
    <p:extLst>
      <p:ext uri="{19B8F6BF-5375-455C-9EA6-DF929625EA0E}">
        <p15:presenceInfo xmlns:p15="http://schemas.microsoft.com/office/powerpoint/2012/main" userId="S::tommie.hansmar@learnet.se::01915321-cb3a-44dc-b970-f46dd923822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3C80"/>
    <a:srgbClr val="00FFFF"/>
    <a:srgbClr val="0066FF"/>
    <a:srgbClr val="000000"/>
    <a:srgbClr val="70AD47"/>
    <a:srgbClr val="222020"/>
    <a:srgbClr val="1C1C1C"/>
    <a:srgbClr val="652958"/>
    <a:srgbClr val="702E62"/>
    <a:srgbClr val="FFC9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E26A72-85E6-FE36-B4D5-697A674CC083}" v="1944" dt="2026-10-20T05:21:58.628"/>
    <p1510:client id="{2CD009E9-7D30-3547-56EA-FB16C04F9064}" v="1" dt="2026-10-19T20:37:52.901"/>
    <p1510:client id="{DF1F37D7-5D2E-F525-2975-D1CFC8AD756C}" v="675" dt="2026-10-20T07:12:45.3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font" Target="fonts/font3.fntdata"/><Relationship Id="rId112" Type="http://schemas.microsoft.com/office/2015/10/relationships/revisionInfo" Target="revisionInfo.xml"/><Relationship Id="rId16" Type="http://schemas.openxmlformats.org/officeDocument/2006/relationships/slide" Target="slides/slide11.xml"/><Relationship Id="rId107" Type="http://schemas.openxmlformats.org/officeDocument/2006/relationships/commentAuthors" Target="commentAuthors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102" Type="http://schemas.openxmlformats.org/officeDocument/2006/relationships/font" Target="fonts/font16.fntdata"/><Relationship Id="rId5" Type="http://schemas.openxmlformats.org/officeDocument/2006/relationships/slideMaster" Target="slideMasters/slideMaster2.xml"/><Relationship Id="rId90" Type="http://schemas.openxmlformats.org/officeDocument/2006/relationships/font" Target="fonts/font4.fntdata"/><Relationship Id="rId95" Type="http://schemas.openxmlformats.org/officeDocument/2006/relationships/font" Target="fonts/font9.fntdata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font" Target="fonts/font17.fntdata"/><Relationship Id="rId108" Type="http://schemas.openxmlformats.org/officeDocument/2006/relationships/presProps" Target="presProps.xml"/><Relationship Id="rId54" Type="http://schemas.openxmlformats.org/officeDocument/2006/relationships/slide" Target="slides/slide49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91" Type="http://schemas.openxmlformats.org/officeDocument/2006/relationships/font" Target="fonts/font5.fntdata"/><Relationship Id="rId96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6" Type="http://schemas.openxmlformats.org/officeDocument/2006/relationships/font" Target="fonts/font20.fntdata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notesMaster" Target="notesMasters/notesMaster1.xml"/><Relationship Id="rId94" Type="http://schemas.openxmlformats.org/officeDocument/2006/relationships/font" Target="fonts/font8.fntdata"/><Relationship Id="rId99" Type="http://schemas.openxmlformats.org/officeDocument/2006/relationships/font" Target="fonts/font13.fntdata"/><Relationship Id="rId101" Type="http://schemas.openxmlformats.org/officeDocument/2006/relationships/font" Target="fonts/font1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109" Type="http://schemas.openxmlformats.org/officeDocument/2006/relationships/viewProps" Target="viewProps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font" Target="fonts/font11.fntdata"/><Relationship Id="rId104" Type="http://schemas.openxmlformats.org/officeDocument/2006/relationships/font" Target="fonts/font18.fntdata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font" Target="fonts/font6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font" Target="fonts/font1.fntdata"/><Relationship Id="rId110" Type="http://schemas.openxmlformats.org/officeDocument/2006/relationships/theme" Target="theme/theme1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font" Target="fonts/font14.fntdata"/><Relationship Id="rId105" Type="http://schemas.openxmlformats.org/officeDocument/2006/relationships/font" Target="fonts/font19.fntdata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font" Target="fonts/font7.fntdata"/><Relationship Id="rId98" Type="http://schemas.openxmlformats.org/officeDocument/2006/relationships/font" Target="fonts/font12.fntdata"/><Relationship Id="rId3" Type="http://schemas.openxmlformats.org/officeDocument/2006/relationships/customXml" Target="../customXml/item3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62" Type="http://schemas.openxmlformats.org/officeDocument/2006/relationships/slide" Target="slides/slide57.xml"/><Relationship Id="rId83" Type="http://schemas.openxmlformats.org/officeDocument/2006/relationships/slide" Target="slides/slide78.xml"/><Relationship Id="rId88" Type="http://schemas.openxmlformats.org/officeDocument/2006/relationships/font" Target="fonts/font2.fntdata"/><Relationship Id="rId1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8C9C20-B1DE-490C-8FC7-3C106D29E3A9}" type="datetimeFigureOut">
              <a:rPr lang="sv-SE" smtClean="0"/>
              <a:t>2026-10-20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66A65-33CF-4152-9936-08500F05AF2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12465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ntegrated_development_environment" TargetMode="External"/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cs typeface="Calibri"/>
              </a:rPr>
              <a:t>Förhoppningsvis</a:t>
            </a:r>
            <a:r>
              <a:rPr lang="en-US">
                <a:cs typeface="Calibri"/>
              </a:rPr>
              <a:t> med </a:t>
            </a:r>
            <a:r>
              <a:rPr lang="en-US" err="1">
                <a:cs typeface="Calibri"/>
              </a:rPr>
              <a:t>dagens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föreläsning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så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kommer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ni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veta</a:t>
            </a:r>
            <a:r>
              <a:rPr lang="en-US">
                <a:cs typeface="Calibri"/>
              </a:rPr>
              <a:t> var </a:t>
            </a:r>
            <a:r>
              <a:rPr lang="en-US" err="1">
                <a:cs typeface="Calibri"/>
              </a:rPr>
              <a:t>ni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kan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hitta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informationen</a:t>
            </a:r>
            <a:r>
              <a:rPr lang="en-US">
                <a:cs typeface="Calibri"/>
              </a:rPr>
              <a:t>. </a:t>
            </a:r>
            <a:r>
              <a:rPr lang="en-US" err="1">
                <a:cs typeface="Calibri"/>
              </a:rPr>
              <a:t>Att</a:t>
            </a:r>
            <a:r>
              <a:rPr lang="en-US">
                <a:cs typeface="Calibri"/>
              </a:rPr>
              <a:t> </a:t>
            </a:r>
            <a:r>
              <a:rPr lang="en-US" err="1">
                <a:cs typeface="Calibri"/>
              </a:rPr>
              <a:t>ni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kan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gå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tillbaka</a:t>
            </a:r>
            <a:r>
              <a:rPr lang="en-US">
                <a:cs typeface="Calibri"/>
              </a:rPr>
              <a:t> till </a:t>
            </a:r>
            <a:r>
              <a:rPr lang="en-US" err="1">
                <a:cs typeface="Calibri"/>
              </a:rPr>
              <a:t>denna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föreläsning</a:t>
            </a:r>
            <a:r>
              <a:rPr lang="en-US">
                <a:cs typeface="Calibri"/>
              </a:rPr>
              <a:t>. </a:t>
            </a:r>
            <a:r>
              <a:rPr lang="en-US" err="1">
                <a:cs typeface="Calibri"/>
              </a:rPr>
              <a:t>Att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ni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kan</a:t>
            </a:r>
            <a:r>
              <a:rPr lang="en-US">
                <a:cs typeface="Calibri"/>
              </a:rPr>
              <a:t> se inspelningen. 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89646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5381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7964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2736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3259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/>
              <a:t>$(</a:t>
            </a:r>
            <a:r>
              <a:rPr lang="sv-SE" err="1"/>
              <a:t>SolutionDir</a:t>
            </a:r>
            <a:r>
              <a:rPr lang="sv-SE"/>
              <a:t>) = C:\Users\tommie.hansmar\Desktop\C++Tester\PP_Exemples\</a:t>
            </a:r>
            <a:br>
              <a:rPr lang="sv-SE"/>
            </a:br>
            <a:r>
              <a:rPr lang="sv-SE"/>
              <a:t>$(</a:t>
            </a:r>
            <a:r>
              <a:rPr lang="sv-SE" err="1"/>
              <a:t>Configuration</a:t>
            </a:r>
            <a:r>
              <a:rPr lang="sv-SE"/>
              <a:t>) = </a:t>
            </a:r>
            <a:r>
              <a:rPr lang="sv-SE" err="1"/>
              <a:t>Debug</a:t>
            </a:r>
            <a:r>
              <a:rPr lang="sv-SE"/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3724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sv-SE"/>
              <a:t>$(</a:t>
            </a:r>
            <a:r>
              <a:rPr lang="sv-SE" err="1"/>
              <a:t>SolutionDir</a:t>
            </a:r>
            <a:r>
              <a:rPr lang="sv-SE"/>
              <a:t>) – sökvägen till den mapp där vår .</a:t>
            </a:r>
            <a:r>
              <a:rPr lang="sv-SE" err="1"/>
              <a:t>sln</a:t>
            </a:r>
            <a:r>
              <a:rPr lang="sv-SE"/>
              <a:t>-fil ligger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sv-SE"/>
              <a:t>$(</a:t>
            </a:r>
            <a:r>
              <a:rPr lang="sv-SE" err="1"/>
              <a:t>SolutionName</a:t>
            </a:r>
            <a:r>
              <a:rPr lang="sv-SE"/>
              <a:t>) – namnet på vår .</a:t>
            </a:r>
            <a:r>
              <a:rPr lang="sv-SE" err="1"/>
              <a:t>sln</a:t>
            </a:r>
            <a:r>
              <a:rPr lang="sv-SE"/>
              <a:t>-fil (utan filtillägg)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sv-SE"/>
              <a:t>$(</a:t>
            </a:r>
            <a:r>
              <a:rPr lang="sv-SE" err="1"/>
              <a:t>ProjectDir</a:t>
            </a:r>
            <a:r>
              <a:rPr lang="sv-SE"/>
              <a:t>) – sökvägen till den mapp där vår .</a:t>
            </a:r>
            <a:r>
              <a:rPr lang="sv-SE" err="1"/>
              <a:t>vcxproj</a:t>
            </a:r>
            <a:r>
              <a:rPr lang="sv-SE"/>
              <a:t>-fil ligger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sv-SE"/>
              <a:t>$(</a:t>
            </a:r>
            <a:r>
              <a:rPr lang="sv-SE" err="1"/>
              <a:t>TargetName</a:t>
            </a:r>
            <a:r>
              <a:rPr lang="sv-SE"/>
              <a:t>) – det namn vi ställer in för egenskapen Target </a:t>
            </a:r>
            <a:r>
              <a:rPr lang="sv-SE" err="1"/>
              <a:t>Name</a:t>
            </a:r>
            <a:endParaRPr lang="sv-SE"/>
          </a:p>
          <a:p>
            <a:pPr marL="0" indent="0">
              <a:buFont typeface="Arial" panose="020B0604020202020204" pitchFamily="34" charset="0"/>
              <a:buNone/>
            </a:pPr>
            <a:r>
              <a:rPr lang="sv-SE"/>
              <a:t>$(</a:t>
            </a:r>
            <a:r>
              <a:rPr lang="sv-SE" err="1"/>
              <a:t>PlatformTarget</a:t>
            </a:r>
            <a:r>
              <a:rPr lang="sv-SE"/>
              <a:t>) – vilken plattform vi kompilerar för (x86/x64)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sv-SE"/>
              <a:t>$(</a:t>
            </a:r>
            <a:r>
              <a:rPr lang="sv-SE" err="1"/>
              <a:t>PlatformName</a:t>
            </a:r>
            <a:r>
              <a:rPr lang="sv-SE"/>
              <a:t>) – samma som ovan, fast namnet på den (Win32/x64)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sv-SE"/>
              <a:t>$(</a:t>
            </a:r>
            <a:r>
              <a:rPr lang="sv-SE" err="1"/>
              <a:t>Configuration</a:t>
            </a:r>
            <a:r>
              <a:rPr lang="sv-SE"/>
              <a:t>) – vilken konfiguration vi kompilerar för (</a:t>
            </a:r>
            <a:r>
              <a:rPr lang="sv-SE" err="1"/>
              <a:t>Debug</a:t>
            </a:r>
            <a:r>
              <a:rPr lang="sv-SE"/>
              <a:t>/Release)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09574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65639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sv-SE">
              <a:cs typeface="Calibri"/>
            </a:endParaRP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93508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6149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sv-SE">
                <a:cs typeface="Calibri"/>
              </a:rPr>
              <a:t>Inte förvirras av </a:t>
            </a:r>
            <a:r>
              <a:rPr lang="sv-SE" i="1" err="1"/>
              <a:t>Additional</a:t>
            </a:r>
            <a:r>
              <a:rPr lang="sv-SE" i="1"/>
              <a:t> </a:t>
            </a:r>
            <a:r>
              <a:rPr lang="sv-SE" i="1" err="1"/>
              <a:t>Library</a:t>
            </a:r>
            <a:r>
              <a:rPr lang="sv-SE" i="1"/>
              <a:t> </a:t>
            </a:r>
            <a:r>
              <a:rPr lang="sv-SE" i="1" err="1"/>
              <a:t>Directories</a:t>
            </a:r>
            <a:endParaRPr lang="sv-SE" err="1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90171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88957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>
                <a:cs typeface="Calibri"/>
              </a:rPr>
              <a:t>Repetition:</a:t>
            </a:r>
          </a:p>
          <a:p>
            <a:pPr>
              <a:defRPr/>
            </a:pPr>
            <a:r>
              <a:rPr lang="sv-SE" i="1" err="1"/>
              <a:t>Additional</a:t>
            </a:r>
            <a:r>
              <a:rPr lang="sv-SE" i="1"/>
              <a:t> </a:t>
            </a:r>
            <a:r>
              <a:rPr lang="sv-SE" i="1" err="1"/>
              <a:t>Library</a:t>
            </a:r>
            <a:r>
              <a:rPr lang="sv-SE" i="1"/>
              <a:t> </a:t>
            </a:r>
            <a:r>
              <a:rPr lang="sv-SE" i="1" err="1"/>
              <a:t>Directories</a:t>
            </a:r>
            <a:r>
              <a:rPr lang="sv-SE" i="1"/>
              <a:t> – letar </a:t>
            </a:r>
            <a:r>
              <a:rPr lang="sv-SE" i="1" err="1"/>
              <a:t>lib</a:t>
            </a:r>
            <a:r>
              <a:rPr lang="sv-SE" i="1"/>
              <a:t> </a:t>
            </a:r>
            <a:endParaRPr lang="sv-SE">
              <a:cs typeface="Calibri" panose="020F0502020204030204"/>
            </a:endParaRPr>
          </a:p>
          <a:p>
            <a:pPr>
              <a:defRPr/>
            </a:pPr>
            <a:r>
              <a:rPr lang="sv-SE" i="1" err="1"/>
              <a:t>Additional</a:t>
            </a:r>
            <a:r>
              <a:rPr lang="sv-SE" i="1"/>
              <a:t> </a:t>
            </a:r>
            <a:r>
              <a:rPr lang="sv-SE" i="1" err="1"/>
              <a:t>Include</a:t>
            </a:r>
            <a:r>
              <a:rPr lang="sv-SE" i="1"/>
              <a:t> </a:t>
            </a:r>
            <a:r>
              <a:rPr lang="sv-SE" i="1" err="1"/>
              <a:t>Directories</a:t>
            </a:r>
            <a:r>
              <a:rPr lang="sv-SE" i="1"/>
              <a:t> – letar </a:t>
            </a:r>
            <a:r>
              <a:rPr lang="sv-SE" i="1" err="1"/>
              <a:t>headers</a:t>
            </a:r>
            <a:endParaRPr lang="sv-SE" err="1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63809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sv-SE">
                <a:cs typeface="Calibri"/>
              </a:rPr>
              <a:t>Först måste ni säga var dom är, sen måste ni säga vilka vi ska använda</a:t>
            </a:r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6256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29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172569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30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798695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31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140791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>
                <a:cs typeface="Calibri"/>
              </a:rPr>
              <a:t>Det heter x86 </a:t>
            </a:r>
            <a:r>
              <a:rPr lang="sv-SE" err="1">
                <a:cs typeface="Calibri"/>
              </a:rPr>
              <a:t>pga</a:t>
            </a:r>
            <a:r>
              <a:rPr lang="sv-SE">
                <a:cs typeface="Calibri"/>
              </a:rPr>
              <a:t> arkitekturen den bygger och körs på. </a:t>
            </a:r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32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446006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>
                <a:cs typeface="Calibri"/>
              </a:rPr>
              <a:t>IDE -</a:t>
            </a:r>
            <a:r>
              <a:rPr lang="sv-SE">
                <a:hlinkClick r:id="rId3"/>
              </a:rPr>
              <a:t>Integrated development environment</a:t>
            </a:r>
            <a:endParaRPr lang="sv-SE">
              <a:cs typeface="Calibri"/>
            </a:endParaRPr>
          </a:p>
          <a:p>
            <a:endParaRPr lang="sv-SE">
              <a:cs typeface="Calibri"/>
            </a:endParaRP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08594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40837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19975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20380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37857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84520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88967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60382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14114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45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72760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46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436746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47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269131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48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490960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49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428597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50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4204137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51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5269481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52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5339809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53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9501641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54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429205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55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5140896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08447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700745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246061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852888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62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0135592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64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1586875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65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6062842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66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560655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69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1642286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70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3839172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71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4197601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72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7495852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73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1197763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74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4320560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75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7601022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445339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582923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1868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jpe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jpeg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11;p21">
            <a:extLst>
              <a:ext uri="{FF2B5EF4-FFF2-40B4-BE49-F238E27FC236}">
                <a16:creationId xmlns:a16="http://schemas.microsoft.com/office/drawing/2014/main" id="{ED3B80BA-C750-2424-4A8E-0B2EC88954C3}"/>
              </a:ext>
            </a:extLst>
          </p:cNvPr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45024" y="2071224"/>
            <a:ext cx="8269510" cy="19754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Rak 9">
            <a:extLst>
              <a:ext uri="{FF2B5EF4-FFF2-40B4-BE49-F238E27FC236}">
                <a16:creationId xmlns:a16="http://schemas.microsoft.com/office/drawing/2014/main" id="{21493EF2-83BB-61F0-F806-BC59365A2F76}"/>
              </a:ext>
            </a:extLst>
          </p:cNvPr>
          <p:cNvCxnSpPr>
            <a:cxnSpLocks/>
          </p:cNvCxnSpPr>
          <p:nvPr/>
        </p:nvCxnSpPr>
        <p:spPr>
          <a:xfrm>
            <a:off x="479425" y="6086793"/>
            <a:ext cx="1123315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601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op Title and pream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04F903F-CACD-24DD-8501-2EAC5E192A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3669" y="380364"/>
            <a:ext cx="11288905" cy="3300095"/>
          </a:xfrm>
        </p:spPr>
        <p:txBody>
          <a:bodyPr anchor="t"/>
          <a:lstStyle>
            <a:lvl1pPr algn="l">
              <a:defRPr sz="8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62970DAE-9769-4BF7-8D4E-B24B82F7F6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4152900"/>
            <a:ext cx="11233150" cy="1544638"/>
          </a:xfrm>
        </p:spPr>
        <p:txBody>
          <a:bodyPr anchor="b">
            <a:normAutofit/>
          </a:bodyPr>
          <a:lstStyle>
            <a:lvl1pPr marL="0" indent="0" algn="l">
              <a:buNone/>
              <a:defRPr sz="2000" b="1" i="0"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10" name="Platshållare för datum 9">
            <a:extLst>
              <a:ext uri="{FF2B5EF4-FFF2-40B4-BE49-F238E27FC236}">
                <a16:creationId xmlns:a16="http://schemas.microsoft.com/office/drawing/2014/main" id="{FC85C157-7B83-8B4E-0213-76E40B4D2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2026-10-20</a:t>
            </a:fld>
            <a:endParaRPr lang="sv-SE"/>
          </a:p>
        </p:txBody>
      </p:sp>
      <p:sp>
        <p:nvSpPr>
          <p:cNvPr id="11" name="Platshållare för sidfot 10">
            <a:extLst>
              <a:ext uri="{FF2B5EF4-FFF2-40B4-BE49-F238E27FC236}">
                <a16:creationId xmlns:a16="http://schemas.microsoft.com/office/drawing/2014/main" id="{F06C98C4-F43F-66F0-7096-A38660F4C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2" name="Platshållare för bildnummer 11">
            <a:extLst>
              <a:ext uri="{FF2B5EF4-FFF2-40B4-BE49-F238E27FC236}">
                <a16:creationId xmlns:a16="http://schemas.microsoft.com/office/drawing/2014/main" id="{1347F4F0-67DF-060F-E99F-02415948C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cxnSp>
        <p:nvCxnSpPr>
          <p:cNvPr id="4" name="Rak 9">
            <a:extLst>
              <a:ext uri="{FF2B5EF4-FFF2-40B4-BE49-F238E27FC236}">
                <a16:creationId xmlns:a16="http://schemas.microsoft.com/office/drawing/2014/main" id="{E63D88D7-D588-6C0B-10DC-F3319A2634E6}"/>
              </a:ext>
            </a:extLst>
          </p:cNvPr>
          <p:cNvCxnSpPr>
            <a:cxnSpLocks/>
          </p:cNvCxnSpPr>
          <p:nvPr/>
        </p:nvCxnSpPr>
        <p:spPr>
          <a:xfrm>
            <a:off x="479425" y="6086793"/>
            <a:ext cx="1123315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7336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Title and preambl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076CF2EF-A1C6-8C59-66DE-B3E11EE2DD5E}"/>
              </a:ext>
            </a:extLst>
          </p:cNvPr>
          <p:cNvSpPr/>
          <p:nvPr/>
        </p:nvSpPr>
        <p:spPr>
          <a:xfrm>
            <a:off x="185057" y="5965371"/>
            <a:ext cx="11702143" cy="816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D67109BD-CE4B-0D5B-6378-342D8787A56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  <p:sp>
        <p:nvSpPr>
          <p:cNvPr id="7" name="Underrubrik 2">
            <a:extLst>
              <a:ext uri="{FF2B5EF4-FFF2-40B4-BE49-F238E27FC236}">
                <a16:creationId xmlns:a16="http://schemas.microsoft.com/office/drawing/2014/main" id="{7F0DA28F-8D8B-1BEA-9E05-E3693CC3E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4653643"/>
            <a:ext cx="11233150" cy="1544638"/>
          </a:xfrm>
        </p:spPr>
        <p:txBody>
          <a:bodyPr anchor="b">
            <a:normAutofit/>
          </a:bodyPr>
          <a:lstStyle>
            <a:lvl1pPr marL="0" indent="0" algn="l">
              <a:buNone/>
              <a:defRPr sz="2000" b="1" i="0"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12" name="Rubrik 1">
            <a:extLst>
              <a:ext uri="{FF2B5EF4-FFF2-40B4-BE49-F238E27FC236}">
                <a16:creationId xmlns:a16="http://schemas.microsoft.com/office/drawing/2014/main" id="{D97054B2-6F4F-2930-7D80-C5810DB0342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3669" y="380364"/>
            <a:ext cx="11288905" cy="3300095"/>
          </a:xfrm>
        </p:spPr>
        <p:txBody>
          <a:bodyPr anchor="t"/>
          <a:lstStyle>
            <a:lvl1pPr algn="l">
              <a:defRPr sz="8000"/>
            </a:lvl1pPr>
          </a:lstStyle>
          <a:p>
            <a:r>
              <a:rPr lang="sv-SE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3938224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Title and pream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40000827-8CB6-F7D2-2DC5-6F898CC80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2026-10-20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3833A91F-F24B-031E-19E8-393CCDFB0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BF5AB70-874D-2E29-53D9-F08DF5315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sp>
        <p:nvSpPr>
          <p:cNvPr id="7" name="Underrubrik 2">
            <a:extLst>
              <a:ext uri="{FF2B5EF4-FFF2-40B4-BE49-F238E27FC236}">
                <a16:creationId xmlns:a16="http://schemas.microsoft.com/office/drawing/2014/main" id="{53B53751-00F6-35E1-BB57-26D6A666E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425813"/>
            <a:ext cx="11233150" cy="1544638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b="1" i="0"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8" name="Rubrik 1">
            <a:extLst>
              <a:ext uri="{FF2B5EF4-FFF2-40B4-BE49-F238E27FC236}">
                <a16:creationId xmlns:a16="http://schemas.microsoft.com/office/drawing/2014/main" id="{9A81336E-4DB4-3DC1-B9ED-FE88BE619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3669" y="2644061"/>
            <a:ext cx="11288905" cy="3300095"/>
          </a:xfrm>
        </p:spPr>
        <p:txBody>
          <a:bodyPr anchor="b"/>
          <a:lstStyle>
            <a:lvl1pPr algn="l">
              <a:defRPr sz="8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cxnSp>
        <p:nvCxnSpPr>
          <p:cNvPr id="2" name="Rak 9">
            <a:extLst>
              <a:ext uri="{FF2B5EF4-FFF2-40B4-BE49-F238E27FC236}">
                <a16:creationId xmlns:a16="http://schemas.microsoft.com/office/drawing/2014/main" id="{9EB18CD4-475C-7CDF-1169-411464C435B2}"/>
              </a:ext>
            </a:extLst>
          </p:cNvPr>
          <p:cNvCxnSpPr>
            <a:cxnSpLocks/>
          </p:cNvCxnSpPr>
          <p:nvPr/>
        </p:nvCxnSpPr>
        <p:spPr>
          <a:xfrm>
            <a:off x="479425" y="6086793"/>
            <a:ext cx="1123315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922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Title and preambl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F69279DF-4BC5-362C-CFE6-497022EF6CDB}"/>
              </a:ext>
            </a:extLst>
          </p:cNvPr>
          <p:cNvSpPr/>
          <p:nvPr/>
        </p:nvSpPr>
        <p:spPr>
          <a:xfrm>
            <a:off x="185057" y="5965371"/>
            <a:ext cx="11702143" cy="816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9" name="Platshållare för bild 9">
            <a:extLst>
              <a:ext uri="{FF2B5EF4-FFF2-40B4-BE49-F238E27FC236}">
                <a16:creationId xmlns:a16="http://schemas.microsoft.com/office/drawing/2014/main" id="{D1AC29A3-0925-073F-A3BF-7412C204F7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  <p:sp>
        <p:nvSpPr>
          <p:cNvPr id="7" name="Underrubrik 2">
            <a:extLst>
              <a:ext uri="{FF2B5EF4-FFF2-40B4-BE49-F238E27FC236}">
                <a16:creationId xmlns:a16="http://schemas.microsoft.com/office/drawing/2014/main" id="{E19978B8-97A3-1F83-5EC1-70E03DD634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425813"/>
            <a:ext cx="11233150" cy="1544638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b="1" i="0"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10" name="Rubrik 1">
            <a:extLst>
              <a:ext uri="{FF2B5EF4-FFF2-40B4-BE49-F238E27FC236}">
                <a16:creationId xmlns:a16="http://schemas.microsoft.com/office/drawing/2014/main" id="{48865797-99C1-0FA1-2B5D-0A78134194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3669" y="3040037"/>
            <a:ext cx="11288905" cy="3300095"/>
          </a:xfrm>
        </p:spPr>
        <p:txBody>
          <a:bodyPr anchor="b"/>
          <a:lstStyle>
            <a:lvl1pPr algn="l">
              <a:defRPr sz="8000"/>
            </a:lvl1pPr>
          </a:lstStyle>
          <a:p>
            <a:r>
              <a:rPr lang="sv-SE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469473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Title and preamble + Patter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3EA561FD-2849-857A-5E59-87544E014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2026-10-20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001D2234-62B1-561A-E743-963E9F263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C76C1071-D53F-4687-91DC-FACFC0294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sp>
        <p:nvSpPr>
          <p:cNvPr id="7" name="Underrubrik 2">
            <a:extLst>
              <a:ext uri="{FF2B5EF4-FFF2-40B4-BE49-F238E27FC236}">
                <a16:creationId xmlns:a16="http://schemas.microsoft.com/office/drawing/2014/main" id="{B28F49CF-12F5-9E2A-7D57-F12ACA39F7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4152900"/>
            <a:ext cx="8517091" cy="1544638"/>
          </a:xfrm>
        </p:spPr>
        <p:txBody>
          <a:bodyPr anchor="b">
            <a:normAutofit/>
          </a:bodyPr>
          <a:lstStyle>
            <a:lvl1pPr marL="0" indent="0" algn="l">
              <a:buNone/>
              <a:defRPr sz="2000" b="1" i="0"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11" name="Rubrik 1">
            <a:extLst>
              <a:ext uri="{FF2B5EF4-FFF2-40B4-BE49-F238E27FC236}">
                <a16:creationId xmlns:a16="http://schemas.microsoft.com/office/drawing/2014/main" id="{A5EE91C2-2F59-EBB9-5972-59CC4CF0A95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3669" y="380364"/>
            <a:ext cx="8572847" cy="3300095"/>
          </a:xfrm>
        </p:spPr>
        <p:txBody>
          <a:bodyPr anchor="t"/>
          <a:lstStyle>
            <a:lvl1pPr algn="l">
              <a:defRPr sz="8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grpSp>
        <p:nvGrpSpPr>
          <p:cNvPr id="2" name="Grupp 1">
            <a:extLst>
              <a:ext uri="{FF2B5EF4-FFF2-40B4-BE49-F238E27FC236}">
                <a16:creationId xmlns:a16="http://schemas.microsoft.com/office/drawing/2014/main" id="{99CE05FC-A456-8311-5F35-8110250B828C}"/>
              </a:ext>
            </a:extLst>
          </p:cNvPr>
          <p:cNvGrpSpPr/>
          <p:nvPr/>
        </p:nvGrpSpPr>
        <p:grpSpPr>
          <a:xfrm>
            <a:off x="8782185" y="0"/>
            <a:ext cx="3409815" cy="6858000"/>
            <a:chOff x="8782185" y="0"/>
            <a:chExt cx="3409815" cy="6858000"/>
          </a:xfrm>
        </p:grpSpPr>
        <p:pic>
          <p:nvPicPr>
            <p:cNvPr id="6" name="Bild 5">
              <a:extLst>
                <a:ext uri="{FF2B5EF4-FFF2-40B4-BE49-F238E27FC236}">
                  <a16:creationId xmlns:a16="http://schemas.microsoft.com/office/drawing/2014/main" id="{B69E5D26-B30A-41F8-9C05-39C72F8C862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16941" r="60974"/>
            <a:stretch>
              <a:fillRect/>
            </a:stretch>
          </p:blipFill>
          <p:spPr>
            <a:xfrm>
              <a:off x="8782185" y="0"/>
              <a:ext cx="3409815" cy="3316460"/>
            </a:xfrm>
            <a:prstGeom prst="rect">
              <a:avLst/>
            </a:prstGeom>
          </p:spPr>
        </p:pic>
        <p:pic>
          <p:nvPicPr>
            <p:cNvPr id="8" name="Bild 7">
              <a:extLst>
                <a:ext uri="{FF2B5EF4-FFF2-40B4-BE49-F238E27FC236}">
                  <a16:creationId xmlns:a16="http://schemas.microsoft.com/office/drawing/2014/main" id="{14EE7369-D16C-8EDA-DCF6-D7EC26AE1D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60974" b="12145"/>
            <a:stretch>
              <a:fillRect/>
            </a:stretch>
          </p:blipFill>
          <p:spPr>
            <a:xfrm>
              <a:off x="8782185" y="3350074"/>
              <a:ext cx="3409815" cy="3507926"/>
            </a:xfrm>
            <a:prstGeom prst="rect">
              <a:avLst/>
            </a:prstGeom>
          </p:spPr>
        </p:pic>
      </p:grpSp>
      <p:cxnSp>
        <p:nvCxnSpPr>
          <p:cNvPr id="10" name="Rak 9">
            <a:extLst>
              <a:ext uri="{FF2B5EF4-FFF2-40B4-BE49-F238E27FC236}">
                <a16:creationId xmlns:a16="http://schemas.microsoft.com/office/drawing/2014/main" id="{A00B38AE-18A4-A88F-6D73-EDC068AE0DFE}"/>
              </a:ext>
            </a:extLst>
          </p:cNvPr>
          <p:cNvCxnSpPr>
            <a:cxnSpLocks/>
          </p:cNvCxnSpPr>
          <p:nvPr/>
        </p:nvCxnSpPr>
        <p:spPr>
          <a:xfrm>
            <a:off x="479425" y="6086793"/>
            <a:ext cx="8192135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836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Title and preamble + Patter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2BD5ACF8-19E3-8F13-19C7-805A11627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2026-10-20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97E7131A-71CD-6749-4C20-831519AD6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BB36E08-C3CA-9B68-4598-DA3942A1C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sp>
        <p:nvSpPr>
          <p:cNvPr id="7" name="Underrubrik 2">
            <a:extLst>
              <a:ext uri="{FF2B5EF4-FFF2-40B4-BE49-F238E27FC236}">
                <a16:creationId xmlns:a16="http://schemas.microsoft.com/office/drawing/2014/main" id="{EDF1C6A1-4294-8B01-8850-E7F6A85C80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4152900"/>
            <a:ext cx="8517091" cy="1544638"/>
          </a:xfrm>
        </p:spPr>
        <p:txBody>
          <a:bodyPr anchor="b">
            <a:normAutofit/>
          </a:bodyPr>
          <a:lstStyle>
            <a:lvl1pPr marL="0" indent="0" algn="l">
              <a:buNone/>
              <a:defRPr sz="2000" b="1" i="0"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9" name="Rubrik 1">
            <a:extLst>
              <a:ext uri="{FF2B5EF4-FFF2-40B4-BE49-F238E27FC236}">
                <a16:creationId xmlns:a16="http://schemas.microsoft.com/office/drawing/2014/main" id="{E24579F3-7B3C-71BD-B5A1-FC7D83E11E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3669" y="380364"/>
            <a:ext cx="8572847" cy="3300095"/>
          </a:xfrm>
        </p:spPr>
        <p:txBody>
          <a:bodyPr anchor="t"/>
          <a:lstStyle>
            <a:lvl1pPr algn="l">
              <a:defRPr sz="8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pic>
        <p:nvPicPr>
          <p:cNvPr id="2" name="Bild 1">
            <a:extLst>
              <a:ext uri="{FF2B5EF4-FFF2-40B4-BE49-F238E27FC236}">
                <a16:creationId xmlns:a16="http://schemas.microsoft.com/office/drawing/2014/main" id="{FB28A033-3195-A739-29EA-F0CA7155BE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3937"/>
          <a:stretch>
            <a:fillRect/>
          </a:stretch>
        </p:blipFill>
        <p:spPr>
          <a:xfrm>
            <a:off x="8782185" y="-1"/>
            <a:ext cx="3409815" cy="6862699"/>
          </a:xfrm>
          <a:prstGeom prst="rect">
            <a:avLst/>
          </a:prstGeom>
        </p:spPr>
      </p:pic>
      <p:cxnSp>
        <p:nvCxnSpPr>
          <p:cNvPr id="10" name="Rak 9">
            <a:extLst>
              <a:ext uri="{FF2B5EF4-FFF2-40B4-BE49-F238E27FC236}">
                <a16:creationId xmlns:a16="http://schemas.microsoft.com/office/drawing/2014/main" id="{FC52CE6A-D8F8-83E4-E8F5-920941CE4DA8}"/>
              </a:ext>
            </a:extLst>
          </p:cNvPr>
          <p:cNvCxnSpPr>
            <a:cxnSpLocks/>
          </p:cNvCxnSpPr>
          <p:nvPr/>
        </p:nvCxnSpPr>
        <p:spPr>
          <a:xfrm>
            <a:off x="479425" y="6086793"/>
            <a:ext cx="8192135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823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5B66D1DE-B4D7-D5C2-D62D-EE882A2A8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2026-10-20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9B87733A-9B5E-1981-D919-C77D9438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5075A07D-2287-FF61-5D6C-2678319CD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sp>
        <p:nvSpPr>
          <p:cNvPr id="7" name="Rubrik 1">
            <a:extLst>
              <a:ext uri="{FF2B5EF4-FFF2-40B4-BE49-F238E27FC236}">
                <a16:creationId xmlns:a16="http://schemas.microsoft.com/office/drawing/2014/main" id="{208FBC27-C4CD-2545-89C6-8829ACB673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3669" y="549274"/>
            <a:ext cx="11288905" cy="5148263"/>
          </a:xfrm>
        </p:spPr>
        <p:txBody>
          <a:bodyPr anchor="ctr"/>
          <a:lstStyle>
            <a:lvl1pPr algn="l">
              <a:defRPr sz="8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cxnSp>
        <p:nvCxnSpPr>
          <p:cNvPr id="2" name="Rak 9">
            <a:extLst>
              <a:ext uri="{FF2B5EF4-FFF2-40B4-BE49-F238E27FC236}">
                <a16:creationId xmlns:a16="http://schemas.microsoft.com/office/drawing/2014/main" id="{4DDD69AD-9569-485B-5D3D-D20C9DA833E3}"/>
              </a:ext>
            </a:extLst>
          </p:cNvPr>
          <p:cNvCxnSpPr>
            <a:cxnSpLocks/>
          </p:cNvCxnSpPr>
          <p:nvPr/>
        </p:nvCxnSpPr>
        <p:spPr>
          <a:xfrm>
            <a:off x="479425" y="6086793"/>
            <a:ext cx="1123315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160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FC69325E-E06D-9BF3-4A3E-8C4C82359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2026-10-20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6118687-4A16-BA55-C6AB-3EB711311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663FA246-DEAB-156E-6415-7BFE48D83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sp>
        <p:nvSpPr>
          <p:cNvPr id="6" name="Underrubrik 2">
            <a:extLst>
              <a:ext uri="{FF2B5EF4-FFF2-40B4-BE49-F238E27FC236}">
                <a16:creationId xmlns:a16="http://schemas.microsoft.com/office/drawing/2014/main" id="{50A963AD-5CAC-A5EB-52E3-DC666F6E09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549275"/>
            <a:ext cx="11233150" cy="5148263"/>
          </a:xfrm>
        </p:spPr>
        <p:txBody>
          <a:bodyPr anchor="ctr">
            <a:normAutofit/>
          </a:bodyPr>
          <a:lstStyle>
            <a:lvl1pPr marL="288000" indent="-288000" algn="l">
              <a:buFont typeface="Wingdings" pitchFamily="2" charset="2"/>
              <a:buChar char="§"/>
              <a:defRPr sz="2800" b="1" i="0"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cxnSp>
        <p:nvCxnSpPr>
          <p:cNvPr id="2" name="Rak 9">
            <a:extLst>
              <a:ext uri="{FF2B5EF4-FFF2-40B4-BE49-F238E27FC236}">
                <a16:creationId xmlns:a16="http://schemas.microsoft.com/office/drawing/2014/main" id="{0ABC007B-A65F-FEDC-B9E5-7A54724E8FEC}"/>
              </a:ext>
            </a:extLst>
          </p:cNvPr>
          <p:cNvCxnSpPr>
            <a:cxnSpLocks/>
          </p:cNvCxnSpPr>
          <p:nvPr/>
        </p:nvCxnSpPr>
        <p:spPr>
          <a:xfrm>
            <a:off x="479425" y="6086793"/>
            <a:ext cx="1123315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6680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ubrik 8">
            <a:extLst>
              <a:ext uri="{FF2B5EF4-FFF2-40B4-BE49-F238E27FC236}">
                <a16:creationId xmlns:a16="http://schemas.microsoft.com/office/drawing/2014/main" id="{D9355F84-4024-834E-FC30-84CD06B3CE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10" name="Platshållare för datum 9">
            <a:extLst>
              <a:ext uri="{FF2B5EF4-FFF2-40B4-BE49-F238E27FC236}">
                <a16:creationId xmlns:a16="http://schemas.microsoft.com/office/drawing/2014/main" id="{A7DFB35B-8444-FC8C-FAE9-1DC537405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2026-10-20</a:t>
            </a:fld>
            <a:endParaRPr lang="sv-SE"/>
          </a:p>
        </p:txBody>
      </p:sp>
      <p:sp>
        <p:nvSpPr>
          <p:cNvPr id="11" name="Platshållare för sidfot 10">
            <a:extLst>
              <a:ext uri="{FF2B5EF4-FFF2-40B4-BE49-F238E27FC236}">
                <a16:creationId xmlns:a16="http://schemas.microsoft.com/office/drawing/2014/main" id="{7276C3D4-25B8-5578-4452-3C816818B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2" name="Platshållare för bildnummer 11">
            <a:extLst>
              <a:ext uri="{FF2B5EF4-FFF2-40B4-BE49-F238E27FC236}">
                <a16:creationId xmlns:a16="http://schemas.microsoft.com/office/drawing/2014/main" id="{C297EA4D-CDC5-7F59-2941-FBF1C2B88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cxnSp>
        <p:nvCxnSpPr>
          <p:cNvPr id="2" name="Rak 9">
            <a:extLst>
              <a:ext uri="{FF2B5EF4-FFF2-40B4-BE49-F238E27FC236}">
                <a16:creationId xmlns:a16="http://schemas.microsoft.com/office/drawing/2014/main" id="{D182D79A-AD01-7B41-AEA8-7071BD2F4473}"/>
              </a:ext>
            </a:extLst>
          </p:cNvPr>
          <p:cNvCxnSpPr>
            <a:cxnSpLocks/>
          </p:cNvCxnSpPr>
          <p:nvPr/>
        </p:nvCxnSpPr>
        <p:spPr>
          <a:xfrm>
            <a:off x="479425" y="6086793"/>
            <a:ext cx="1123315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53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C3EDF05-4702-F52C-38F9-A13DF8275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1" name="Rubrik 10">
            <a:extLst>
              <a:ext uri="{FF2B5EF4-FFF2-40B4-BE49-F238E27FC236}">
                <a16:creationId xmlns:a16="http://schemas.microsoft.com/office/drawing/2014/main" id="{534EDFF3-5FC7-A53A-9FB6-16D8096D6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12" name="Platshållare för datum 11">
            <a:extLst>
              <a:ext uri="{FF2B5EF4-FFF2-40B4-BE49-F238E27FC236}">
                <a16:creationId xmlns:a16="http://schemas.microsoft.com/office/drawing/2014/main" id="{AD685D3C-82CF-F810-A458-789837ED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2026-10-20</a:t>
            </a:fld>
            <a:endParaRPr lang="sv-SE"/>
          </a:p>
        </p:txBody>
      </p:sp>
      <p:sp>
        <p:nvSpPr>
          <p:cNvPr id="13" name="Platshållare för sidfot 12">
            <a:extLst>
              <a:ext uri="{FF2B5EF4-FFF2-40B4-BE49-F238E27FC236}">
                <a16:creationId xmlns:a16="http://schemas.microsoft.com/office/drawing/2014/main" id="{F571C0A2-72A8-3244-912D-00FB45362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4" name="Platshållare för bildnummer 13">
            <a:extLst>
              <a:ext uri="{FF2B5EF4-FFF2-40B4-BE49-F238E27FC236}">
                <a16:creationId xmlns:a16="http://schemas.microsoft.com/office/drawing/2014/main" id="{EDF6EEEF-7840-2645-E156-D0F21E1BB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482657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C3EDF05-4702-F52C-38F9-A13DF8275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629" y="1505666"/>
            <a:ext cx="11298946" cy="4191871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1" name="Rubrik 10">
            <a:extLst>
              <a:ext uri="{FF2B5EF4-FFF2-40B4-BE49-F238E27FC236}">
                <a16:creationId xmlns:a16="http://schemas.microsoft.com/office/drawing/2014/main" id="{534EDFF3-5FC7-A53A-9FB6-16D8096D6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7919" y="441326"/>
            <a:ext cx="11264656" cy="782458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12" name="Platshållare för datum 11">
            <a:extLst>
              <a:ext uri="{FF2B5EF4-FFF2-40B4-BE49-F238E27FC236}">
                <a16:creationId xmlns:a16="http://schemas.microsoft.com/office/drawing/2014/main" id="{AD685D3C-82CF-F810-A458-789837ED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2026-10-20</a:t>
            </a:fld>
            <a:endParaRPr lang="sv-SE"/>
          </a:p>
        </p:txBody>
      </p:sp>
      <p:sp>
        <p:nvSpPr>
          <p:cNvPr id="13" name="Platshållare för sidfot 12">
            <a:extLst>
              <a:ext uri="{FF2B5EF4-FFF2-40B4-BE49-F238E27FC236}">
                <a16:creationId xmlns:a16="http://schemas.microsoft.com/office/drawing/2014/main" id="{F571C0A2-72A8-3244-912D-00FB45362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4" name="Platshållare för bildnummer 13">
            <a:extLst>
              <a:ext uri="{FF2B5EF4-FFF2-40B4-BE49-F238E27FC236}">
                <a16:creationId xmlns:a16="http://schemas.microsoft.com/office/drawing/2014/main" id="{EDF6EEEF-7840-2645-E156-D0F21E1BB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87349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94832A1-73E5-AE88-9FDA-06DC321ED6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49184BBA-67D8-17C4-32A6-15FA40143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2026-10-20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4773E1B9-54BF-127A-064C-65E1F37EB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09E6397D-6C44-CBF1-68BE-849F880D0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sp>
        <p:nvSpPr>
          <p:cNvPr id="6" name="Platshållare för text 4">
            <a:extLst>
              <a:ext uri="{FF2B5EF4-FFF2-40B4-BE49-F238E27FC236}">
                <a16:creationId xmlns:a16="http://schemas.microsoft.com/office/drawing/2014/main" id="{40BF78CC-7B9E-325A-DE3A-446BB09899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944" y="2020956"/>
            <a:ext cx="5395051" cy="658872"/>
          </a:xfrm>
        </p:spPr>
        <p:txBody>
          <a:bodyPr anchor="b">
            <a:normAutofit/>
          </a:bodyPr>
          <a:lstStyle>
            <a:lvl1pPr marL="0" indent="0">
              <a:buNone/>
              <a:defRPr sz="1600" b="1" i="0">
                <a:latin typeface="Montserrat SemiBold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7" name="Platshållare för innehåll 5">
            <a:extLst>
              <a:ext uri="{FF2B5EF4-FFF2-40B4-BE49-F238E27FC236}">
                <a16:creationId xmlns:a16="http://schemas.microsoft.com/office/drawing/2014/main" id="{20C24AA2-F83D-BA05-7F85-F0966EF5EDD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98364" y="2963846"/>
            <a:ext cx="5468525" cy="2736000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cxnSp>
        <p:nvCxnSpPr>
          <p:cNvPr id="8" name="Rak 7">
            <a:extLst>
              <a:ext uri="{FF2B5EF4-FFF2-40B4-BE49-F238E27FC236}">
                <a16:creationId xmlns:a16="http://schemas.microsoft.com/office/drawing/2014/main" id="{054A8A58-8361-9BA6-F9FE-93F3968B7D5B}"/>
              </a:ext>
            </a:extLst>
          </p:cNvPr>
          <p:cNvCxnSpPr>
            <a:cxnSpLocks/>
          </p:cNvCxnSpPr>
          <p:nvPr/>
        </p:nvCxnSpPr>
        <p:spPr>
          <a:xfrm>
            <a:off x="482704" y="2854363"/>
            <a:ext cx="5384185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Platshållare för text 4">
            <a:extLst>
              <a:ext uri="{FF2B5EF4-FFF2-40B4-BE49-F238E27FC236}">
                <a16:creationId xmlns:a16="http://schemas.microsoft.com/office/drawing/2014/main" id="{A42DF433-1144-F1AC-4A9B-5063DCECD9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12587" y="2020956"/>
            <a:ext cx="5395051" cy="658872"/>
          </a:xfrm>
        </p:spPr>
        <p:txBody>
          <a:bodyPr anchor="b">
            <a:normAutofit/>
          </a:bodyPr>
          <a:lstStyle>
            <a:lvl1pPr marL="0" indent="0">
              <a:buNone/>
              <a:defRPr sz="1600" b="1" i="0">
                <a:latin typeface="Montserrat SemiBold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0" name="Platshållare för innehåll 5">
            <a:extLst>
              <a:ext uri="{FF2B5EF4-FFF2-40B4-BE49-F238E27FC236}">
                <a16:creationId xmlns:a16="http://schemas.microsoft.com/office/drawing/2014/main" id="{0B0FB16F-165D-0E00-C31F-588DCBF2E1E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244007" y="2963846"/>
            <a:ext cx="5468568" cy="2736000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cxnSp>
        <p:nvCxnSpPr>
          <p:cNvPr id="11" name="Rak 10">
            <a:extLst>
              <a:ext uri="{FF2B5EF4-FFF2-40B4-BE49-F238E27FC236}">
                <a16:creationId xmlns:a16="http://schemas.microsoft.com/office/drawing/2014/main" id="{1C45F27E-079E-E248-5C34-A7C42CB81E13}"/>
              </a:ext>
            </a:extLst>
          </p:cNvPr>
          <p:cNvCxnSpPr>
            <a:cxnSpLocks/>
          </p:cNvCxnSpPr>
          <p:nvPr/>
        </p:nvCxnSpPr>
        <p:spPr>
          <a:xfrm>
            <a:off x="6328347" y="2854363"/>
            <a:ext cx="5384228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9827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A1469D3-62AB-539A-9108-07B261C9B6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57ACE8A2-612A-37A5-9F79-E645D902C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2026-10-20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96F78B3-F75E-9083-A5B1-0C7BD6621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7C1EFEF-71E7-A037-A66A-40B0BCED0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sp>
        <p:nvSpPr>
          <p:cNvPr id="47" name="Platshållare för text 4">
            <a:extLst>
              <a:ext uri="{FF2B5EF4-FFF2-40B4-BE49-F238E27FC236}">
                <a16:creationId xmlns:a16="http://schemas.microsoft.com/office/drawing/2014/main" id="{45F6638C-B9FB-64CE-F243-7745E6E672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944" y="2020956"/>
            <a:ext cx="3491747" cy="658872"/>
          </a:xfrm>
        </p:spPr>
        <p:txBody>
          <a:bodyPr anchor="b">
            <a:normAutofit/>
          </a:bodyPr>
          <a:lstStyle>
            <a:lvl1pPr marL="0" indent="0">
              <a:buNone/>
              <a:defRPr sz="1600" b="1" i="0">
                <a:latin typeface="Montserrat SemiBold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8" name="Platshållare för innehåll 5">
            <a:extLst>
              <a:ext uri="{FF2B5EF4-FFF2-40B4-BE49-F238E27FC236}">
                <a16:creationId xmlns:a16="http://schemas.microsoft.com/office/drawing/2014/main" id="{A73EB068-BE28-3D1B-2F94-5E07042BA8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98364" y="2963846"/>
            <a:ext cx="3560327" cy="273600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cxnSp>
        <p:nvCxnSpPr>
          <p:cNvPr id="49" name="Rak 48">
            <a:extLst>
              <a:ext uri="{FF2B5EF4-FFF2-40B4-BE49-F238E27FC236}">
                <a16:creationId xmlns:a16="http://schemas.microsoft.com/office/drawing/2014/main" id="{014EA7B9-53E8-2C65-9D05-26D51815E16C}"/>
              </a:ext>
            </a:extLst>
          </p:cNvPr>
          <p:cNvCxnSpPr>
            <a:cxnSpLocks/>
          </p:cNvCxnSpPr>
          <p:nvPr/>
        </p:nvCxnSpPr>
        <p:spPr>
          <a:xfrm>
            <a:off x="482704" y="2854363"/>
            <a:ext cx="3475987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Platshållare för text 4">
            <a:extLst>
              <a:ext uri="{FF2B5EF4-FFF2-40B4-BE49-F238E27FC236}">
                <a16:creationId xmlns:a16="http://schemas.microsoft.com/office/drawing/2014/main" id="{27E6193D-3403-CC91-56C8-62F8F5263CC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39697" y="2020956"/>
            <a:ext cx="3491747" cy="658872"/>
          </a:xfrm>
        </p:spPr>
        <p:txBody>
          <a:bodyPr anchor="b">
            <a:normAutofit/>
          </a:bodyPr>
          <a:lstStyle>
            <a:lvl1pPr marL="0" indent="0">
              <a:buNone/>
              <a:defRPr sz="1600" b="1" i="0">
                <a:latin typeface="Montserrat SemiBold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70" name="Platshållare för innehåll 5">
            <a:extLst>
              <a:ext uri="{FF2B5EF4-FFF2-40B4-BE49-F238E27FC236}">
                <a16:creationId xmlns:a16="http://schemas.microsoft.com/office/drawing/2014/main" id="{9B0364F1-0860-C4F8-99CD-F59E12EF108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71117" y="2963846"/>
            <a:ext cx="3560327" cy="273600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cxnSp>
        <p:nvCxnSpPr>
          <p:cNvPr id="71" name="Rak 70">
            <a:extLst>
              <a:ext uri="{FF2B5EF4-FFF2-40B4-BE49-F238E27FC236}">
                <a16:creationId xmlns:a16="http://schemas.microsoft.com/office/drawing/2014/main" id="{CB93E45B-EC63-6728-BF8D-5E89C334ACA3}"/>
              </a:ext>
            </a:extLst>
          </p:cNvPr>
          <p:cNvCxnSpPr>
            <a:cxnSpLocks/>
          </p:cNvCxnSpPr>
          <p:nvPr/>
        </p:nvCxnSpPr>
        <p:spPr>
          <a:xfrm>
            <a:off x="4355457" y="2854363"/>
            <a:ext cx="3475987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Platshållare för text 4">
            <a:extLst>
              <a:ext uri="{FF2B5EF4-FFF2-40B4-BE49-F238E27FC236}">
                <a16:creationId xmlns:a16="http://schemas.microsoft.com/office/drawing/2014/main" id="{BDC3F0BD-303F-3C04-AE95-D0673260EF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3485" y="2020956"/>
            <a:ext cx="3491747" cy="658872"/>
          </a:xfrm>
        </p:spPr>
        <p:txBody>
          <a:bodyPr anchor="b">
            <a:normAutofit/>
          </a:bodyPr>
          <a:lstStyle>
            <a:lvl1pPr marL="0" indent="0">
              <a:buNone/>
              <a:defRPr sz="1600" b="1" i="0">
                <a:latin typeface="Montserrat SemiBold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74" name="Platshållare för innehåll 5">
            <a:extLst>
              <a:ext uri="{FF2B5EF4-FFF2-40B4-BE49-F238E27FC236}">
                <a16:creationId xmlns:a16="http://schemas.microsoft.com/office/drawing/2014/main" id="{61C5970F-07C8-A25D-7B0C-05DB58CACA1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134905" y="2963846"/>
            <a:ext cx="3560327" cy="273600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cxnSp>
        <p:nvCxnSpPr>
          <p:cNvPr id="75" name="Rak 74">
            <a:extLst>
              <a:ext uri="{FF2B5EF4-FFF2-40B4-BE49-F238E27FC236}">
                <a16:creationId xmlns:a16="http://schemas.microsoft.com/office/drawing/2014/main" id="{63EED68F-B528-E950-FD0A-8D5FF5C092FE}"/>
              </a:ext>
            </a:extLst>
          </p:cNvPr>
          <p:cNvCxnSpPr>
            <a:cxnSpLocks/>
          </p:cNvCxnSpPr>
          <p:nvPr/>
        </p:nvCxnSpPr>
        <p:spPr>
          <a:xfrm>
            <a:off x="8219245" y="2854363"/>
            <a:ext cx="3475987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8529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2C731809-CB3D-A648-041E-5DDC97DA5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1"/>
            <a:ext cx="6096000" cy="6858000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18" name="Platshållare för innehåll 2">
            <a:extLst>
              <a:ext uri="{FF2B5EF4-FFF2-40B4-BE49-F238E27FC236}">
                <a16:creationId xmlns:a16="http://schemas.microsoft.com/office/drawing/2014/main" id="{86116100-DC44-2997-0BDE-851CA658BD7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2275" y="2240280"/>
            <a:ext cx="5191125" cy="345725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9" name="Rubrik 10">
            <a:extLst>
              <a:ext uri="{FF2B5EF4-FFF2-40B4-BE49-F238E27FC236}">
                <a16:creationId xmlns:a16="http://schemas.microsoft.com/office/drawing/2014/main" id="{4498263B-494C-256F-604C-06229565E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7122" y="452476"/>
            <a:ext cx="5166278" cy="1392993"/>
          </a:xfrm>
        </p:spPr>
        <p:txBody>
          <a:bodyPr/>
          <a:lstStyle>
            <a:lvl1pPr>
              <a:defRPr sz="4400"/>
            </a:lvl1pPr>
          </a:lstStyle>
          <a:p>
            <a:r>
              <a:rPr lang="sv-SE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822139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Large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E80E5B26-867E-709F-07CF-5CA19CB4F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2026-10-20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E1EC5658-9F8D-2BB9-577F-B93BC46C0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7D8B6623-21E5-C4E9-F03C-AE06B2E93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sp>
        <p:nvSpPr>
          <p:cNvPr id="6" name="Platshållare för innehåll 2">
            <a:extLst>
              <a:ext uri="{FF2B5EF4-FFF2-40B4-BE49-F238E27FC236}">
                <a16:creationId xmlns:a16="http://schemas.microsoft.com/office/drawing/2014/main" id="{6ED70594-3D49-24EE-B8E6-48ECADC07D0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10845" y="2240280"/>
            <a:ext cx="3353435" cy="3457257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Rubrik 10">
            <a:extLst>
              <a:ext uri="{FF2B5EF4-FFF2-40B4-BE49-F238E27FC236}">
                <a16:creationId xmlns:a16="http://schemas.microsoft.com/office/drawing/2014/main" id="{CAC80BC8-1779-6331-3E1A-D1B017C346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274" y="483530"/>
            <a:ext cx="3306006" cy="1361146"/>
          </a:xfrm>
        </p:spPr>
        <p:txBody>
          <a:bodyPr/>
          <a:lstStyle>
            <a:lvl1pPr>
              <a:defRPr sz="35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11" name="Platshållare för bild 10">
            <a:extLst>
              <a:ext uri="{FF2B5EF4-FFF2-40B4-BE49-F238E27FC236}">
                <a16:creationId xmlns:a16="http://schemas.microsoft.com/office/drawing/2014/main" id="{6BCE843E-F532-46C3-E189-579240AC50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62438" y="0"/>
            <a:ext cx="7929562" cy="6858000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2334360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tshållare för datum 7">
            <a:extLst>
              <a:ext uri="{FF2B5EF4-FFF2-40B4-BE49-F238E27FC236}">
                <a16:creationId xmlns:a16="http://schemas.microsoft.com/office/drawing/2014/main" id="{81F0A319-F51F-7D08-1F72-4D037CD00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2026-10-20</a:t>
            </a:fld>
            <a:endParaRPr lang="sv-SE"/>
          </a:p>
        </p:txBody>
      </p:sp>
      <p:sp>
        <p:nvSpPr>
          <p:cNvPr id="9" name="Platshållare för sidfot 8">
            <a:extLst>
              <a:ext uri="{FF2B5EF4-FFF2-40B4-BE49-F238E27FC236}">
                <a16:creationId xmlns:a16="http://schemas.microsoft.com/office/drawing/2014/main" id="{A697B956-BA1C-7B7C-4BE3-BC8E69481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0" name="Platshållare för bildnummer 9">
            <a:extLst>
              <a:ext uri="{FF2B5EF4-FFF2-40B4-BE49-F238E27FC236}">
                <a16:creationId xmlns:a16="http://schemas.microsoft.com/office/drawing/2014/main" id="{9F374609-7B57-DDFB-68E0-30DC6EA8A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sp>
        <p:nvSpPr>
          <p:cNvPr id="13" name="Platshållare för bild 2">
            <a:extLst>
              <a:ext uri="{FF2B5EF4-FFF2-40B4-BE49-F238E27FC236}">
                <a16:creationId xmlns:a16="http://schemas.microsoft.com/office/drawing/2014/main" id="{89793E56-CC04-D840-4BF6-B51D78F5A8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"/>
            <a:ext cx="6096000" cy="6858000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/>
              <a:t>Klicka på ikonen för att lägga till en bild</a:t>
            </a:r>
          </a:p>
        </p:txBody>
      </p:sp>
      <p:pic>
        <p:nvPicPr>
          <p:cNvPr id="15" name="Bild 14">
            <a:extLst>
              <a:ext uri="{FF2B5EF4-FFF2-40B4-BE49-F238E27FC236}">
                <a16:creationId xmlns:a16="http://schemas.microsoft.com/office/drawing/2014/main" id="{476F53B0-E082-2F8D-062D-6B2367E345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3908" y="6386078"/>
            <a:ext cx="872990" cy="208548"/>
          </a:xfrm>
          <a:prstGeom prst="rect">
            <a:avLst/>
          </a:prstGeom>
        </p:spPr>
      </p:pic>
      <p:sp>
        <p:nvSpPr>
          <p:cNvPr id="18" name="Platshållare för innehåll 2">
            <a:extLst>
              <a:ext uri="{FF2B5EF4-FFF2-40B4-BE49-F238E27FC236}">
                <a16:creationId xmlns:a16="http://schemas.microsoft.com/office/drawing/2014/main" id="{AAECC37F-B724-B7F2-2171-5A94BBD137A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521450" y="2240280"/>
            <a:ext cx="5191125" cy="345725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9" name="Rubrik 10">
            <a:extLst>
              <a:ext uri="{FF2B5EF4-FFF2-40B4-BE49-F238E27FC236}">
                <a16:creationId xmlns:a16="http://schemas.microsoft.com/office/drawing/2014/main" id="{E6DC3D87-A398-D3C6-FC9D-7102E47621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46297" y="452476"/>
            <a:ext cx="5166278" cy="1392993"/>
          </a:xfrm>
        </p:spPr>
        <p:txBody>
          <a:bodyPr/>
          <a:lstStyle>
            <a:lvl1pPr>
              <a:defRPr sz="4400"/>
            </a:lvl1pPr>
          </a:lstStyle>
          <a:p>
            <a:r>
              <a:rPr lang="sv-SE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39842131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Large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30AC3276-44F3-CCF0-F839-936EC78B1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2026-10-20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F6127931-E606-C245-FD08-5D4652179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6A678F48-260B-4A61-AAA5-842F14DA8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bild 10">
            <a:extLst>
              <a:ext uri="{FF2B5EF4-FFF2-40B4-BE49-F238E27FC236}">
                <a16:creationId xmlns:a16="http://schemas.microsoft.com/office/drawing/2014/main" id="{0B78F380-7507-DDA8-9E98-731C8C06FF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929562" cy="6858000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  <p:pic>
        <p:nvPicPr>
          <p:cNvPr id="10" name="Bild 9">
            <a:extLst>
              <a:ext uri="{FF2B5EF4-FFF2-40B4-BE49-F238E27FC236}">
                <a16:creationId xmlns:a16="http://schemas.microsoft.com/office/drawing/2014/main" id="{3E566471-A819-98A0-48CD-0F236AAD65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26906" y="6386078"/>
            <a:ext cx="872990" cy="208548"/>
          </a:xfrm>
          <a:prstGeom prst="rect">
            <a:avLst/>
          </a:prstGeom>
        </p:spPr>
      </p:pic>
      <p:sp>
        <p:nvSpPr>
          <p:cNvPr id="13" name="Platshållare för innehåll 2">
            <a:extLst>
              <a:ext uri="{FF2B5EF4-FFF2-40B4-BE49-F238E27FC236}">
                <a16:creationId xmlns:a16="http://schemas.microsoft.com/office/drawing/2014/main" id="{D9205AC7-9E0E-C793-289D-56B48B1D3C9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359140" y="2240280"/>
            <a:ext cx="3353435" cy="3457257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4" name="Rubrik 10">
            <a:extLst>
              <a:ext uri="{FF2B5EF4-FFF2-40B4-BE49-F238E27FC236}">
                <a16:creationId xmlns:a16="http://schemas.microsoft.com/office/drawing/2014/main" id="{B3A8142B-48E9-6F64-A547-3C02E5276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06569" y="483530"/>
            <a:ext cx="3306006" cy="1361146"/>
          </a:xfrm>
        </p:spPr>
        <p:txBody>
          <a:bodyPr/>
          <a:lstStyle>
            <a:lvl1pPr>
              <a:defRPr sz="3500"/>
            </a:lvl1pPr>
          </a:lstStyle>
          <a:p>
            <a:r>
              <a:rPr lang="sv-SE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26097463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DDF8839-2559-9962-7C58-0E6C443C7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B678AC68-1C43-8E7C-22C7-14467862F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2026-10-20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CFDA4DA8-A8BA-2984-B29E-B3F33C09D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BA0864F-5F6A-E847-0185-3B04B42FB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sp>
        <p:nvSpPr>
          <p:cNvPr id="6" name="Platshållare för bild 50">
            <a:extLst>
              <a:ext uri="{FF2B5EF4-FFF2-40B4-BE49-F238E27FC236}">
                <a16:creationId xmlns:a16="http://schemas.microsoft.com/office/drawing/2014/main" id="{609B2E96-C027-8DD9-CCAA-B2CB642C79C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90576" y="2007967"/>
            <a:ext cx="3498850" cy="3703638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  <p:sp>
        <p:nvSpPr>
          <p:cNvPr id="7" name="Platshållare för bild 50">
            <a:extLst>
              <a:ext uri="{FF2B5EF4-FFF2-40B4-BE49-F238E27FC236}">
                <a16:creationId xmlns:a16="http://schemas.microsoft.com/office/drawing/2014/main" id="{6C62D80A-EFCB-73A5-5369-B9CD58E3B87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52158" y="2007967"/>
            <a:ext cx="3498850" cy="3703638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  <p:sp>
        <p:nvSpPr>
          <p:cNvPr id="8" name="Platshållare för bild 50">
            <a:extLst>
              <a:ext uri="{FF2B5EF4-FFF2-40B4-BE49-F238E27FC236}">
                <a16:creationId xmlns:a16="http://schemas.microsoft.com/office/drawing/2014/main" id="{25D7C2DF-1DBC-84B7-DD61-7A51F896AD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13739" y="2007967"/>
            <a:ext cx="3498850" cy="3703638"/>
          </a:xfr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  <p:cxnSp>
        <p:nvCxnSpPr>
          <p:cNvPr id="9" name="Rak 9">
            <a:extLst>
              <a:ext uri="{FF2B5EF4-FFF2-40B4-BE49-F238E27FC236}">
                <a16:creationId xmlns:a16="http://schemas.microsoft.com/office/drawing/2014/main" id="{4800F964-79C6-846F-6813-1DF8A0CAF688}"/>
              </a:ext>
            </a:extLst>
          </p:cNvPr>
          <p:cNvCxnSpPr>
            <a:cxnSpLocks/>
          </p:cNvCxnSpPr>
          <p:nvPr/>
        </p:nvCxnSpPr>
        <p:spPr>
          <a:xfrm>
            <a:off x="479425" y="6086793"/>
            <a:ext cx="1123315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7386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ABEED619-D8FF-E561-9437-5BE2FB065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2026-10-20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2B120164-168B-6D19-1047-F9A31163A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603F6F5-0D06-CEDD-62CE-3F06211D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cxnSp>
        <p:nvCxnSpPr>
          <p:cNvPr id="2" name="Rak 9">
            <a:extLst>
              <a:ext uri="{FF2B5EF4-FFF2-40B4-BE49-F238E27FC236}">
                <a16:creationId xmlns:a16="http://schemas.microsoft.com/office/drawing/2014/main" id="{B5EEF2C2-1F4C-D8FD-EAE6-EA154EF366A6}"/>
              </a:ext>
            </a:extLst>
          </p:cNvPr>
          <p:cNvCxnSpPr>
            <a:cxnSpLocks/>
          </p:cNvCxnSpPr>
          <p:nvPr/>
        </p:nvCxnSpPr>
        <p:spPr>
          <a:xfrm>
            <a:off x="479425" y="6086793"/>
            <a:ext cx="1123315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53259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3123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7100E73A-0205-55D9-B994-66D89FE8591E}"/>
              </a:ext>
            </a:extLst>
          </p:cNvPr>
          <p:cNvSpPr/>
          <p:nvPr/>
        </p:nvSpPr>
        <p:spPr>
          <a:xfrm>
            <a:off x="239151" y="5359791"/>
            <a:ext cx="11690252" cy="14982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Platshållare för bild 7">
            <a:extLst>
              <a:ext uri="{FF2B5EF4-FFF2-40B4-BE49-F238E27FC236}">
                <a16:creationId xmlns:a16="http://schemas.microsoft.com/office/drawing/2014/main" id="{C006EB09-129A-47A5-E6EB-E7E45C40C12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7708835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291D3-3F6C-433D-A15B-CFD919B285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BBD1F-34D8-4B40-8D1E-5C9885E93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00" y="900000"/>
            <a:ext cx="9325708" cy="52801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EC08C-086B-48CD-9DEA-60237D7B53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2026-10-20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156E8-BF74-4377-81FF-B98A3BCDE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F456A-E176-4873-9674-8DCB44C79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393341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He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6907210C-7DFA-4699-B718-297576844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50" y="1118439"/>
            <a:ext cx="1930820" cy="19308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F291D3-3F6C-433D-A15B-CFD919B285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BBD1F-34D8-4B40-8D1E-5C9885E93E3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9426" y="1879903"/>
            <a:ext cx="1371600" cy="407891"/>
          </a:xfrm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/>
              <a:t>Purple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EC08C-086B-48CD-9DEA-60237D7B53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2026-10-20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156E8-BF74-4377-81FF-B98A3BCDE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F456A-E176-4873-9674-8DCB44C79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pic>
        <p:nvPicPr>
          <p:cNvPr id="11" name="Picture 10" descr="Shape&#10;&#10;Description automatically generated">
            <a:extLst>
              <a:ext uri="{FF2B5EF4-FFF2-40B4-BE49-F238E27FC236}">
                <a16:creationId xmlns:a16="http://schemas.microsoft.com/office/drawing/2014/main" id="{6647A0C7-368D-4A78-A01E-A2B23B16BE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060" y="2705549"/>
            <a:ext cx="1930820" cy="1930820"/>
          </a:xfrm>
          <a:prstGeom prst="rect">
            <a:avLst/>
          </a:prstGeom>
        </p:spPr>
      </p:pic>
      <p:pic>
        <p:nvPicPr>
          <p:cNvPr id="14" name="Picture 13" descr="Shape, polygon&#10;&#10;Description automatically generated">
            <a:extLst>
              <a:ext uri="{FF2B5EF4-FFF2-40B4-BE49-F238E27FC236}">
                <a16:creationId xmlns:a16="http://schemas.microsoft.com/office/drawing/2014/main" id="{1D11FF95-F4D8-4BEE-BCDF-D57670627C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50" y="4260974"/>
            <a:ext cx="1930820" cy="1930820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8DBA759-5641-4A71-9DE9-49664E3A31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138879" y="3171305"/>
            <a:ext cx="7149136" cy="999308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0FFAA87-3032-4266-A9C1-639351A2E43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4724517"/>
            <a:ext cx="7149136" cy="999308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D7A3259-3198-4FDC-9F66-7F3C5A23194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209800" y="1579848"/>
            <a:ext cx="7149136" cy="999308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2E2FE17-50B5-462E-BAAB-55133860AD69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487670" y="3467014"/>
            <a:ext cx="1371600" cy="407891"/>
          </a:xfrm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/>
              <a:t>Yellow</a:t>
            </a:r>
            <a:endParaRPr lang="sv-SE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C79E9EE-DE1E-408B-99F0-314E62B3449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19426" y="5022438"/>
            <a:ext cx="1371600" cy="407891"/>
          </a:xfrm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/>
              <a:t>Blue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47543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11;p21">
            <a:extLst>
              <a:ext uri="{FF2B5EF4-FFF2-40B4-BE49-F238E27FC236}">
                <a16:creationId xmlns:a16="http://schemas.microsoft.com/office/drawing/2014/main" id="{ED3B80BA-C750-2424-4A8E-0B2EC88954C3}"/>
              </a:ext>
            </a:extLst>
          </p:cNvPr>
          <p:cNvPicPr preferRelativeResize="0"/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45024" y="1842867"/>
            <a:ext cx="8269510" cy="243220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Rak 9">
            <a:extLst>
              <a:ext uri="{FF2B5EF4-FFF2-40B4-BE49-F238E27FC236}">
                <a16:creationId xmlns:a16="http://schemas.microsoft.com/office/drawing/2014/main" id="{9D77C38D-4AE7-52BE-02BA-320374765E6A}"/>
              </a:ext>
            </a:extLst>
          </p:cNvPr>
          <p:cNvCxnSpPr>
            <a:cxnSpLocks/>
          </p:cNvCxnSpPr>
          <p:nvPr userDrawn="1"/>
        </p:nvCxnSpPr>
        <p:spPr>
          <a:xfrm>
            <a:off x="479425" y="6086793"/>
            <a:ext cx="11233150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4879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op Title and pream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04F903F-CACD-24DD-8501-2EAC5E192A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3669" y="388990"/>
            <a:ext cx="11288905" cy="3300095"/>
          </a:xfrm>
        </p:spPr>
        <p:txBody>
          <a:bodyPr anchor="t"/>
          <a:lstStyle>
            <a:lvl1pPr algn="l">
              <a:defRPr sz="8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62970DAE-9769-4BF7-8D4E-B24B82F7F6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4152900"/>
            <a:ext cx="11233150" cy="1544638"/>
          </a:xfrm>
        </p:spPr>
        <p:txBody>
          <a:bodyPr anchor="b">
            <a:normAutofit/>
          </a:bodyPr>
          <a:lstStyle>
            <a:lvl1pPr marL="0" indent="0" algn="l">
              <a:buNone/>
              <a:defRPr sz="2000" b="1" i="0"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10" name="Platshållare för datum 9">
            <a:extLst>
              <a:ext uri="{FF2B5EF4-FFF2-40B4-BE49-F238E27FC236}">
                <a16:creationId xmlns:a16="http://schemas.microsoft.com/office/drawing/2014/main" id="{FC85C157-7B83-8B4E-0213-76E40B4D2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2026-10-20</a:t>
            </a:fld>
            <a:endParaRPr lang="sv-SE" sz="1100"/>
          </a:p>
        </p:txBody>
      </p:sp>
      <p:sp>
        <p:nvSpPr>
          <p:cNvPr id="11" name="Platshållare för sidfot 10">
            <a:extLst>
              <a:ext uri="{FF2B5EF4-FFF2-40B4-BE49-F238E27FC236}">
                <a16:creationId xmlns:a16="http://schemas.microsoft.com/office/drawing/2014/main" id="{F06C98C4-F43F-66F0-7096-A38660F4C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12" name="Platshållare för bildnummer 11">
            <a:extLst>
              <a:ext uri="{FF2B5EF4-FFF2-40B4-BE49-F238E27FC236}">
                <a16:creationId xmlns:a16="http://schemas.microsoft.com/office/drawing/2014/main" id="{1347F4F0-67DF-060F-E99F-02415948C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  <p:cxnSp>
        <p:nvCxnSpPr>
          <p:cNvPr id="4" name="Rak 9">
            <a:extLst>
              <a:ext uri="{FF2B5EF4-FFF2-40B4-BE49-F238E27FC236}">
                <a16:creationId xmlns:a16="http://schemas.microsoft.com/office/drawing/2014/main" id="{FF2114F3-E292-01F2-A569-58B068F7C6A4}"/>
              </a:ext>
            </a:extLst>
          </p:cNvPr>
          <p:cNvCxnSpPr>
            <a:cxnSpLocks/>
          </p:cNvCxnSpPr>
          <p:nvPr userDrawn="1"/>
        </p:nvCxnSpPr>
        <p:spPr>
          <a:xfrm>
            <a:off x="479425" y="6086793"/>
            <a:ext cx="11233150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03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Title and preambl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076CF2EF-A1C6-8C59-66DE-B3E11EE2DD5E}"/>
              </a:ext>
            </a:extLst>
          </p:cNvPr>
          <p:cNvSpPr/>
          <p:nvPr userDrawn="1"/>
        </p:nvSpPr>
        <p:spPr>
          <a:xfrm>
            <a:off x="185057" y="5965371"/>
            <a:ext cx="11702143" cy="816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D67109BD-CE4B-0D5B-6378-342D8787A56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blipFill dpi="0" rotWithShape="1">
            <a:blip r:embed="rId2" cstate="email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  <p:sp>
        <p:nvSpPr>
          <p:cNvPr id="7" name="Underrubrik 2">
            <a:extLst>
              <a:ext uri="{FF2B5EF4-FFF2-40B4-BE49-F238E27FC236}">
                <a16:creationId xmlns:a16="http://schemas.microsoft.com/office/drawing/2014/main" id="{7F0DA28F-8D8B-1BEA-9E05-E3693CC3E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4653643"/>
            <a:ext cx="11233150" cy="1544638"/>
          </a:xfrm>
        </p:spPr>
        <p:txBody>
          <a:bodyPr anchor="b">
            <a:normAutofit/>
          </a:bodyPr>
          <a:lstStyle>
            <a:lvl1pPr marL="0" indent="0" algn="l">
              <a:buNone/>
              <a:defRPr sz="2000" b="1" i="0"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12" name="Rubrik 1">
            <a:extLst>
              <a:ext uri="{FF2B5EF4-FFF2-40B4-BE49-F238E27FC236}">
                <a16:creationId xmlns:a16="http://schemas.microsoft.com/office/drawing/2014/main" id="{D97054B2-6F4F-2930-7D80-C5810DB0342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3669" y="380364"/>
            <a:ext cx="11288905" cy="3300095"/>
          </a:xfrm>
        </p:spPr>
        <p:txBody>
          <a:bodyPr anchor="t"/>
          <a:lstStyle>
            <a:lvl1pPr algn="l">
              <a:defRPr sz="8000"/>
            </a:lvl1pPr>
          </a:lstStyle>
          <a:p>
            <a:r>
              <a:rPr lang="sv-SE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31578344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Title and pream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40000827-8CB6-F7D2-2DC5-6F898CC80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2026-10-20</a:t>
            </a:fld>
            <a:endParaRPr lang="sv-SE" sz="110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3833A91F-F24B-031E-19E8-393CCDFB0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BF5AB70-874D-2E29-53D9-F08DF5315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  <p:sp>
        <p:nvSpPr>
          <p:cNvPr id="7" name="Underrubrik 2">
            <a:extLst>
              <a:ext uri="{FF2B5EF4-FFF2-40B4-BE49-F238E27FC236}">
                <a16:creationId xmlns:a16="http://schemas.microsoft.com/office/drawing/2014/main" id="{53B53751-00F6-35E1-BB57-26D6A666E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425813"/>
            <a:ext cx="11233150" cy="1544638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b="1" i="0"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8" name="Rubrik 1">
            <a:extLst>
              <a:ext uri="{FF2B5EF4-FFF2-40B4-BE49-F238E27FC236}">
                <a16:creationId xmlns:a16="http://schemas.microsoft.com/office/drawing/2014/main" id="{9A81336E-4DB4-3DC1-B9ED-FE88BE619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3669" y="2644061"/>
            <a:ext cx="11288905" cy="3300095"/>
          </a:xfrm>
        </p:spPr>
        <p:txBody>
          <a:bodyPr anchor="b"/>
          <a:lstStyle>
            <a:lvl1pPr algn="l">
              <a:defRPr sz="8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cxnSp>
        <p:nvCxnSpPr>
          <p:cNvPr id="2" name="Rak 9">
            <a:extLst>
              <a:ext uri="{FF2B5EF4-FFF2-40B4-BE49-F238E27FC236}">
                <a16:creationId xmlns:a16="http://schemas.microsoft.com/office/drawing/2014/main" id="{83C97215-BFF6-7403-823A-3C44D89FAF43}"/>
              </a:ext>
            </a:extLst>
          </p:cNvPr>
          <p:cNvCxnSpPr>
            <a:cxnSpLocks/>
          </p:cNvCxnSpPr>
          <p:nvPr userDrawn="1"/>
        </p:nvCxnSpPr>
        <p:spPr>
          <a:xfrm>
            <a:off x="479425" y="6086793"/>
            <a:ext cx="11233150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025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Title and preambl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F69279DF-4BC5-362C-CFE6-497022EF6CDB}"/>
              </a:ext>
            </a:extLst>
          </p:cNvPr>
          <p:cNvSpPr/>
          <p:nvPr userDrawn="1"/>
        </p:nvSpPr>
        <p:spPr>
          <a:xfrm>
            <a:off x="185057" y="5965371"/>
            <a:ext cx="11702143" cy="816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9" name="Platshållare för bild 9">
            <a:extLst>
              <a:ext uri="{FF2B5EF4-FFF2-40B4-BE49-F238E27FC236}">
                <a16:creationId xmlns:a16="http://schemas.microsoft.com/office/drawing/2014/main" id="{D1AC29A3-0925-073F-A3BF-7412C204F7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blipFill dpi="0" rotWithShape="1">
            <a:blip r:embed="rId2" cstate="email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  <p:sp>
        <p:nvSpPr>
          <p:cNvPr id="7" name="Underrubrik 2">
            <a:extLst>
              <a:ext uri="{FF2B5EF4-FFF2-40B4-BE49-F238E27FC236}">
                <a16:creationId xmlns:a16="http://schemas.microsoft.com/office/drawing/2014/main" id="{E19978B8-97A3-1F83-5EC1-70E03DD634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425813"/>
            <a:ext cx="11233150" cy="1544638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b="1" i="0"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10" name="Rubrik 1">
            <a:extLst>
              <a:ext uri="{FF2B5EF4-FFF2-40B4-BE49-F238E27FC236}">
                <a16:creationId xmlns:a16="http://schemas.microsoft.com/office/drawing/2014/main" id="{48865797-99C1-0FA1-2B5D-0A78134194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3669" y="3040037"/>
            <a:ext cx="11288905" cy="3300095"/>
          </a:xfrm>
        </p:spPr>
        <p:txBody>
          <a:bodyPr anchor="b"/>
          <a:lstStyle>
            <a:lvl1pPr algn="l">
              <a:defRPr sz="8000"/>
            </a:lvl1pPr>
          </a:lstStyle>
          <a:p>
            <a:r>
              <a:rPr lang="sv-SE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42751568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Title and preamble + Patter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Underrubrik 2">
            <a:extLst>
              <a:ext uri="{FF2B5EF4-FFF2-40B4-BE49-F238E27FC236}">
                <a16:creationId xmlns:a16="http://schemas.microsoft.com/office/drawing/2014/main" id="{B28F49CF-12F5-9E2A-7D57-F12ACA39F7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4152900"/>
            <a:ext cx="8517091" cy="1544638"/>
          </a:xfrm>
        </p:spPr>
        <p:txBody>
          <a:bodyPr anchor="b">
            <a:normAutofit/>
          </a:bodyPr>
          <a:lstStyle>
            <a:lvl1pPr marL="0" indent="0" algn="l">
              <a:buNone/>
              <a:defRPr sz="2000" b="1" i="0"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11" name="Rubrik 1">
            <a:extLst>
              <a:ext uri="{FF2B5EF4-FFF2-40B4-BE49-F238E27FC236}">
                <a16:creationId xmlns:a16="http://schemas.microsoft.com/office/drawing/2014/main" id="{A5EE91C2-2F59-EBB9-5972-59CC4CF0A95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3669" y="380364"/>
            <a:ext cx="8572847" cy="3300095"/>
          </a:xfrm>
        </p:spPr>
        <p:txBody>
          <a:bodyPr anchor="t"/>
          <a:lstStyle>
            <a:lvl1pPr algn="l">
              <a:defRPr sz="8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grpSp>
        <p:nvGrpSpPr>
          <p:cNvPr id="2" name="Grupp 1">
            <a:extLst>
              <a:ext uri="{FF2B5EF4-FFF2-40B4-BE49-F238E27FC236}">
                <a16:creationId xmlns:a16="http://schemas.microsoft.com/office/drawing/2014/main" id="{28D53FEF-B541-3B6E-3382-AE05EA8F507C}"/>
              </a:ext>
            </a:extLst>
          </p:cNvPr>
          <p:cNvGrpSpPr/>
          <p:nvPr userDrawn="1"/>
        </p:nvGrpSpPr>
        <p:grpSpPr>
          <a:xfrm>
            <a:off x="8782185" y="0"/>
            <a:ext cx="3409815" cy="6858000"/>
            <a:chOff x="8782185" y="0"/>
            <a:chExt cx="3409815" cy="6858000"/>
          </a:xfrm>
        </p:grpSpPr>
        <p:pic>
          <p:nvPicPr>
            <p:cNvPr id="6" name="Bild 5">
              <a:extLst>
                <a:ext uri="{FF2B5EF4-FFF2-40B4-BE49-F238E27FC236}">
                  <a16:creationId xmlns:a16="http://schemas.microsoft.com/office/drawing/2014/main" id="{FE2F5F55-BA5C-1374-2E32-B950BF14DD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16941" r="60974"/>
            <a:stretch>
              <a:fillRect/>
            </a:stretch>
          </p:blipFill>
          <p:spPr>
            <a:xfrm>
              <a:off x="8782185" y="0"/>
              <a:ext cx="3409815" cy="3316460"/>
            </a:xfrm>
            <a:prstGeom prst="rect">
              <a:avLst/>
            </a:prstGeom>
          </p:spPr>
        </p:pic>
        <p:pic>
          <p:nvPicPr>
            <p:cNvPr id="8" name="Bild 7">
              <a:extLst>
                <a:ext uri="{FF2B5EF4-FFF2-40B4-BE49-F238E27FC236}">
                  <a16:creationId xmlns:a16="http://schemas.microsoft.com/office/drawing/2014/main" id="{5602A401-B856-8E43-EF02-5FF9799C145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60974" b="12145"/>
            <a:stretch>
              <a:fillRect/>
            </a:stretch>
          </p:blipFill>
          <p:spPr>
            <a:xfrm>
              <a:off x="8782185" y="3350074"/>
              <a:ext cx="3409815" cy="3507926"/>
            </a:xfrm>
            <a:prstGeom prst="rect">
              <a:avLst/>
            </a:prstGeom>
          </p:spPr>
        </p:pic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B0D48D7-5246-73E8-2CA8-3CADCEDC2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2026-10-20</a:t>
            </a:fld>
            <a:endParaRPr lang="sv-SE" sz="110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CAD1EA6-9D76-DAA6-C9F5-A0C959979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D58B5B4-9EC3-B907-2F55-33C5BCCF1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  <p:cxnSp>
        <p:nvCxnSpPr>
          <p:cNvPr id="14" name="Rak 9">
            <a:extLst>
              <a:ext uri="{FF2B5EF4-FFF2-40B4-BE49-F238E27FC236}">
                <a16:creationId xmlns:a16="http://schemas.microsoft.com/office/drawing/2014/main" id="{8E522BB4-3217-B4AD-2BCF-80B8383DABB0}"/>
              </a:ext>
            </a:extLst>
          </p:cNvPr>
          <p:cNvCxnSpPr>
            <a:cxnSpLocks/>
          </p:cNvCxnSpPr>
          <p:nvPr userDrawn="1"/>
        </p:nvCxnSpPr>
        <p:spPr>
          <a:xfrm>
            <a:off x="479425" y="6086793"/>
            <a:ext cx="8192135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97987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Title and preamble + Patter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2BD5ACF8-19E3-8F13-19C7-805A11627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2026-10-20</a:t>
            </a:fld>
            <a:endParaRPr lang="sv-SE" sz="110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97E7131A-71CD-6749-4C20-831519AD6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BB36E08-C3CA-9B68-4598-DA3942A1C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  <p:sp>
        <p:nvSpPr>
          <p:cNvPr id="7" name="Underrubrik 2">
            <a:extLst>
              <a:ext uri="{FF2B5EF4-FFF2-40B4-BE49-F238E27FC236}">
                <a16:creationId xmlns:a16="http://schemas.microsoft.com/office/drawing/2014/main" id="{EDF1C6A1-4294-8B01-8850-E7F6A85C80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4152900"/>
            <a:ext cx="8517091" cy="1544638"/>
          </a:xfrm>
        </p:spPr>
        <p:txBody>
          <a:bodyPr anchor="b">
            <a:normAutofit/>
          </a:bodyPr>
          <a:lstStyle>
            <a:lvl1pPr marL="0" indent="0" algn="l">
              <a:buNone/>
              <a:defRPr sz="2000" b="1" i="0"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2254C656-640F-3BB0-58C2-E353DF270B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3937"/>
          <a:stretch>
            <a:fillRect/>
          </a:stretch>
        </p:blipFill>
        <p:spPr>
          <a:xfrm>
            <a:off x="8782185" y="-1"/>
            <a:ext cx="3409815" cy="6862699"/>
          </a:xfrm>
          <a:prstGeom prst="rect">
            <a:avLst/>
          </a:prstGeom>
        </p:spPr>
      </p:pic>
      <p:sp>
        <p:nvSpPr>
          <p:cNvPr id="9" name="Rubrik 1">
            <a:extLst>
              <a:ext uri="{FF2B5EF4-FFF2-40B4-BE49-F238E27FC236}">
                <a16:creationId xmlns:a16="http://schemas.microsoft.com/office/drawing/2014/main" id="{E24579F3-7B3C-71BD-B5A1-FC7D83E11E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3669" y="380364"/>
            <a:ext cx="8572847" cy="3300095"/>
          </a:xfrm>
        </p:spPr>
        <p:txBody>
          <a:bodyPr anchor="t"/>
          <a:lstStyle>
            <a:lvl1pPr algn="l">
              <a:defRPr sz="8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cxnSp>
        <p:nvCxnSpPr>
          <p:cNvPr id="6" name="Rak 9">
            <a:extLst>
              <a:ext uri="{FF2B5EF4-FFF2-40B4-BE49-F238E27FC236}">
                <a16:creationId xmlns:a16="http://schemas.microsoft.com/office/drawing/2014/main" id="{40808D78-5CAF-858E-4201-CC987FFC5220}"/>
              </a:ext>
            </a:extLst>
          </p:cNvPr>
          <p:cNvCxnSpPr>
            <a:cxnSpLocks/>
          </p:cNvCxnSpPr>
          <p:nvPr userDrawn="1"/>
        </p:nvCxnSpPr>
        <p:spPr>
          <a:xfrm>
            <a:off x="479425" y="6086793"/>
            <a:ext cx="8192135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4388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5B66D1DE-B4D7-D5C2-D62D-EE882A2A8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2026-10-20</a:t>
            </a:fld>
            <a:endParaRPr lang="sv-SE" sz="110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9B87733A-9B5E-1981-D919-C77D9438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5075A07D-2287-FF61-5D6C-2678319CD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  <p:sp>
        <p:nvSpPr>
          <p:cNvPr id="7" name="Rubrik 1">
            <a:extLst>
              <a:ext uri="{FF2B5EF4-FFF2-40B4-BE49-F238E27FC236}">
                <a16:creationId xmlns:a16="http://schemas.microsoft.com/office/drawing/2014/main" id="{208FBC27-C4CD-2545-89C6-8829ACB673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3669" y="549274"/>
            <a:ext cx="11288905" cy="5148263"/>
          </a:xfrm>
        </p:spPr>
        <p:txBody>
          <a:bodyPr anchor="ctr"/>
          <a:lstStyle>
            <a:lvl1pPr algn="l">
              <a:defRPr sz="8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cxnSp>
        <p:nvCxnSpPr>
          <p:cNvPr id="2" name="Rak 9">
            <a:extLst>
              <a:ext uri="{FF2B5EF4-FFF2-40B4-BE49-F238E27FC236}">
                <a16:creationId xmlns:a16="http://schemas.microsoft.com/office/drawing/2014/main" id="{CE4D9ED0-35C9-751C-6B33-200DDB839F52}"/>
              </a:ext>
            </a:extLst>
          </p:cNvPr>
          <p:cNvCxnSpPr>
            <a:cxnSpLocks/>
          </p:cNvCxnSpPr>
          <p:nvPr userDrawn="1"/>
        </p:nvCxnSpPr>
        <p:spPr>
          <a:xfrm>
            <a:off x="479425" y="6086793"/>
            <a:ext cx="11233150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6565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FC69325E-E06D-9BF3-4A3E-8C4C82359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2026-10-20</a:t>
            </a:fld>
            <a:endParaRPr lang="sv-SE" sz="110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6118687-4A16-BA55-C6AB-3EB711311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663FA246-DEAB-156E-6415-7BFE48D83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  <p:sp>
        <p:nvSpPr>
          <p:cNvPr id="6" name="Underrubrik 2">
            <a:extLst>
              <a:ext uri="{FF2B5EF4-FFF2-40B4-BE49-F238E27FC236}">
                <a16:creationId xmlns:a16="http://schemas.microsoft.com/office/drawing/2014/main" id="{50A963AD-5CAC-A5EB-52E3-DC666F6E09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549275"/>
            <a:ext cx="11233150" cy="5148263"/>
          </a:xfrm>
        </p:spPr>
        <p:txBody>
          <a:bodyPr anchor="ctr">
            <a:normAutofit/>
          </a:bodyPr>
          <a:lstStyle>
            <a:lvl1pPr marL="288000" indent="-288000" algn="l">
              <a:buFont typeface="Wingdings" pitchFamily="2" charset="2"/>
              <a:buChar char="§"/>
              <a:defRPr sz="2800" b="1" i="0"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cxnSp>
        <p:nvCxnSpPr>
          <p:cNvPr id="2" name="Rak 9">
            <a:extLst>
              <a:ext uri="{FF2B5EF4-FFF2-40B4-BE49-F238E27FC236}">
                <a16:creationId xmlns:a16="http://schemas.microsoft.com/office/drawing/2014/main" id="{D00DCF41-AE84-4169-2466-D4AB5AE7D786}"/>
              </a:ext>
            </a:extLst>
          </p:cNvPr>
          <p:cNvCxnSpPr>
            <a:cxnSpLocks/>
          </p:cNvCxnSpPr>
          <p:nvPr userDrawn="1"/>
        </p:nvCxnSpPr>
        <p:spPr>
          <a:xfrm>
            <a:off x="479425" y="6086793"/>
            <a:ext cx="11233150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2147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ubrik 8">
            <a:extLst>
              <a:ext uri="{FF2B5EF4-FFF2-40B4-BE49-F238E27FC236}">
                <a16:creationId xmlns:a16="http://schemas.microsoft.com/office/drawing/2014/main" id="{D9355F84-4024-834E-FC30-84CD06B3CE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10" name="Platshållare för datum 9">
            <a:extLst>
              <a:ext uri="{FF2B5EF4-FFF2-40B4-BE49-F238E27FC236}">
                <a16:creationId xmlns:a16="http://schemas.microsoft.com/office/drawing/2014/main" id="{A7DFB35B-8444-FC8C-FAE9-1DC537405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2026-10-20</a:t>
            </a:fld>
            <a:endParaRPr lang="sv-SE" sz="1100"/>
          </a:p>
        </p:txBody>
      </p:sp>
      <p:sp>
        <p:nvSpPr>
          <p:cNvPr id="11" name="Platshållare för sidfot 10">
            <a:extLst>
              <a:ext uri="{FF2B5EF4-FFF2-40B4-BE49-F238E27FC236}">
                <a16:creationId xmlns:a16="http://schemas.microsoft.com/office/drawing/2014/main" id="{7276C3D4-25B8-5578-4452-3C816818B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12" name="Platshållare för bildnummer 11">
            <a:extLst>
              <a:ext uri="{FF2B5EF4-FFF2-40B4-BE49-F238E27FC236}">
                <a16:creationId xmlns:a16="http://schemas.microsoft.com/office/drawing/2014/main" id="{C297EA4D-CDC5-7F59-2941-FBF1C2B88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  <p:cxnSp>
        <p:nvCxnSpPr>
          <p:cNvPr id="2" name="Rak 9">
            <a:extLst>
              <a:ext uri="{FF2B5EF4-FFF2-40B4-BE49-F238E27FC236}">
                <a16:creationId xmlns:a16="http://schemas.microsoft.com/office/drawing/2014/main" id="{92196751-BD7F-46B9-FAC9-D601CFDECCE6}"/>
              </a:ext>
            </a:extLst>
          </p:cNvPr>
          <p:cNvCxnSpPr>
            <a:cxnSpLocks/>
          </p:cNvCxnSpPr>
          <p:nvPr userDrawn="1"/>
        </p:nvCxnSpPr>
        <p:spPr>
          <a:xfrm>
            <a:off x="479425" y="6086793"/>
            <a:ext cx="11233150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426107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C3EDF05-4702-F52C-38F9-A13DF8275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1" name="Rubrik 10">
            <a:extLst>
              <a:ext uri="{FF2B5EF4-FFF2-40B4-BE49-F238E27FC236}">
                <a16:creationId xmlns:a16="http://schemas.microsoft.com/office/drawing/2014/main" id="{534EDFF3-5FC7-A53A-9FB6-16D8096D6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7919" y="449951"/>
            <a:ext cx="11264656" cy="139299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12" name="Platshållare för datum 11">
            <a:extLst>
              <a:ext uri="{FF2B5EF4-FFF2-40B4-BE49-F238E27FC236}">
                <a16:creationId xmlns:a16="http://schemas.microsoft.com/office/drawing/2014/main" id="{AD685D3C-82CF-F810-A458-789837ED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2026-10-20</a:t>
            </a:fld>
            <a:endParaRPr lang="sv-SE" sz="1100"/>
          </a:p>
        </p:txBody>
      </p:sp>
      <p:sp>
        <p:nvSpPr>
          <p:cNvPr id="13" name="Platshållare för sidfot 12">
            <a:extLst>
              <a:ext uri="{FF2B5EF4-FFF2-40B4-BE49-F238E27FC236}">
                <a16:creationId xmlns:a16="http://schemas.microsoft.com/office/drawing/2014/main" id="{F571C0A2-72A8-3244-912D-00FB45362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14" name="Platshållare för bildnummer 13">
            <a:extLst>
              <a:ext uri="{FF2B5EF4-FFF2-40B4-BE49-F238E27FC236}">
                <a16:creationId xmlns:a16="http://schemas.microsoft.com/office/drawing/2014/main" id="{EDF6EEEF-7840-2645-E156-D0F21E1BB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</p:spTree>
    <p:extLst>
      <p:ext uri="{BB962C8B-B14F-4D97-AF65-F5344CB8AC3E}">
        <p14:creationId xmlns:p14="http://schemas.microsoft.com/office/powerpoint/2010/main" val="1166785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C3EDF05-4702-F52C-38F9-A13DF8275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629" y="1505666"/>
            <a:ext cx="11298946" cy="4191871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1" name="Rubrik 10">
            <a:extLst>
              <a:ext uri="{FF2B5EF4-FFF2-40B4-BE49-F238E27FC236}">
                <a16:creationId xmlns:a16="http://schemas.microsoft.com/office/drawing/2014/main" id="{534EDFF3-5FC7-A53A-9FB6-16D8096D6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7919" y="441326"/>
            <a:ext cx="11264656" cy="782458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12" name="Platshållare för datum 11">
            <a:extLst>
              <a:ext uri="{FF2B5EF4-FFF2-40B4-BE49-F238E27FC236}">
                <a16:creationId xmlns:a16="http://schemas.microsoft.com/office/drawing/2014/main" id="{AD685D3C-82CF-F810-A458-789837ED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2026-10-20</a:t>
            </a:fld>
            <a:endParaRPr lang="sv-SE" sz="1100"/>
          </a:p>
        </p:txBody>
      </p:sp>
      <p:sp>
        <p:nvSpPr>
          <p:cNvPr id="13" name="Platshållare för sidfot 12">
            <a:extLst>
              <a:ext uri="{FF2B5EF4-FFF2-40B4-BE49-F238E27FC236}">
                <a16:creationId xmlns:a16="http://schemas.microsoft.com/office/drawing/2014/main" id="{F571C0A2-72A8-3244-912D-00FB45362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14" name="Platshållare för bildnummer 13">
            <a:extLst>
              <a:ext uri="{FF2B5EF4-FFF2-40B4-BE49-F238E27FC236}">
                <a16:creationId xmlns:a16="http://schemas.microsoft.com/office/drawing/2014/main" id="{EDF6EEEF-7840-2645-E156-D0F21E1BB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</p:spTree>
    <p:extLst>
      <p:ext uri="{BB962C8B-B14F-4D97-AF65-F5344CB8AC3E}">
        <p14:creationId xmlns:p14="http://schemas.microsoft.com/office/powerpoint/2010/main" val="6467382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94832A1-73E5-AE88-9FDA-06DC321ED6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49184BBA-67D8-17C4-32A6-15FA40143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2026-10-20</a:t>
            </a:fld>
            <a:endParaRPr lang="sv-SE" sz="110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4773E1B9-54BF-127A-064C-65E1F37EB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09E6397D-6C44-CBF1-68BE-849F880D0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  <p:sp>
        <p:nvSpPr>
          <p:cNvPr id="6" name="Platshållare för text 4">
            <a:extLst>
              <a:ext uri="{FF2B5EF4-FFF2-40B4-BE49-F238E27FC236}">
                <a16:creationId xmlns:a16="http://schemas.microsoft.com/office/drawing/2014/main" id="{40BF78CC-7B9E-325A-DE3A-446BB09899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944" y="2020956"/>
            <a:ext cx="5395051" cy="658872"/>
          </a:xfrm>
        </p:spPr>
        <p:txBody>
          <a:bodyPr anchor="b">
            <a:normAutofit/>
          </a:bodyPr>
          <a:lstStyle>
            <a:lvl1pPr marL="0" indent="0">
              <a:buNone/>
              <a:defRPr sz="1600" b="1" i="0">
                <a:latin typeface="Montserrat SemiBold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7" name="Platshållare för innehåll 5">
            <a:extLst>
              <a:ext uri="{FF2B5EF4-FFF2-40B4-BE49-F238E27FC236}">
                <a16:creationId xmlns:a16="http://schemas.microsoft.com/office/drawing/2014/main" id="{20C24AA2-F83D-BA05-7F85-F0966EF5EDD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98364" y="2963846"/>
            <a:ext cx="5468525" cy="2736000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cxnSp>
        <p:nvCxnSpPr>
          <p:cNvPr id="8" name="Rak 7">
            <a:extLst>
              <a:ext uri="{FF2B5EF4-FFF2-40B4-BE49-F238E27FC236}">
                <a16:creationId xmlns:a16="http://schemas.microsoft.com/office/drawing/2014/main" id="{054A8A58-8361-9BA6-F9FE-93F3968B7D5B}"/>
              </a:ext>
            </a:extLst>
          </p:cNvPr>
          <p:cNvCxnSpPr>
            <a:cxnSpLocks/>
          </p:cNvCxnSpPr>
          <p:nvPr userDrawn="1"/>
        </p:nvCxnSpPr>
        <p:spPr>
          <a:xfrm>
            <a:off x="482704" y="2854363"/>
            <a:ext cx="5384185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Platshållare för text 4">
            <a:extLst>
              <a:ext uri="{FF2B5EF4-FFF2-40B4-BE49-F238E27FC236}">
                <a16:creationId xmlns:a16="http://schemas.microsoft.com/office/drawing/2014/main" id="{A42DF433-1144-F1AC-4A9B-5063DCECD9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12587" y="2020956"/>
            <a:ext cx="5395051" cy="658872"/>
          </a:xfrm>
        </p:spPr>
        <p:txBody>
          <a:bodyPr anchor="b">
            <a:normAutofit/>
          </a:bodyPr>
          <a:lstStyle>
            <a:lvl1pPr marL="0" indent="0">
              <a:buNone/>
              <a:defRPr sz="1600" b="1" i="0">
                <a:latin typeface="Montserrat SemiBold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0" name="Platshållare för innehåll 5">
            <a:extLst>
              <a:ext uri="{FF2B5EF4-FFF2-40B4-BE49-F238E27FC236}">
                <a16:creationId xmlns:a16="http://schemas.microsoft.com/office/drawing/2014/main" id="{0B0FB16F-165D-0E00-C31F-588DCBF2E1E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244007" y="2963846"/>
            <a:ext cx="5468568" cy="2736000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cxnSp>
        <p:nvCxnSpPr>
          <p:cNvPr id="11" name="Rak 10">
            <a:extLst>
              <a:ext uri="{FF2B5EF4-FFF2-40B4-BE49-F238E27FC236}">
                <a16:creationId xmlns:a16="http://schemas.microsoft.com/office/drawing/2014/main" id="{1C45F27E-079E-E248-5C34-A7C42CB81E13}"/>
              </a:ext>
            </a:extLst>
          </p:cNvPr>
          <p:cNvCxnSpPr>
            <a:cxnSpLocks/>
          </p:cNvCxnSpPr>
          <p:nvPr userDrawn="1"/>
        </p:nvCxnSpPr>
        <p:spPr>
          <a:xfrm>
            <a:off x="6328347" y="2854363"/>
            <a:ext cx="5384228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34610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A1469D3-62AB-539A-9108-07B261C9B6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7919" y="449951"/>
            <a:ext cx="11264656" cy="139299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57ACE8A2-612A-37A5-9F79-E645D902C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2026-10-20</a:t>
            </a:fld>
            <a:endParaRPr lang="sv-SE" sz="110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96F78B3-F75E-9083-A5B1-0C7BD6621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7C1EFEF-71E7-A037-A66A-40B0BCED0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  <p:sp>
        <p:nvSpPr>
          <p:cNvPr id="47" name="Platshållare för text 4">
            <a:extLst>
              <a:ext uri="{FF2B5EF4-FFF2-40B4-BE49-F238E27FC236}">
                <a16:creationId xmlns:a16="http://schemas.microsoft.com/office/drawing/2014/main" id="{45F6638C-B9FB-64CE-F243-7745E6E672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944" y="2020956"/>
            <a:ext cx="3491747" cy="658872"/>
          </a:xfrm>
        </p:spPr>
        <p:txBody>
          <a:bodyPr anchor="b">
            <a:normAutofit/>
          </a:bodyPr>
          <a:lstStyle>
            <a:lvl1pPr marL="0" indent="0">
              <a:buNone/>
              <a:defRPr sz="1600" b="1" i="0">
                <a:latin typeface="Montserrat SemiBold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8" name="Platshållare för innehåll 5">
            <a:extLst>
              <a:ext uri="{FF2B5EF4-FFF2-40B4-BE49-F238E27FC236}">
                <a16:creationId xmlns:a16="http://schemas.microsoft.com/office/drawing/2014/main" id="{A73EB068-BE28-3D1B-2F94-5E07042BA8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98364" y="2963846"/>
            <a:ext cx="3560327" cy="273600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cxnSp>
        <p:nvCxnSpPr>
          <p:cNvPr id="49" name="Rak 48">
            <a:extLst>
              <a:ext uri="{FF2B5EF4-FFF2-40B4-BE49-F238E27FC236}">
                <a16:creationId xmlns:a16="http://schemas.microsoft.com/office/drawing/2014/main" id="{014EA7B9-53E8-2C65-9D05-26D51815E16C}"/>
              </a:ext>
            </a:extLst>
          </p:cNvPr>
          <p:cNvCxnSpPr>
            <a:cxnSpLocks/>
          </p:cNvCxnSpPr>
          <p:nvPr userDrawn="1"/>
        </p:nvCxnSpPr>
        <p:spPr>
          <a:xfrm>
            <a:off x="482704" y="2854363"/>
            <a:ext cx="3475987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Platshållare för text 4">
            <a:extLst>
              <a:ext uri="{FF2B5EF4-FFF2-40B4-BE49-F238E27FC236}">
                <a16:creationId xmlns:a16="http://schemas.microsoft.com/office/drawing/2014/main" id="{27E6193D-3403-CC91-56C8-62F8F5263CC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39697" y="2020956"/>
            <a:ext cx="3491747" cy="658872"/>
          </a:xfrm>
        </p:spPr>
        <p:txBody>
          <a:bodyPr anchor="b">
            <a:normAutofit/>
          </a:bodyPr>
          <a:lstStyle>
            <a:lvl1pPr marL="0" indent="0">
              <a:buNone/>
              <a:defRPr sz="1600" b="1" i="0">
                <a:latin typeface="Montserrat SemiBold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70" name="Platshållare för innehåll 5">
            <a:extLst>
              <a:ext uri="{FF2B5EF4-FFF2-40B4-BE49-F238E27FC236}">
                <a16:creationId xmlns:a16="http://schemas.microsoft.com/office/drawing/2014/main" id="{9B0364F1-0860-C4F8-99CD-F59E12EF108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71117" y="2963846"/>
            <a:ext cx="3560327" cy="273600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cxnSp>
        <p:nvCxnSpPr>
          <p:cNvPr id="71" name="Rak 70">
            <a:extLst>
              <a:ext uri="{FF2B5EF4-FFF2-40B4-BE49-F238E27FC236}">
                <a16:creationId xmlns:a16="http://schemas.microsoft.com/office/drawing/2014/main" id="{CB93E45B-EC63-6728-BF8D-5E89C334ACA3}"/>
              </a:ext>
            </a:extLst>
          </p:cNvPr>
          <p:cNvCxnSpPr>
            <a:cxnSpLocks/>
          </p:cNvCxnSpPr>
          <p:nvPr userDrawn="1"/>
        </p:nvCxnSpPr>
        <p:spPr>
          <a:xfrm>
            <a:off x="4355457" y="2854363"/>
            <a:ext cx="3475987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Platshållare för text 4">
            <a:extLst>
              <a:ext uri="{FF2B5EF4-FFF2-40B4-BE49-F238E27FC236}">
                <a16:creationId xmlns:a16="http://schemas.microsoft.com/office/drawing/2014/main" id="{BDC3F0BD-303F-3C04-AE95-D0673260EF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3485" y="2020956"/>
            <a:ext cx="3491747" cy="658872"/>
          </a:xfrm>
        </p:spPr>
        <p:txBody>
          <a:bodyPr anchor="b">
            <a:normAutofit/>
          </a:bodyPr>
          <a:lstStyle>
            <a:lvl1pPr marL="0" indent="0">
              <a:buNone/>
              <a:defRPr sz="1600" b="1" i="0">
                <a:latin typeface="Montserrat SemiBold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74" name="Platshållare för innehåll 5">
            <a:extLst>
              <a:ext uri="{FF2B5EF4-FFF2-40B4-BE49-F238E27FC236}">
                <a16:creationId xmlns:a16="http://schemas.microsoft.com/office/drawing/2014/main" id="{61C5970F-07C8-A25D-7B0C-05DB58CACA1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134905" y="2963846"/>
            <a:ext cx="3560327" cy="273600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cxnSp>
        <p:nvCxnSpPr>
          <p:cNvPr id="75" name="Rak 74">
            <a:extLst>
              <a:ext uri="{FF2B5EF4-FFF2-40B4-BE49-F238E27FC236}">
                <a16:creationId xmlns:a16="http://schemas.microsoft.com/office/drawing/2014/main" id="{63EED68F-B528-E950-FD0A-8D5FF5C092FE}"/>
              </a:ext>
            </a:extLst>
          </p:cNvPr>
          <p:cNvCxnSpPr>
            <a:cxnSpLocks/>
          </p:cNvCxnSpPr>
          <p:nvPr userDrawn="1"/>
        </p:nvCxnSpPr>
        <p:spPr>
          <a:xfrm>
            <a:off x="8219245" y="2854363"/>
            <a:ext cx="3475987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707341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2C731809-CB3D-A648-041E-5DDC97DA5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1"/>
            <a:ext cx="6096000" cy="6858000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18" name="Platshållare för innehåll 2">
            <a:extLst>
              <a:ext uri="{FF2B5EF4-FFF2-40B4-BE49-F238E27FC236}">
                <a16:creationId xmlns:a16="http://schemas.microsoft.com/office/drawing/2014/main" id="{86116100-DC44-2997-0BDE-851CA658BD7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2275" y="2240280"/>
            <a:ext cx="5191125" cy="345725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9" name="Rubrik 10">
            <a:extLst>
              <a:ext uri="{FF2B5EF4-FFF2-40B4-BE49-F238E27FC236}">
                <a16:creationId xmlns:a16="http://schemas.microsoft.com/office/drawing/2014/main" id="{4498263B-494C-256F-604C-06229565E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7122" y="452476"/>
            <a:ext cx="5166278" cy="1392993"/>
          </a:xfrm>
        </p:spPr>
        <p:txBody>
          <a:bodyPr/>
          <a:lstStyle>
            <a:lvl1pPr>
              <a:defRPr sz="4400"/>
            </a:lvl1pPr>
          </a:lstStyle>
          <a:p>
            <a:r>
              <a:rPr lang="sv-SE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7430204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Large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E80E5B26-867E-709F-07CF-5CA19CB4F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2026-10-20</a:t>
            </a:fld>
            <a:endParaRPr lang="sv-SE" sz="110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E1EC5658-9F8D-2BB9-577F-B93BC46C0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7D8B6623-21E5-C4E9-F03C-AE06B2E93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  <p:sp>
        <p:nvSpPr>
          <p:cNvPr id="6" name="Platshållare för innehåll 2">
            <a:extLst>
              <a:ext uri="{FF2B5EF4-FFF2-40B4-BE49-F238E27FC236}">
                <a16:creationId xmlns:a16="http://schemas.microsoft.com/office/drawing/2014/main" id="{6ED70594-3D49-24EE-B8E6-48ECADC07D0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10845" y="2240280"/>
            <a:ext cx="3353435" cy="3457257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Rubrik 10">
            <a:extLst>
              <a:ext uri="{FF2B5EF4-FFF2-40B4-BE49-F238E27FC236}">
                <a16:creationId xmlns:a16="http://schemas.microsoft.com/office/drawing/2014/main" id="{CAC80BC8-1779-6331-3E1A-D1B017C346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274" y="483530"/>
            <a:ext cx="3306006" cy="1361146"/>
          </a:xfrm>
        </p:spPr>
        <p:txBody>
          <a:bodyPr/>
          <a:lstStyle>
            <a:lvl1pPr>
              <a:defRPr sz="35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11" name="Platshållare för bild 10">
            <a:extLst>
              <a:ext uri="{FF2B5EF4-FFF2-40B4-BE49-F238E27FC236}">
                <a16:creationId xmlns:a16="http://schemas.microsoft.com/office/drawing/2014/main" id="{6BCE843E-F532-46C3-E189-579240AC50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62438" y="0"/>
            <a:ext cx="7929562" cy="6858000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88939235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tshållare för datum 7">
            <a:extLst>
              <a:ext uri="{FF2B5EF4-FFF2-40B4-BE49-F238E27FC236}">
                <a16:creationId xmlns:a16="http://schemas.microsoft.com/office/drawing/2014/main" id="{81F0A319-F51F-7D08-1F72-4D037CD00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2026-10-20</a:t>
            </a:fld>
            <a:endParaRPr lang="sv-SE" sz="1100"/>
          </a:p>
        </p:txBody>
      </p:sp>
      <p:sp>
        <p:nvSpPr>
          <p:cNvPr id="9" name="Platshållare för sidfot 8">
            <a:extLst>
              <a:ext uri="{FF2B5EF4-FFF2-40B4-BE49-F238E27FC236}">
                <a16:creationId xmlns:a16="http://schemas.microsoft.com/office/drawing/2014/main" id="{A697B956-BA1C-7B7C-4BE3-BC8E69481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10" name="Platshållare för bildnummer 9">
            <a:extLst>
              <a:ext uri="{FF2B5EF4-FFF2-40B4-BE49-F238E27FC236}">
                <a16:creationId xmlns:a16="http://schemas.microsoft.com/office/drawing/2014/main" id="{9F374609-7B57-DDFB-68E0-30DC6EA8A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  <p:sp>
        <p:nvSpPr>
          <p:cNvPr id="13" name="Platshållare för bild 2">
            <a:extLst>
              <a:ext uri="{FF2B5EF4-FFF2-40B4-BE49-F238E27FC236}">
                <a16:creationId xmlns:a16="http://schemas.microsoft.com/office/drawing/2014/main" id="{89793E56-CC04-D840-4BF6-B51D78F5A8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"/>
            <a:ext cx="6096000" cy="6858000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/>
              <a:t>Klicka på ikonen för att lägga till en bild</a:t>
            </a:r>
          </a:p>
        </p:txBody>
      </p:sp>
      <p:pic>
        <p:nvPicPr>
          <p:cNvPr id="15" name="Bild 14">
            <a:extLst>
              <a:ext uri="{FF2B5EF4-FFF2-40B4-BE49-F238E27FC236}">
                <a16:creationId xmlns:a16="http://schemas.microsoft.com/office/drawing/2014/main" id="{476F53B0-E082-2F8D-062D-6B2367E345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3908" y="6386078"/>
            <a:ext cx="872990" cy="208548"/>
          </a:xfrm>
          <a:prstGeom prst="rect">
            <a:avLst/>
          </a:prstGeom>
        </p:spPr>
      </p:pic>
      <p:sp>
        <p:nvSpPr>
          <p:cNvPr id="18" name="Platshållare för innehåll 2">
            <a:extLst>
              <a:ext uri="{FF2B5EF4-FFF2-40B4-BE49-F238E27FC236}">
                <a16:creationId xmlns:a16="http://schemas.microsoft.com/office/drawing/2014/main" id="{AAECC37F-B724-B7F2-2171-5A94BBD137A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521450" y="2240280"/>
            <a:ext cx="5191125" cy="345725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9" name="Rubrik 10">
            <a:extLst>
              <a:ext uri="{FF2B5EF4-FFF2-40B4-BE49-F238E27FC236}">
                <a16:creationId xmlns:a16="http://schemas.microsoft.com/office/drawing/2014/main" id="{E6DC3D87-A398-D3C6-FC9D-7102E47621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46297" y="452476"/>
            <a:ext cx="5166278" cy="1392993"/>
          </a:xfrm>
        </p:spPr>
        <p:txBody>
          <a:bodyPr/>
          <a:lstStyle>
            <a:lvl1pPr>
              <a:defRPr sz="4400"/>
            </a:lvl1pPr>
          </a:lstStyle>
          <a:p>
            <a:r>
              <a:rPr lang="sv-SE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28139748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Large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30AC3276-44F3-CCF0-F839-936EC78B1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2026-10-20</a:t>
            </a:fld>
            <a:endParaRPr lang="sv-SE" sz="110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F6127931-E606-C245-FD08-5D4652179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6A678F48-260B-4A61-AAA5-842F14DA8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  <p:sp>
        <p:nvSpPr>
          <p:cNvPr id="8" name="Platshållare för bild 10">
            <a:extLst>
              <a:ext uri="{FF2B5EF4-FFF2-40B4-BE49-F238E27FC236}">
                <a16:creationId xmlns:a16="http://schemas.microsoft.com/office/drawing/2014/main" id="{0B78F380-7507-DDA8-9E98-731C8C06FF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929562" cy="6858000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  <p:pic>
        <p:nvPicPr>
          <p:cNvPr id="10" name="Bild 9">
            <a:extLst>
              <a:ext uri="{FF2B5EF4-FFF2-40B4-BE49-F238E27FC236}">
                <a16:creationId xmlns:a16="http://schemas.microsoft.com/office/drawing/2014/main" id="{3E566471-A819-98A0-48CD-0F236AAD65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26906" y="6386078"/>
            <a:ext cx="872990" cy="208548"/>
          </a:xfrm>
          <a:prstGeom prst="rect">
            <a:avLst/>
          </a:prstGeom>
        </p:spPr>
      </p:pic>
      <p:sp>
        <p:nvSpPr>
          <p:cNvPr id="13" name="Platshållare för innehåll 2">
            <a:extLst>
              <a:ext uri="{FF2B5EF4-FFF2-40B4-BE49-F238E27FC236}">
                <a16:creationId xmlns:a16="http://schemas.microsoft.com/office/drawing/2014/main" id="{D9205AC7-9E0E-C793-289D-56B48B1D3C9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359140" y="2240280"/>
            <a:ext cx="3353435" cy="3457257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4" name="Rubrik 10">
            <a:extLst>
              <a:ext uri="{FF2B5EF4-FFF2-40B4-BE49-F238E27FC236}">
                <a16:creationId xmlns:a16="http://schemas.microsoft.com/office/drawing/2014/main" id="{B3A8142B-48E9-6F64-A547-3C02E5276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06569" y="483530"/>
            <a:ext cx="3306006" cy="1361146"/>
          </a:xfrm>
        </p:spPr>
        <p:txBody>
          <a:bodyPr/>
          <a:lstStyle>
            <a:lvl1pPr>
              <a:defRPr sz="3500"/>
            </a:lvl1pPr>
          </a:lstStyle>
          <a:p>
            <a:r>
              <a:rPr lang="sv-SE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240618101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DDF8839-2559-9962-7C58-0E6C443C7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B678AC68-1C43-8E7C-22C7-14467862F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2026-10-20</a:t>
            </a:fld>
            <a:endParaRPr lang="sv-SE" sz="110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CFDA4DA8-A8BA-2984-B29E-B3F33C09D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BA0864F-5F6A-E847-0185-3B04B42FB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  <p:sp>
        <p:nvSpPr>
          <p:cNvPr id="6" name="Platshållare för bild 50">
            <a:extLst>
              <a:ext uri="{FF2B5EF4-FFF2-40B4-BE49-F238E27FC236}">
                <a16:creationId xmlns:a16="http://schemas.microsoft.com/office/drawing/2014/main" id="{609B2E96-C027-8DD9-CCAA-B2CB642C79C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90576" y="2007967"/>
            <a:ext cx="3498850" cy="3703638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  <p:sp>
        <p:nvSpPr>
          <p:cNvPr id="7" name="Platshållare för bild 50">
            <a:extLst>
              <a:ext uri="{FF2B5EF4-FFF2-40B4-BE49-F238E27FC236}">
                <a16:creationId xmlns:a16="http://schemas.microsoft.com/office/drawing/2014/main" id="{6C62D80A-EFCB-73A5-5369-B9CD58E3B87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52158" y="2007967"/>
            <a:ext cx="3498850" cy="3703638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  <p:sp>
        <p:nvSpPr>
          <p:cNvPr id="8" name="Platshållare för bild 50">
            <a:extLst>
              <a:ext uri="{FF2B5EF4-FFF2-40B4-BE49-F238E27FC236}">
                <a16:creationId xmlns:a16="http://schemas.microsoft.com/office/drawing/2014/main" id="{25D7C2DF-1DBC-84B7-DD61-7A51F896AD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13739" y="2007967"/>
            <a:ext cx="3498850" cy="3703638"/>
          </a:xfr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  <p:cxnSp>
        <p:nvCxnSpPr>
          <p:cNvPr id="9" name="Rak 9">
            <a:extLst>
              <a:ext uri="{FF2B5EF4-FFF2-40B4-BE49-F238E27FC236}">
                <a16:creationId xmlns:a16="http://schemas.microsoft.com/office/drawing/2014/main" id="{308C193D-1BA6-FEC0-D18E-FB138617F45B}"/>
              </a:ext>
            </a:extLst>
          </p:cNvPr>
          <p:cNvCxnSpPr>
            <a:cxnSpLocks/>
          </p:cNvCxnSpPr>
          <p:nvPr userDrawn="1"/>
        </p:nvCxnSpPr>
        <p:spPr>
          <a:xfrm>
            <a:off x="479425" y="6086793"/>
            <a:ext cx="11233150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776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ABEED619-D8FF-E561-9437-5BE2FB065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2026-10-20</a:t>
            </a:fld>
            <a:endParaRPr lang="sv-SE" sz="110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2B120164-168B-6D19-1047-F9A31163A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603F6F5-0D06-CEDD-62CE-3F06211D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  <p:cxnSp>
        <p:nvCxnSpPr>
          <p:cNvPr id="2" name="Rak 9">
            <a:extLst>
              <a:ext uri="{FF2B5EF4-FFF2-40B4-BE49-F238E27FC236}">
                <a16:creationId xmlns:a16="http://schemas.microsoft.com/office/drawing/2014/main" id="{9B1D9EE3-6BA4-2FE9-A4AF-842AEE790B15}"/>
              </a:ext>
            </a:extLst>
          </p:cNvPr>
          <p:cNvCxnSpPr>
            <a:cxnSpLocks/>
          </p:cNvCxnSpPr>
          <p:nvPr userDrawn="1"/>
        </p:nvCxnSpPr>
        <p:spPr>
          <a:xfrm>
            <a:off x="479425" y="6086793"/>
            <a:ext cx="11233150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05407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53935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7100E73A-0205-55D9-B994-66D89FE8591E}"/>
              </a:ext>
            </a:extLst>
          </p:cNvPr>
          <p:cNvSpPr/>
          <p:nvPr userDrawn="1"/>
        </p:nvSpPr>
        <p:spPr>
          <a:xfrm>
            <a:off x="239151" y="5359791"/>
            <a:ext cx="11690252" cy="14982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Platshållare för bild 7">
            <a:extLst>
              <a:ext uri="{FF2B5EF4-FFF2-40B4-BE49-F238E27FC236}">
                <a16:creationId xmlns:a16="http://schemas.microsoft.com/office/drawing/2014/main" id="{C006EB09-129A-47A5-E6EB-E7E45C40C12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3448219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45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24" Type="http://schemas.openxmlformats.org/officeDocument/2006/relationships/image" Target="../media/image9.svg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7D2DEB62-847A-8116-F2FE-AF5CE6C03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919" y="441325"/>
            <a:ext cx="11264656" cy="1392993"/>
          </a:xfrm>
          <a:prstGeom prst="rect">
            <a:avLst/>
          </a:prstGeom>
        </p:spPr>
        <p:txBody>
          <a:bodyPr vert="horz" lIns="0" tIns="0" rIns="90000" bIns="46800" rtlCol="0" anchor="t" anchorCtr="0">
            <a:no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17458609-24CE-2C91-652C-376D40363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629" y="2240280"/>
            <a:ext cx="11298946" cy="3457257"/>
          </a:xfrm>
          <a:prstGeom prst="rect">
            <a:avLst/>
          </a:prstGeom>
        </p:spPr>
        <p:txBody>
          <a:bodyPr vert="horz" lIns="0" tIns="45720" rIns="9000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3EC956C-E49F-2D5E-5C0C-E797A97C67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31245" y="63154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0" i="0">
                <a:solidFill>
                  <a:schemeClr val="accent1"/>
                </a:solidFill>
                <a:latin typeface="Barlow Semi Condensed Light" pitchFamily="2" charset="77"/>
              </a:defRPr>
            </a:lvl1pPr>
          </a:lstStyle>
          <a:p>
            <a:fld id="{F5F31C3F-299E-4C64-ABCD-363C653B41BA}" type="datetimeFigureOut">
              <a:rPr lang="sv-SE" smtClean="0"/>
              <a:t>2026-10-20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A3CB280-C31E-78EF-ECD8-79FF606E2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24785" y="631541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 i="0">
                <a:solidFill>
                  <a:schemeClr val="accent1"/>
                </a:solidFill>
                <a:latin typeface="Barlow Semi Condensed Light" pitchFamily="2" charset="77"/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F3B6270-2D00-D565-7ACE-88AF106E7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39585" y="6315410"/>
            <a:ext cx="87299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100" b="0" i="0">
                <a:solidFill>
                  <a:schemeClr val="accent1"/>
                </a:solidFill>
                <a:latin typeface="Barlow Semi Condensed Light" pitchFamily="2" charset="77"/>
              </a:defRPr>
            </a:lvl1pPr>
          </a:lstStyle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C8C80C3D-233B-21EF-1A46-2F401487E2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>
          <a:xfrm>
            <a:off x="479425" y="6386078"/>
            <a:ext cx="872990" cy="208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5578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8" r:id="rId23"/>
    <p:sldLayoutId id="2147483660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accent1"/>
          </a:solidFill>
          <a:latin typeface="Barlow Semi Condensed Medium" pitchFamily="2" charset="77"/>
          <a:ea typeface="+mj-ea"/>
          <a:cs typeface="+mj-cs"/>
        </a:defRPr>
      </a:lvl1pPr>
    </p:titleStyle>
    <p:bodyStyle>
      <a:lvl1pPr marL="288000" indent="-216000" algn="l" defTabSz="914400" rtl="0" eaLnBrk="1" latinLnBrk="0" hangingPunct="1">
        <a:lnSpc>
          <a:spcPct val="125000"/>
        </a:lnSpc>
        <a:spcBef>
          <a:spcPts val="1000"/>
        </a:spcBef>
        <a:buSzPct val="100000"/>
        <a:buFont typeface="Wingdings" pitchFamily="2" charset="2"/>
        <a:buChar char="§"/>
        <a:defRPr sz="1600" b="0" i="0" kern="1200">
          <a:solidFill>
            <a:schemeClr val="accent1"/>
          </a:solidFill>
          <a:latin typeface="Montserrat" pitchFamily="2" charset="77"/>
          <a:ea typeface="+mn-ea"/>
          <a:cs typeface="+mn-cs"/>
        </a:defRPr>
      </a:lvl1pPr>
      <a:lvl2pPr marL="612000" indent="-216000" algn="l" defTabSz="914400" rtl="0" eaLnBrk="1" latinLnBrk="0" hangingPunct="1">
        <a:lnSpc>
          <a:spcPct val="125000"/>
        </a:lnSpc>
        <a:spcBef>
          <a:spcPts val="500"/>
        </a:spcBef>
        <a:buSzPct val="100000"/>
        <a:buFont typeface="Systemtypsnitt normalt"/>
        <a:buChar char="⎯"/>
        <a:defRPr sz="1400" b="0" i="0" kern="1200">
          <a:solidFill>
            <a:schemeClr val="accent1"/>
          </a:solidFill>
          <a:latin typeface="Montserrat" pitchFamily="2" charset="77"/>
          <a:ea typeface="+mn-ea"/>
          <a:cs typeface="+mn-cs"/>
        </a:defRPr>
      </a:lvl2pPr>
      <a:lvl3pPr marL="900000" indent="-216000" algn="l" defTabSz="914400" rtl="0" eaLnBrk="1" latinLnBrk="0" hangingPunct="1">
        <a:lnSpc>
          <a:spcPct val="125000"/>
        </a:lnSpc>
        <a:spcBef>
          <a:spcPts val="500"/>
        </a:spcBef>
        <a:buFont typeface="Systemtypsnitt normalt"/>
        <a:buChar char="●"/>
        <a:defRPr sz="1200" b="0" i="0" kern="1200">
          <a:solidFill>
            <a:schemeClr val="accent1"/>
          </a:solidFill>
          <a:latin typeface="Montserrat" pitchFamily="2" charset="77"/>
          <a:ea typeface="+mn-ea"/>
          <a:cs typeface="+mn-cs"/>
        </a:defRPr>
      </a:lvl3pPr>
      <a:lvl4pPr marL="1188000" indent="-216000" algn="l" defTabSz="914400" rtl="0" eaLnBrk="1" latinLnBrk="0" hangingPunct="1">
        <a:lnSpc>
          <a:spcPct val="125000"/>
        </a:lnSpc>
        <a:spcBef>
          <a:spcPts val="500"/>
        </a:spcBef>
        <a:buFont typeface="Systemtypsnitt normalt"/>
        <a:buChar char="○"/>
        <a:defRPr sz="1100" b="0" i="0" kern="1200">
          <a:solidFill>
            <a:schemeClr val="accent1"/>
          </a:solidFill>
          <a:latin typeface="Montserrat" pitchFamily="2" charset="77"/>
          <a:ea typeface="+mn-ea"/>
          <a:cs typeface="+mn-cs"/>
        </a:defRPr>
      </a:lvl4pPr>
      <a:lvl5pPr marL="1476000" indent="-216000" algn="l" defTabSz="914400" rtl="0" eaLnBrk="1" latinLnBrk="0" hangingPunct="1">
        <a:lnSpc>
          <a:spcPct val="125000"/>
        </a:lnSpc>
        <a:spcBef>
          <a:spcPts val="500"/>
        </a:spcBef>
        <a:buFont typeface="Systemtypsnitt normalt"/>
        <a:buChar char="⏤"/>
        <a:defRPr sz="1050" b="0" i="0" kern="1200">
          <a:solidFill>
            <a:schemeClr val="accent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302">
          <p15:clr>
            <a:srgbClr val="F26B43"/>
          </p15:clr>
        </p15:guide>
        <p15:guide id="3" pos="7378">
          <p15:clr>
            <a:srgbClr val="F26B43"/>
          </p15:clr>
        </p15:guide>
        <p15:guide id="4" orient="horz" pos="2160">
          <p15:clr>
            <a:srgbClr val="F26B43"/>
          </p15:clr>
        </p15:guide>
        <p15:guide id="5" orient="horz" pos="346">
          <p15:clr>
            <a:srgbClr val="F26B43"/>
          </p15:clr>
        </p15:guide>
        <p15:guide id="6" orient="horz" pos="3838">
          <p15:clr>
            <a:srgbClr val="F26B43"/>
          </p15:clr>
        </p15:guide>
        <p15:guide id="7" orient="horz" pos="4088">
          <p15:clr>
            <a:srgbClr val="F26B43"/>
          </p15:clr>
        </p15:guide>
        <p15:guide id="8" orient="horz" pos="3589">
          <p15:clr>
            <a:srgbClr val="F26B43"/>
          </p15:clr>
        </p15:guide>
        <p15:guide id="9" orient="horz" pos="116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7D2DEB62-847A-8116-F2FE-AF5CE6C03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919" y="441325"/>
            <a:ext cx="11264656" cy="1392993"/>
          </a:xfrm>
          <a:prstGeom prst="rect">
            <a:avLst/>
          </a:prstGeom>
        </p:spPr>
        <p:txBody>
          <a:bodyPr vert="horz" lIns="0" tIns="0" rIns="90000" bIns="46800" rtlCol="0" anchor="t" anchorCtr="0">
            <a:no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17458609-24CE-2C91-652C-376D40363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629" y="2240280"/>
            <a:ext cx="11298946" cy="3457257"/>
          </a:xfrm>
          <a:prstGeom prst="rect">
            <a:avLst/>
          </a:prstGeom>
        </p:spPr>
        <p:txBody>
          <a:bodyPr vert="horz" lIns="0" tIns="45720" rIns="9000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3EC956C-E49F-2D5E-5C0C-E797A97C67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31245" y="63154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0" i="0">
                <a:solidFill>
                  <a:sysClr val="windowText" lastClr="000000"/>
                </a:solidFill>
                <a:latin typeface="Barlow Semi Condensed Light" pitchFamily="2" charset="77"/>
              </a:defRPr>
            </a:lvl1pPr>
          </a:lstStyle>
          <a:p>
            <a:fld id="{8FF0F6C2-1D84-CF4C-B338-7BA58288A622}" type="datetimeFigureOut">
              <a:rPr lang="sv-SE" smtClean="0"/>
              <a:pPr/>
              <a:t>2026-10-20</a:t>
            </a:fld>
            <a:endParaRPr lang="sv-SE" sz="110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A3CB280-C31E-78EF-ECD8-79FF606E2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24785" y="631541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 i="0">
                <a:solidFill>
                  <a:sysClr val="windowText" lastClr="000000"/>
                </a:solidFill>
                <a:latin typeface="Barlow Semi Condensed Light" pitchFamily="2" charset="77"/>
              </a:defRPr>
            </a:lvl1pPr>
          </a:lstStyle>
          <a:p>
            <a:endParaRPr lang="sv-SE" sz="110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F3B6270-2D00-D565-7ACE-88AF106E7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39585" y="6315410"/>
            <a:ext cx="87299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100" b="0" i="0">
                <a:solidFill>
                  <a:sysClr val="windowText" lastClr="000000"/>
                </a:solidFill>
                <a:latin typeface="Barlow Semi Condensed Light" pitchFamily="2" charset="77"/>
              </a:defRPr>
            </a:lvl1pPr>
          </a:lstStyle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C8C80C3D-233B-21EF-1A46-2F401487E2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79425" y="6386078"/>
            <a:ext cx="872990" cy="20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964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  <p:sldLayoutId id="2147483750" r:id="rId18"/>
    <p:sldLayoutId id="2147483751" r:id="rId19"/>
    <p:sldLayoutId id="2147483752" r:id="rId20"/>
    <p:sldLayoutId id="2147483753" r:id="rId21"/>
    <p:sldLayoutId id="2147483754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Barlow Semi Condensed Medium" pitchFamily="2" charset="77"/>
          <a:ea typeface="+mj-ea"/>
          <a:cs typeface="+mj-cs"/>
        </a:defRPr>
      </a:lvl1pPr>
    </p:titleStyle>
    <p:bodyStyle>
      <a:lvl1pPr marL="288000" indent="-216000" algn="l" defTabSz="914400" rtl="0" eaLnBrk="1" latinLnBrk="0" hangingPunct="1">
        <a:lnSpc>
          <a:spcPct val="125000"/>
        </a:lnSpc>
        <a:spcBef>
          <a:spcPts val="1000"/>
        </a:spcBef>
        <a:buSzPct val="100000"/>
        <a:buFont typeface="Wingdings" pitchFamily="2" charset="2"/>
        <a:buChar char="§"/>
        <a:defRPr sz="16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612000" indent="-216000" algn="l" defTabSz="914400" rtl="0" eaLnBrk="1" latinLnBrk="0" hangingPunct="1">
        <a:lnSpc>
          <a:spcPct val="125000"/>
        </a:lnSpc>
        <a:spcBef>
          <a:spcPts val="500"/>
        </a:spcBef>
        <a:buSzPct val="100000"/>
        <a:buFont typeface="Systemtypsnitt normalt"/>
        <a:buChar char="⎯"/>
        <a:defRPr sz="14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900000" indent="-216000" algn="l" defTabSz="914400" rtl="0" eaLnBrk="1" latinLnBrk="0" hangingPunct="1">
        <a:lnSpc>
          <a:spcPct val="125000"/>
        </a:lnSpc>
        <a:spcBef>
          <a:spcPts val="500"/>
        </a:spcBef>
        <a:buFont typeface="Systemtypsnitt normalt"/>
        <a:buChar char="●"/>
        <a:defRPr sz="12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1188000" indent="-216000" algn="l" defTabSz="914400" rtl="0" eaLnBrk="1" latinLnBrk="0" hangingPunct="1">
        <a:lnSpc>
          <a:spcPct val="125000"/>
        </a:lnSpc>
        <a:spcBef>
          <a:spcPts val="500"/>
        </a:spcBef>
        <a:buFont typeface="Systemtypsnitt normalt"/>
        <a:buChar char="○"/>
        <a:defRPr sz="11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1476000" indent="-216000" algn="l" defTabSz="914400" rtl="0" eaLnBrk="1" latinLnBrk="0" hangingPunct="1">
        <a:lnSpc>
          <a:spcPct val="125000"/>
        </a:lnSpc>
        <a:spcBef>
          <a:spcPts val="500"/>
        </a:spcBef>
        <a:buFont typeface="Systemtypsnitt normalt"/>
        <a:buChar char="⏤"/>
        <a:defRPr sz="105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302">
          <p15:clr>
            <a:srgbClr val="F26B43"/>
          </p15:clr>
        </p15:guide>
        <p15:guide id="3" pos="7378">
          <p15:clr>
            <a:srgbClr val="F26B43"/>
          </p15:clr>
        </p15:guide>
        <p15:guide id="4" orient="horz" pos="2160">
          <p15:clr>
            <a:srgbClr val="F26B43"/>
          </p15:clr>
        </p15:guide>
        <p15:guide id="5" orient="horz" pos="346">
          <p15:clr>
            <a:srgbClr val="F26B43"/>
          </p15:clr>
        </p15:guide>
        <p15:guide id="6" orient="horz" pos="3838">
          <p15:clr>
            <a:srgbClr val="F26B43"/>
          </p15:clr>
        </p15:guide>
        <p15:guide id="7" orient="horz" pos="4088">
          <p15:clr>
            <a:srgbClr val="F26B43"/>
          </p15:clr>
        </p15:guide>
        <p15:guide id="8" orient="horz" pos="3589">
          <p15:clr>
            <a:srgbClr val="F26B43"/>
          </p15:clr>
        </p15:guide>
        <p15:guide id="9" orient="horz" pos="116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fml-dev.org/tutorials/2.5/start-vc.php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6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8.png"/><Relationship Id="rId4" Type="http://schemas.openxmlformats.org/officeDocument/2006/relationships/image" Target="../media/image60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6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sv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535B810-D1C9-4DE6-B498-7412E7408E50}"/>
              </a:ext>
            </a:extLst>
          </p:cNvPr>
          <p:cNvSpPr txBox="1">
            <a:spLocks/>
          </p:cNvSpPr>
          <p:nvPr/>
        </p:nvSpPr>
        <p:spPr>
          <a:xfrm>
            <a:off x="1107742" y="3365568"/>
            <a:ext cx="9976513" cy="678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sv-SE" altLang="sv-SE" sz="2000" spc="300">
                <a:solidFill>
                  <a:schemeClr val="bg1"/>
                </a:solidFill>
                <a:effectLst>
                  <a:glow rad="12700">
                    <a:schemeClr val="tx1">
                      <a:lumMod val="95000"/>
                      <a:lumOff val="5000"/>
                    </a:schemeClr>
                  </a:glow>
                </a:effectLst>
                <a:latin typeface="Barlow Semi Condensed" panose="00000506000000000000" pitchFamily="2" charset="0"/>
              </a:rPr>
              <a:t>Föreläsning 24 – EGET BIBLIOTEK &amp; TIMER</a:t>
            </a:r>
            <a:endParaRPr lang="en-SE" sz="2000" spc="300">
              <a:effectLst>
                <a:glow rad="25400">
                  <a:schemeClr val="tx1">
                    <a:lumMod val="95000"/>
                    <a:lumOff val="5000"/>
                  </a:schemeClr>
                </a:glow>
              </a:effectLst>
              <a:latin typeface="Barlow Semi Condensed" panose="00000506000000000000" pitchFamily="2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DB90860-40E3-477A-87E3-AA8F487894D1}"/>
              </a:ext>
            </a:extLst>
          </p:cNvPr>
          <p:cNvSpPr txBox="1">
            <a:spLocks/>
          </p:cNvSpPr>
          <p:nvPr/>
        </p:nvSpPr>
        <p:spPr>
          <a:xfrm>
            <a:off x="581115" y="2625126"/>
            <a:ext cx="10503142" cy="8038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br>
              <a:rPr lang="sv-SE" altLang="sv-SE" sz="4800" spc="600">
                <a:solidFill>
                  <a:schemeClr val="bg1"/>
                </a:solidFill>
                <a:effectLst>
                  <a:glow>
                    <a:schemeClr val="tx1">
                      <a:lumMod val="95000"/>
                      <a:lumOff val="5000"/>
                    </a:schemeClr>
                  </a:glow>
                </a:effectLst>
                <a:latin typeface="Barlow Semi Condensed" panose="00000506000000000000" pitchFamily="2" charset="0"/>
              </a:rPr>
            </a:br>
            <a:r>
              <a:rPr lang="sv-SE" altLang="sv-SE" sz="4800" spc="600">
                <a:solidFill>
                  <a:schemeClr val="bg1"/>
                </a:solidFill>
                <a:effectLst>
                  <a:glow>
                    <a:schemeClr val="tx1">
                      <a:lumMod val="95000"/>
                      <a:lumOff val="5000"/>
                    </a:schemeClr>
                  </a:glow>
                </a:effectLst>
                <a:latin typeface="Barlow Semi Condensed" panose="00000506000000000000" pitchFamily="2" charset="0"/>
              </a:rPr>
              <a:t>INTRODUKTION TILL C++</a:t>
            </a:r>
            <a:endParaRPr lang="en-SE" sz="4800" spc="600">
              <a:effectLst>
                <a:glow>
                  <a:schemeClr val="tx1">
                    <a:lumMod val="95000"/>
                    <a:lumOff val="5000"/>
                  </a:schemeClr>
                </a:glow>
              </a:effectLst>
              <a:latin typeface="Barlow Semi Condensed" panose="00000506000000000000" pitchFamily="2" charset="0"/>
            </a:endParaRPr>
          </a:p>
        </p:txBody>
      </p:sp>
      <p:sp>
        <p:nvSpPr>
          <p:cNvPr id="6" name="Platshållare för bild 5">
            <a:extLst>
              <a:ext uri="{FF2B5EF4-FFF2-40B4-BE49-F238E27FC236}">
                <a16:creationId xmlns:a16="http://schemas.microsoft.com/office/drawing/2014/main" id="{734AD4D5-BE2E-6AE4-7CA6-3BBED5CF2C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B131F3DE-FDC6-6DC4-3B40-3257D9584E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82550" y="4786993"/>
            <a:ext cx="12366625" cy="1335088"/>
          </a:xfrm>
          <a:solidFill>
            <a:srgbClr val="000000">
              <a:alpha val="70000"/>
            </a:srgbClr>
          </a:solidFill>
          <a:ln>
            <a:solidFill>
              <a:schemeClr val="bg1">
                <a:lumMod val="50000"/>
                <a:lumOff val="50000"/>
              </a:schemeClr>
            </a:solidFill>
          </a:ln>
        </p:spPr>
        <p:txBody>
          <a:bodyPr vert="horz" lIns="0" tIns="45720" rIns="90000" bIns="45720" rtlCol="0" anchor="ctr">
            <a:normAutofit/>
          </a:bodyPr>
          <a:lstStyle/>
          <a:p>
            <a:pPr lvl="1" algn="l"/>
            <a:r>
              <a:rPr lang="sv-SE"/>
              <a:t>Eget bibliotek och timer</a:t>
            </a:r>
            <a:endParaRPr lang="en-US"/>
          </a:p>
          <a:p>
            <a:pPr lvl="1" algn="l"/>
            <a:r>
              <a:rPr lang="en-US" sz="2100" b="0" dirty="0" err="1">
                <a:solidFill>
                  <a:srgbClr val="DAE2EC"/>
                </a:solidFill>
                <a:latin typeface="Aptos"/>
              </a:rPr>
              <a:t>Återanvändbar</a:t>
            </a:r>
            <a:r>
              <a:rPr lang="en-US" sz="2100" b="0" dirty="0">
                <a:solidFill>
                  <a:srgbClr val="DAE2EC"/>
                </a:solidFill>
                <a:latin typeface="Aptos"/>
              </a:rPr>
              <a:t> </a:t>
            </a:r>
            <a:r>
              <a:rPr lang="en-US" sz="2100" b="0" dirty="0" err="1">
                <a:solidFill>
                  <a:srgbClr val="DAE2EC"/>
                </a:solidFill>
                <a:latin typeface="Aptos"/>
              </a:rPr>
              <a:t>kod</a:t>
            </a:r>
            <a:r>
              <a:rPr lang="en-US" sz="2100" b="0" dirty="0">
                <a:solidFill>
                  <a:srgbClr val="DAE2EC"/>
                </a:solidFill>
                <a:latin typeface="Aptos"/>
              </a:rPr>
              <a:t> och </a:t>
            </a:r>
            <a:r>
              <a:rPr lang="en-US" sz="2100" b="0" dirty="0" err="1">
                <a:solidFill>
                  <a:srgbClr val="DAE2EC"/>
                </a:solidFill>
                <a:latin typeface="Aptos"/>
              </a:rPr>
              <a:t>jämnare</a:t>
            </a:r>
            <a:r>
              <a:rPr lang="en-US" sz="2100" b="0" dirty="0">
                <a:solidFill>
                  <a:srgbClr val="DAE2EC"/>
                </a:solidFill>
                <a:latin typeface="Aptos"/>
              </a:rPr>
              <a:t> </a:t>
            </a:r>
            <a:r>
              <a:rPr lang="en-US" sz="2100" b="0" dirty="0" err="1">
                <a:solidFill>
                  <a:srgbClr val="DAE2EC"/>
                </a:solidFill>
                <a:latin typeface="Aptos"/>
              </a:rPr>
              <a:t>rörelse</a:t>
            </a:r>
            <a:r>
              <a:rPr lang="en-US" sz="2100" b="0" dirty="0">
                <a:solidFill>
                  <a:srgbClr val="DAE2EC"/>
                </a:solidFill>
                <a:latin typeface="Aptos"/>
              </a:rPr>
              <a:t> </a:t>
            </a:r>
            <a:r>
              <a:rPr lang="en-US" sz="2100" b="0" dirty="0" err="1">
                <a:solidFill>
                  <a:srgbClr val="DAE2EC"/>
                </a:solidFill>
                <a:latin typeface="Aptos"/>
              </a:rPr>
              <a:t>i</a:t>
            </a:r>
            <a:r>
              <a:rPr lang="en-US" sz="2100" b="0" dirty="0">
                <a:solidFill>
                  <a:srgbClr val="DAE2EC"/>
                </a:solidFill>
                <a:latin typeface="Aptos"/>
              </a:rPr>
              <a:t> </a:t>
            </a:r>
            <a:r>
              <a:rPr lang="en-US" sz="2100" b="0" dirty="0" err="1">
                <a:solidFill>
                  <a:srgbClr val="DAE2EC"/>
                </a:solidFill>
                <a:latin typeface="Aptos"/>
              </a:rPr>
              <a:t>realtidsprogram</a:t>
            </a:r>
            <a:endParaRPr lang="sv-SE" sz="2100" b="0" dirty="0" err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A46E4C17-F671-F8D3-AADB-AADE0400BD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/>
              <a:t>INTRODUKTION TILL PROGRAMMERING I C++</a:t>
            </a:r>
          </a:p>
        </p:txBody>
      </p:sp>
    </p:spTree>
    <p:extLst>
      <p:ext uri="{BB962C8B-B14F-4D97-AF65-F5344CB8AC3E}">
        <p14:creationId xmlns:p14="http://schemas.microsoft.com/office/powerpoint/2010/main" val="543243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ubrik 7">
            <a:extLst>
              <a:ext uri="{FF2B5EF4-FFF2-40B4-BE49-F238E27FC236}">
                <a16:creationId xmlns:a16="http://schemas.microsoft.com/office/drawing/2014/main" id="{1192FDEE-7591-B575-1E46-EBCC88DAA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AGENDA</a:t>
            </a:r>
          </a:p>
        </p:txBody>
      </p:sp>
      <p:pic>
        <p:nvPicPr>
          <p:cNvPr id="6" name="Bild 5">
            <a:extLst>
              <a:ext uri="{FF2B5EF4-FFF2-40B4-BE49-F238E27FC236}">
                <a16:creationId xmlns:a16="http://schemas.microsoft.com/office/drawing/2014/main" id="{5C1F704C-FC1C-6781-AD21-47279F8AA7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61355" y="1907919"/>
            <a:ext cx="1965290" cy="3042161"/>
          </a:xfrm>
          <a:prstGeom prst="rect">
            <a:avLst/>
          </a:prstGeom>
        </p:spPr>
      </p:pic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EE82B993-6439-04A8-5E99-37D2E3D260E4}"/>
              </a:ext>
            </a:extLst>
          </p:cNvPr>
          <p:cNvSpPr/>
          <p:nvPr/>
        </p:nvSpPr>
        <p:spPr>
          <a:xfrm>
            <a:off x="656233" y="1418756"/>
            <a:ext cx="5240655" cy="1996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00" b="1" dirty="0">
              <a:solidFill>
                <a:srgbClr val="16253E"/>
              </a:solidFill>
              <a:latin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B1318F-B55C-EF79-DE58-6762747D8AD8}"/>
              </a:ext>
            </a:extLst>
          </p:cNvPr>
          <p:cNvSpPr/>
          <p:nvPr/>
        </p:nvSpPr>
        <p:spPr>
          <a:xfrm>
            <a:off x="579120" y="1419669"/>
            <a:ext cx="73152" cy="2005965"/>
          </a:xfrm>
          <a:prstGeom prst="rect">
            <a:avLst/>
          </a:prstGeom>
          <a:solidFill>
            <a:srgbClr val="933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rgbClr val="F2F2F2"/>
              </a:solidFill>
            </a:endParaRP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6AAE99E3-402E-1E9D-F645-223134619E52}"/>
              </a:ext>
            </a:extLst>
          </p:cNvPr>
          <p:cNvSpPr/>
          <p:nvPr/>
        </p:nvSpPr>
        <p:spPr>
          <a:xfrm>
            <a:off x="654258" y="3671466"/>
            <a:ext cx="5240655" cy="20068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00" b="1" dirty="0">
              <a:solidFill>
                <a:srgbClr val="16253E"/>
              </a:solidFill>
              <a:latin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83FADE-3570-E141-462A-621446E751FD}"/>
              </a:ext>
            </a:extLst>
          </p:cNvPr>
          <p:cNvSpPr/>
          <p:nvPr/>
        </p:nvSpPr>
        <p:spPr>
          <a:xfrm>
            <a:off x="577145" y="3672379"/>
            <a:ext cx="73152" cy="200596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rgbClr val="F2F2F2"/>
              </a:solidFill>
            </a:endParaRPr>
          </a:p>
        </p:txBody>
      </p:sp>
      <p:sp>
        <p:nvSpPr>
          <p:cNvPr id="2" name="Rounded Rectangle 7">
            <a:extLst>
              <a:ext uri="{FF2B5EF4-FFF2-40B4-BE49-F238E27FC236}">
                <a16:creationId xmlns:a16="http://schemas.microsoft.com/office/drawing/2014/main" id="{B481F032-BE00-56C6-1660-6D0B5F45FA40}"/>
              </a:ext>
            </a:extLst>
          </p:cNvPr>
          <p:cNvSpPr/>
          <p:nvPr/>
        </p:nvSpPr>
        <p:spPr>
          <a:xfrm>
            <a:off x="855014" y="1418756"/>
            <a:ext cx="4760265" cy="201300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 dirty="0">
                <a:solidFill>
                  <a:srgbClr val="16253E"/>
                </a:solidFill>
                <a:latin typeface="Aptos"/>
              </a:rPr>
              <a:t>1 Eget </a:t>
            </a:r>
            <a:r>
              <a:rPr lang="en-US" sz="1700" b="1" dirty="0" err="1">
                <a:solidFill>
                  <a:srgbClr val="16253E"/>
                </a:solidFill>
                <a:latin typeface="Aptos"/>
              </a:rPr>
              <a:t>bibliotek</a:t>
            </a:r>
            <a:endParaRPr lang="en-US" sz="1700" dirty="0" err="1">
              <a:solidFill>
                <a:srgbClr val="000000"/>
              </a:solidFill>
              <a:latin typeface="Aptos"/>
            </a:endParaRPr>
          </a:p>
          <a:p>
            <a:r>
              <a:rPr lang="en-US" dirty="0" err="1">
                <a:solidFill>
                  <a:srgbClr val="232D3A"/>
                </a:solidFill>
                <a:latin typeface="Aptos"/>
              </a:rPr>
              <a:t>Samla</a:t>
            </a:r>
            <a:r>
              <a:rPr lang="en-US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dirty="0" err="1">
                <a:solidFill>
                  <a:srgbClr val="232D3A"/>
                </a:solidFill>
                <a:latin typeface="Aptos"/>
              </a:rPr>
              <a:t>funktionalitet</a:t>
            </a:r>
            <a:r>
              <a:rPr lang="en-US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dirty="0" err="1">
                <a:solidFill>
                  <a:srgbClr val="232D3A"/>
                </a:solidFill>
                <a:latin typeface="Aptos"/>
              </a:rPr>
              <a:t>som</a:t>
            </a:r>
            <a:r>
              <a:rPr lang="en-US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dirty="0" err="1">
                <a:solidFill>
                  <a:srgbClr val="232D3A"/>
                </a:solidFill>
                <a:latin typeface="Aptos"/>
              </a:rPr>
              <a:t>kan</a:t>
            </a:r>
            <a:r>
              <a:rPr lang="en-US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dirty="0" err="1">
                <a:solidFill>
                  <a:srgbClr val="232D3A"/>
                </a:solidFill>
                <a:latin typeface="Aptos"/>
              </a:rPr>
              <a:t>återanvändas</a:t>
            </a:r>
            <a:r>
              <a:rPr lang="en-US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dirty="0" err="1">
                <a:solidFill>
                  <a:srgbClr val="232D3A"/>
                </a:solidFill>
                <a:latin typeface="Aptos"/>
              </a:rPr>
              <a:t>i</a:t>
            </a:r>
            <a:r>
              <a:rPr lang="en-US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dirty="0" err="1">
                <a:solidFill>
                  <a:srgbClr val="232D3A"/>
                </a:solidFill>
                <a:latin typeface="Aptos"/>
              </a:rPr>
              <a:t>flera</a:t>
            </a:r>
            <a:r>
              <a:rPr lang="en-US" dirty="0">
                <a:solidFill>
                  <a:srgbClr val="232D3A"/>
                </a:solidFill>
                <a:latin typeface="Aptos"/>
              </a:rPr>
              <a:t> program.</a:t>
            </a:r>
            <a:br>
              <a:rPr lang="en-US" dirty="0">
                <a:solidFill>
                  <a:srgbClr val="232D3A"/>
                </a:solidFill>
                <a:latin typeface="Aptos"/>
              </a:rPr>
            </a:br>
            <a:br>
              <a:rPr lang="en-US" dirty="0">
                <a:solidFill>
                  <a:srgbClr val="232D3A"/>
                </a:solidFill>
                <a:latin typeface="Aptos"/>
              </a:rPr>
            </a:br>
            <a:r>
              <a:rPr lang="en-US" dirty="0" err="1">
                <a:solidFill>
                  <a:srgbClr val="232D3A"/>
                </a:solidFill>
                <a:latin typeface="Aptos"/>
              </a:rPr>
              <a:t>Förstå</a:t>
            </a:r>
            <a:r>
              <a:rPr lang="en-US" dirty="0">
                <a:solidFill>
                  <a:srgbClr val="232D3A"/>
                </a:solidFill>
                <a:latin typeface="Aptos"/>
              </a:rPr>
              <a:t> header, implementation och </a:t>
            </a:r>
            <a:r>
              <a:rPr lang="en-US" dirty="0" err="1">
                <a:solidFill>
                  <a:srgbClr val="232D3A"/>
                </a:solidFill>
                <a:latin typeface="Aptos"/>
              </a:rPr>
              <a:t>länkning</a:t>
            </a:r>
            <a:r>
              <a:rPr lang="en-US" dirty="0">
                <a:solidFill>
                  <a:srgbClr val="232D3A"/>
                </a:solidFill>
                <a:latin typeface="Aptos"/>
              </a:rPr>
              <a:t>.</a:t>
            </a:r>
            <a:endParaRPr lang="en-US" dirty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Rounded Rectangle 7">
            <a:extLst>
              <a:ext uri="{FF2B5EF4-FFF2-40B4-BE49-F238E27FC236}">
                <a16:creationId xmlns:a16="http://schemas.microsoft.com/office/drawing/2014/main" id="{2EB5DC55-7A09-4B2B-E56B-3C1D096143DF}"/>
              </a:ext>
            </a:extLst>
          </p:cNvPr>
          <p:cNvSpPr/>
          <p:nvPr/>
        </p:nvSpPr>
        <p:spPr>
          <a:xfrm>
            <a:off x="853039" y="3671466"/>
            <a:ext cx="4760265" cy="200687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>
                <a:solidFill>
                  <a:srgbClr val="16253E"/>
                </a:solidFill>
                <a:latin typeface="Aptos"/>
              </a:rPr>
              <a:t>2 Timer</a:t>
            </a:r>
            <a:endParaRPr lang="en-US" sz="1700">
              <a:solidFill>
                <a:srgbClr val="000000"/>
              </a:solidFill>
              <a:latin typeface="Aptos"/>
            </a:endParaRPr>
          </a:p>
          <a:p>
            <a:r>
              <a:rPr lang="en-US" err="1">
                <a:solidFill>
                  <a:srgbClr val="232D3A"/>
                </a:solidFill>
                <a:latin typeface="Aptos"/>
              </a:rPr>
              <a:t>Mät</a:t>
            </a:r>
            <a:r>
              <a:rPr lang="en-US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err="1">
                <a:solidFill>
                  <a:srgbClr val="232D3A"/>
                </a:solidFill>
                <a:latin typeface="Aptos"/>
              </a:rPr>
              <a:t>hur</a:t>
            </a:r>
            <a:r>
              <a:rPr lang="en-US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err="1">
                <a:solidFill>
                  <a:srgbClr val="232D3A"/>
                </a:solidFill>
                <a:latin typeface="Aptos"/>
              </a:rPr>
              <a:t>lång</a:t>
            </a:r>
            <a:r>
              <a:rPr lang="en-US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err="1">
                <a:solidFill>
                  <a:srgbClr val="232D3A"/>
                </a:solidFill>
                <a:latin typeface="Aptos"/>
              </a:rPr>
              <a:t>tid</a:t>
            </a:r>
            <a:r>
              <a:rPr lang="en-US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err="1">
                <a:solidFill>
                  <a:srgbClr val="232D3A"/>
                </a:solidFill>
                <a:latin typeface="Aptos"/>
              </a:rPr>
              <a:t>varje</a:t>
            </a:r>
            <a:r>
              <a:rPr lang="en-US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err="1">
                <a:solidFill>
                  <a:srgbClr val="232D3A"/>
                </a:solidFill>
                <a:latin typeface="Aptos"/>
              </a:rPr>
              <a:t>bildruta</a:t>
            </a:r>
            <a:r>
              <a:rPr lang="en-US" dirty="0">
                <a:solidFill>
                  <a:srgbClr val="232D3A"/>
                </a:solidFill>
                <a:latin typeface="Aptos"/>
              </a:rPr>
              <a:t> tar.</a:t>
            </a:r>
            <a:br>
              <a:rPr lang="en-US" dirty="0">
                <a:solidFill>
                  <a:srgbClr val="232D3A"/>
                </a:solidFill>
                <a:latin typeface="Aptos"/>
              </a:rPr>
            </a:br>
            <a:br>
              <a:rPr lang="en-US" dirty="0">
                <a:solidFill>
                  <a:srgbClr val="232D3A"/>
                </a:solidFill>
                <a:latin typeface="Aptos"/>
              </a:rPr>
            </a:br>
            <a:r>
              <a:rPr lang="en-US" err="1">
                <a:solidFill>
                  <a:srgbClr val="232D3A"/>
                </a:solidFill>
                <a:latin typeface="Aptos"/>
              </a:rPr>
              <a:t>Använd</a:t>
            </a:r>
            <a:r>
              <a:rPr lang="en-US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err="1">
                <a:solidFill>
                  <a:srgbClr val="232D3A"/>
                </a:solidFill>
                <a:latin typeface="Aptos"/>
              </a:rPr>
              <a:t>tiden</a:t>
            </a:r>
            <a:r>
              <a:rPr lang="en-US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err="1">
                <a:solidFill>
                  <a:srgbClr val="232D3A"/>
                </a:solidFill>
                <a:latin typeface="Aptos"/>
              </a:rPr>
              <a:t>i</a:t>
            </a:r>
            <a:r>
              <a:rPr lang="en-US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err="1">
                <a:solidFill>
                  <a:srgbClr val="232D3A"/>
                </a:solidFill>
                <a:latin typeface="Aptos"/>
              </a:rPr>
              <a:t>beräkningar</a:t>
            </a:r>
            <a:r>
              <a:rPr lang="en-US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err="1">
                <a:solidFill>
                  <a:srgbClr val="232D3A"/>
                </a:solidFill>
                <a:latin typeface="Aptos"/>
              </a:rPr>
              <a:t>så</a:t>
            </a:r>
            <a:r>
              <a:rPr lang="en-US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err="1">
                <a:solidFill>
                  <a:srgbClr val="232D3A"/>
                </a:solidFill>
                <a:latin typeface="Aptos"/>
              </a:rPr>
              <a:t>att</a:t>
            </a:r>
            <a:r>
              <a:rPr lang="en-US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err="1">
                <a:solidFill>
                  <a:srgbClr val="232D3A"/>
                </a:solidFill>
                <a:latin typeface="Aptos"/>
              </a:rPr>
              <a:t>rörelse</a:t>
            </a:r>
            <a:r>
              <a:rPr lang="en-US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err="1">
                <a:solidFill>
                  <a:srgbClr val="232D3A"/>
                </a:solidFill>
                <a:latin typeface="Aptos"/>
              </a:rPr>
              <a:t>inte</a:t>
            </a:r>
            <a:r>
              <a:rPr lang="en-US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err="1">
                <a:solidFill>
                  <a:srgbClr val="232D3A"/>
                </a:solidFill>
                <a:latin typeface="Aptos"/>
              </a:rPr>
              <a:t>beror</a:t>
            </a:r>
            <a:r>
              <a:rPr lang="en-US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err="1">
                <a:solidFill>
                  <a:srgbClr val="232D3A"/>
                </a:solidFill>
                <a:latin typeface="Aptos"/>
              </a:rPr>
              <a:t>på</a:t>
            </a:r>
            <a:r>
              <a:rPr lang="en-US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err="1">
                <a:solidFill>
                  <a:srgbClr val="232D3A"/>
                </a:solidFill>
                <a:latin typeface="Aptos"/>
              </a:rPr>
              <a:t>datorns</a:t>
            </a:r>
            <a:r>
              <a:rPr lang="en-US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>
                <a:solidFill>
                  <a:srgbClr val="232D3A"/>
                </a:solidFill>
                <a:latin typeface="Aptos"/>
              </a:rPr>
              <a:t>hastighet.</a:t>
            </a:r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584571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20705-5406-3F72-71A7-6DFF2AB10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9A571F96-3C17-2F01-C6AF-82CA2EC57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>
                <a:latin typeface="Barlow Semi Condensed Medium"/>
              </a:rPr>
              <a:t>BIBLIOTEK</a:t>
            </a:r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FA293A2-DFBE-83A0-F030-6F711DDB0DB7}"/>
              </a:ext>
            </a:extLst>
          </p:cNvPr>
          <p:cNvSpPr/>
          <p:nvPr/>
        </p:nvSpPr>
        <p:spPr>
          <a:xfrm>
            <a:off x="259575" y="2316454"/>
            <a:ext cx="3622711" cy="14849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>
                <a:solidFill>
                  <a:srgbClr val="16253E"/>
                </a:solidFill>
                <a:latin typeface="Aptos"/>
              </a:rPr>
              <a:t>Gränssnitt (.h-filer)</a:t>
            </a:r>
            <a:endParaRPr lang="en-US"/>
          </a:p>
          <a:p>
            <a:endParaRPr lang="en-US" sz="1700" b="1" dirty="0">
              <a:solidFill>
                <a:srgbClr val="16253E"/>
              </a:solidFill>
              <a:latin typeface="Aptos"/>
            </a:endParaRPr>
          </a:p>
          <a:p>
            <a:r>
              <a:rPr lang="en-US" sz="1600" dirty="0" err="1">
                <a:solidFill>
                  <a:srgbClr val="232D3A"/>
                </a:solidFill>
                <a:latin typeface="Aptos"/>
              </a:rPr>
              <a:t>Beskriver</a:t>
            </a:r>
            <a:r>
              <a:rPr lang="en-US" sz="1600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sz="1600" dirty="0" err="1">
                <a:solidFill>
                  <a:srgbClr val="232D3A"/>
                </a:solidFill>
                <a:latin typeface="Aptos"/>
              </a:rPr>
              <a:t>vad</a:t>
            </a:r>
            <a:r>
              <a:rPr lang="en-US" sz="1600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sz="1600" dirty="0" err="1">
                <a:solidFill>
                  <a:srgbClr val="232D3A"/>
                </a:solidFill>
                <a:latin typeface="Aptos"/>
              </a:rPr>
              <a:t>som</a:t>
            </a:r>
            <a:r>
              <a:rPr lang="en-US" sz="1600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sz="1600" dirty="0" err="1">
                <a:solidFill>
                  <a:srgbClr val="232D3A"/>
                </a:solidFill>
                <a:latin typeface="Aptos"/>
              </a:rPr>
              <a:t>finns</a:t>
            </a:r>
            <a:r>
              <a:rPr lang="en-US" sz="1600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sz="1600" dirty="0" err="1">
                <a:solidFill>
                  <a:srgbClr val="232D3A"/>
                </a:solidFill>
                <a:latin typeface="Aptos"/>
              </a:rPr>
              <a:t>tillgängligt</a:t>
            </a:r>
            <a:r>
              <a:rPr lang="en-US" sz="1600" dirty="0">
                <a:solidFill>
                  <a:srgbClr val="232D3A"/>
                </a:solidFill>
                <a:latin typeface="Aptos"/>
              </a:rPr>
              <a:t>: </a:t>
            </a:r>
            <a:r>
              <a:rPr lang="en-US" sz="1600" dirty="0" err="1">
                <a:solidFill>
                  <a:srgbClr val="232D3A"/>
                </a:solidFill>
                <a:latin typeface="Aptos"/>
              </a:rPr>
              <a:t>klasser</a:t>
            </a:r>
            <a:r>
              <a:rPr lang="en-US" sz="1600" dirty="0">
                <a:solidFill>
                  <a:srgbClr val="232D3A"/>
                </a:solidFill>
                <a:latin typeface="Aptos"/>
              </a:rPr>
              <a:t>, </a:t>
            </a:r>
            <a:r>
              <a:rPr lang="en-US" sz="1600" dirty="0" err="1">
                <a:solidFill>
                  <a:srgbClr val="232D3A"/>
                </a:solidFill>
                <a:latin typeface="Aptos"/>
              </a:rPr>
              <a:t>funktioner</a:t>
            </a:r>
            <a:r>
              <a:rPr lang="en-US" sz="1600" dirty="0">
                <a:solidFill>
                  <a:srgbClr val="232D3A"/>
                </a:solidFill>
                <a:latin typeface="Aptos"/>
              </a:rPr>
              <a:t> och </a:t>
            </a:r>
            <a:r>
              <a:rPr lang="en-US" sz="1600" dirty="0" err="1">
                <a:solidFill>
                  <a:srgbClr val="232D3A"/>
                </a:solidFill>
                <a:latin typeface="Aptos"/>
              </a:rPr>
              <a:t>deklarationer</a:t>
            </a:r>
            <a:r>
              <a:rPr lang="en-US" sz="1600" dirty="0">
                <a:solidFill>
                  <a:srgbClr val="232D3A"/>
                </a:solidFill>
                <a:latin typeface="Aptos"/>
              </a:rPr>
              <a:t>.</a:t>
            </a:r>
            <a:endParaRPr lang="en-US" sz="1600" dirty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B5279E67-AC07-535E-12C9-8D764B205147}"/>
              </a:ext>
            </a:extLst>
          </p:cNvPr>
          <p:cNvSpPr/>
          <p:nvPr/>
        </p:nvSpPr>
        <p:spPr>
          <a:xfrm>
            <a:off x="4288782" y="2316454"/>
            <a:ext cx="3622710" cy="14849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 dirty="0">
                <a:solidFill>
                  <a:srgbClr val="16253E"/>
                </a:solidFill>
                <a:latin typeface="Aptos"/>
              </a:rPr>
              <a:t>Implementation (.</a:t>
            </a:r>
            <a:r>
              <a:rPr lang="en-US" sz="1700" b="1" dirty="0" err="1">
                <a:solidFill>
                  <a:srgbClr val="16253E"/>
                </a:solidFill>
                <a:latin typeface="Aptos"/>
              </a:rPr>
              <a:t>cpp</a:t>
            </a:r>
            <a:r>
              <a:rPr lang="en-US" sz="1700" b="1" dirty="0">
                <a:solidFill>
                  <a:srgbClr val="16253E"/>
                </a:solidFill>
                <a:latin typeface="Aptos"/>
              </a:rPr>
              <a:t>-filer)</a:t>
            </a:r>
            <a:endParaRPr lang="en-US" dirty="0"/>
          </a:p>
          <a:p>
            <a:endParaRPr lang="en-US" sz="1700" b="1" dirty="0">
              <a:solidFill>
                <a:srgbClr val="16253E"/>
              </a:solidFill>
              <a:latin typeface="Aptos"/>
            </a:endParaRPr>
          </a:p>
          <a:p>
            <a:r>
              <a:rPr lang="en-US" sz="1600" dirty="0" err="1">
                <a:solidFill>
                  <a:srgbClr val="232D3A"/>
                </a:solidFill>
                <a:latin typeface="Aptos"/>
              </a:rPr>
              <a:t>Innehåller</a:t>
            </a:r>
            <a:r>
              <a:rPr lang="en-US" sz="1600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sz="1600" dirty="0" err="1">
                <a:solidFill>
                  <a:srgbClr val="232D3A"/>
                </a:solidFill>
                <a:latin typeface="Aptos"/>
              </a:rPr>
              <a:t>koden</a:t>
            </a:r>
            <a:r>
              <a:rPr lang="en-US" sz="1600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sz="1600" dirty="0" err="1">
                <a:solidFill>
                  <a:srgbClr val="232D3A"/>
                </a:solidFill>
                <a:latin typeface="Aptos"/>
              </a:rPr>
              <a:t>som</a:t>
            </a:r>
            <a:r>
              <a:rPr lang="en-US" sz="1600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sz="1600" dirty="0" err="1">
                <a:solidFill>
                  <a:srgbClr val="232D3A"/>
                </a:solidFill>
                <a:latin typeface="Aptos"/>
              </a:rPr>
              <a:t>utför</a:t>
            </a:r>
            <a:r>
              <a:rPr lang="en-US" sz="1600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sz="1600" dirty="0" err="1">
                <a:solidFill>
                  <a:srgbClr val="232D3A"/>
                </a:solidFill>
                <a:latin typeface="Aptos"/>
              </a:rPr>
              <a:t>arbetet</a:t>
            </a:r>
            <a:r>
              <a:rPr lang="en-US" sz="1600" dirty="0">
                <a:solidFill>
                  <a:srgbClr val="232D3A"/>
                </a:solidFill>
                <a:latin typeface="Aptos"/>
              </a:rPr>
              <a:t>. Kan </a:t>
            </a:r>
            <a:r>
              <a:rPr lang="en-US" sz="1600" dirty="0" err="1">
                <a:solidFill>
                  <a:srgbClr val="232D3A"/>
                </a:solidFill>
                <a:latin typeface="Aptos"/>
              </a:rPr>
              <a:t>kompileras</a:t>
            </a:r>
            <a:r>
              <a:rPr lang="en-US" sz="1600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sz="1600" dirty="0" err="1">
                <a:solidFill>
                  <a:srgbClr val="232D3A"/>
                </a:solidFill>
                <a:latin typeface="Aptos"/>
              </a:rPr>
              <a:t>separat</a:t>
            </a:r>
            <a:r>
              <a:rPr lang="en-US" sz="1600" dirty="0">
                <a:solidFill>
                  <a:srgbClr val="232D3A"/>
                </a:solidFill>
                <a:latin typeface="Aptos"/>
              </a:rPr>
              <a:t>.</a:t>
            </a:r>
            <a:endParaRPr lang="en-US" sz="1600" dirty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6115B7CF-B6D5-CA70-7E14-37E55A75BE12}"/>
              </a:ext>
            </a:extLst>
          </p:cNvPr>
          <p:cNvSpPr/>
          <p:nvPr/>
        </p:nvSpPr>
        <p:spPr>
          <a:xfrm>
            <a:off x="8203164" y="2316454"/>
            <a:ext cx="3622710" cy="14849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 dirty="0" err="1">
                <a:solidFill>
                  <a:srgbClr val="16253E"/>
                </a:solidFill>
                <a:latin typeface="Aptos"/>
              </a:rPr>
              <a:t>Binärfil</a:t>
            </a:r>
            <a:r>
              <a:rPr lang="en-US" sz="1700" b="1" dirty="0">
                <a:solidFill>
                  <a:srgbClr val="16253E"/>
                </a:solidFill>
                <a:latin typeface="Aptos"/>
              </a:rPr>
              <a:t> (.exe / .lib / .</a:t>
            </a:r>
            <a:r>
              <a:rPr lang="en-US" sz="1700" b="1" dirty="0" err="1">
                <a:solidFill>
                  <a:srgbClr val="16253E"/>
                </a:solidFill>
                <a:latin typeface="Aptos"/>
              </a:rPr>
              <a:t>dll</a:t>
            </a:r>
            <a:r>
              <a:rPr lang="en-US" sz="1700" b="1" dirty="0">
                <a:solidFill>
                  <a:srgbClr val="16253E"/>
                </a:solidFill>
                <a:latin typeface="Aptos"/>
              </a:rPr>
              <a:t>)</a:t>
            </a:r>
            <a:endParaRPr lang="en-US" sz="1700" dirty="0">
              <a:solidFill>
                <a:srgbClr val="000000"/>
              </a:solidFill>
              <a:latin typeface="Aptos"/>
            </a:endParaRPr>
          </a:p>
          <a:p>
            <a:endParaRPr lang="en-US" sz="1700" b="1" dirty="0">
              <a:solidFill>
                <a:srgbClr val="16253E"/>
              </a:solidFill>
              <a:latin typeface="Aptos"/>
            </a:endParaRPr>
          </a:p>
          <a:p>
            <a:r>
              <a:rPr lang="en-US" sz="1600" dirty="0">
                <a:solidFill>
                  <a:srgbClr val="232D3A"/>
                </a:solidFill>
                <a:latin typeface="Aptos"/>
              </a:rPr>
              <a:t>Den </a:t>
            </a:r>
            <a:r>
              <a:rPr lang="en-US" sz="1600" dirty="0" err="1">
                <a:solidFill>
                  <a:srgbClr val="232D3A"/>
                </a:solidFill>
                <a:latin typeface="Aptos"/>
              </a:rPr>
              <a:t>kompilerade</a:t>
            </a:r>
            <a:r>
              <a:rPr lang="en-US" sz="1600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sz="1600" dirty="0" err="1">
                <a:solidFill>
                  <a:srgbClr val="232D3A"/>
                </a:solidFill>
                <a:latin typeface="Aptos"/>
              </a:rPr>
              <a:t>delen</a:t>
            </a:r>
            <a:r>
              <a:rPr lang="en-US" sz="1600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sz="1600" dirty="0" err="1">
                <a:solidFill>
                  <a:srgbClr val="232D3A"/>
                </a:solidFill>
                <a:latin typeface="Aptos"/>
              </a:rPr>
              <a:t>som</a:t>
            </a:r>
            <a:r>
              <a:rPr lang="en-US" sz="1600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sz="1600" dirty="0" err="1">
                <a:solidFill>
                  <a:srgbClr val="232D3A"/>
                </a:solidFill>
                <a:latin typeface="Aptos"/>
              </a:rPr>
              <a:t>länkas</a:t>
            </a:r>
            <a:r>
              <a:rPr lang="en-US" sz="1600" dirty="0">
                <a:solidFill>
                  <a:srgbClr val="232D3A"/>
                </a:solidFill>
                <a:latin typeface="Aptos"/>
              </a:rPr>
              <a:t> in </a:t>
            </a:r>
            <a:r>
              <a:rPr lang="en-US" sz="1600" dirty="0" err="1">
                <a:solidFill>
                  <a:srgbClr val="232D3A"/>
                </a:solidFill>
                <a:latin typeface="Aptos"/>
              </a:rPr>
              <a:t>eller</a:t>
            </a:r>
            <a:r>
              <a:rPr lang="en-US" sz="1600" dirty="0">
                <a:solidFill>
                  <a:srgbClr val="232D3A"/>
                </a:solidFill>
                <a:latin typeface="Aptos"/>
              </a:rPr>
              <a:t> </a:t>
            </a:r>
            <a:r>
              <a:rPr lang="en-US" sz="1600" dirty="0" err="1">
                <a:solidFill>
                  <a:srgbClr val="232D3A"/>
                </a:solidFill>
                <a:latin typeface="Aptos"/>
              </a:rPr>
              <a:t>laddas</a:t>
            </a:r>
            <a:r>
              <a:rPr lang="en-US" sz="1600" dirty="0">
                <a:solidFill>
                  <a:srgbClr val="232D3A"/>
                </a:solidFill>
                <a:latin typeface="Aptos"/>
              </a:rPr>
              <a:t> vid </a:t>
            </a:r>
            <a:r>
              <a:rPr lang="en-US" sz="1600" dirty="0" err="1">
                <a:solidFill>
                  <a:srgbClr val="232D3A"/>
                </a:solidFill>
                <a:latin typeface="Aptos"/>
              </a:rPr>
              <a:t>körning</a:t>
            </a:r>
            <a:r>
              <a:rPr lang="en-US" sz="1600" dirty="0">
                <a:solidFill>
                  <a:srgbClr val="232D3A"/>
                </a:solidFill>
                <a:latin typeface="Aptos"/>
              </a:rPr>
              <a:t>.</a:t>
            </a:r>
            <a:endParaRPr lang="en-US" sz="1600" dirty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E1C4CA60-7AF4-5008-F3BF-99222AB239B8}"/>
              </a:ext>
            </a:extLst>
          </p:cNvPr>
          <p:cNvSpPr txBox="1"/>
          <p:nvPr/>
        </p:nvSpPr>
        <p:spPr>
          <a:xfrm>
            <a:off x="449601" y="1151559"/>
            <a:ext cx="1097280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800" b="1">
                <a:solidFill>
                  <a:srgbClr val="16253E"/>
                </a:solidFill>
                <a:latin typeface="Aptos"/>
              </a:defRPr>
            </a:pPr>
            <a:r>
              <a:rPr lang="en-US" sz="1600">
                <a:solidFill>
                  <a:srgbClr val="A5A5A5"/>
                </a:solidFill>
                <a:latin typeface="Montserrat Light"/>
              </a:rPr>
              <a:t>Valet påverkar hur programmet byggs, distribueras och uppdateras.</a:t>
            </a: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012F933F-C503-0641-2993-7104D3FE1D86}"/>
              </a:ext>
            </a:extLst>
          </p:cNvPr>
          <p:cNvSpPr txBox="1"/>
          <p:nvPr/>
        </p:nvSpPr>
        <p:spPr>
          <a:xfrm>
            <a:off x="914400" y="4892040"/>
            <a:ext cx="10332720" cy="3477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800" b="1">
                <a:solidFill>
                  <a:srgbClr val="16253E"/>
                </a:solidFill>
                <a:latin typeface="Aptos"/>
              </a:defRPr>
            </a:pPr>
            <a:r>
              <a:rPr sz="1600" b="1">
                <a:solidFill>
                  <a:srgbClr val="A5A5A5"/>
                </a:solidFill>
                <a:latin typeface="Montserrat Light"/>
              </a:rPr>
              <a:t>Resultat: mindre duplicerad kod och funktionalitet som kan återanvändas.</a:t>
            </a:r>
          </a:p>
        </p:txBody>
      </p:sp>
    </p:spTree>
    <p:extLst>
      <p:ext uri="{BB962C8B-B14F-4D97-AF65-F5344CB8AC3E}">
        <p14:creationId xmlns:p14="http://schemas.microsoft.com/office/powerpoint/2010/main" val="2330832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D5D894F4-06A9-5F78-961A-B9565FE20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122" y="452476"/>
            <a:ext cx="9204878" cy="697668"/>
          </a:xfrm>
        </p:spPr>
        <p:txBody>
          <a:bodyPr/>
          <a:lstStyle/>
          <a:p>
            <a:r>
              <a:rPr lang="sv-SE">
                <a:latin typeface="Barlow Semi Condensed Medium"/>
              </a:rPr>
              <a:t>BIBLIOTEK – LÄNKNING</a:t>
            </a:r>
            <a:endParaRPr lang="en-US"/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858C2855-6EC1-094C-90DF-E170673C0746}"/>
              </a:ext>
            </a:extLst>
          </p:cNvPr>
          <p:cNvSpPr txBox="1"/>
          <p:nvPr/>
        </p:nvSpPr>
        <p:spPr>
          <a:xfrm>
            <a:off x="449601" y="1151559"/>
            <a:ext cx="1097280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800" b="1">
                <a:solidFill>
                  <a:srgbClr val="16253E"/>
                </a:solidFill>
                <a:latin typeface="Aptos"/>
              </a:defRPr>
            </a:pPr>
            <a:r>
              <a:rPr lang="en-US" sz="1600">
                <a:solidFill>
                  <a:srgbClr val="A5A5A5"/>
                </a:solidFill>
                <a:latin typeface="Montserrat Light"/>
              </a:rPr>
              <a:t>Sökvägar och beroenden</a:t>
            </a:r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231EC6D-33FA-83FD-F5E8-9B8B340BA1C4}"/>
              </a:ext>
            </a:extLst>
          </p:cNvPr>
          <p:cNvGrpSpPr/>
          <p:nvPr/>
        </p:nvGrpSpPr>
        <p:grpSpPr>
          <a:xfrm>
            <a:off x="451328" y="2453535"/>
            <a:ext cx="2827881" cy="1149132"/>
            <a:chOff x="451328" y="2948835"/>
            <a:chExt cx="2827881" cy="1149132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F3CF7F2-C38F-7F6E-438B-35B9FF333FF9}"/>
                </a:ext>
              </a:extLst>
            </p:cNvPr>
            <p:cNvGrpSpPr/>
            <p:nvPr/>
          </p:nvGrpSpPr>
          <p:grpSpPr>
            <a:xfrm>
              <a:off x="451328" y="2948835"/>
              <a:ext cx="2825010" cy="1149132"/>
              <a:chOff x="603728" y="2282085"/>
              <a:chExt cx="2825010" cy="1149132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CEF8356-E7C6-A0D2-3290-BE4A4492B7E7}"/>
                  </a:ext>
                </a:extLst>
              </p:cNvPr>
              <p:cNvSpPr/>
              <p:nvPr/>
            </p:nvSpPr>
            <p:spPr>
              <a:xfrm>
                <a:off x="603728" y="2282085"/>
                <a:ext cx="129435" cy="1149132"/>
              </a:xfrm>
              <a:prstGeom prst="rect">
                <a:avLst/>
              </a:prstGeom>
              <a:solidFill>
                <a:srgbClr val="00B0F0"/>
              </a:solidFill>
              <a:ln w="127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E1EE4A9-C6B6-AC90-F3DA-9492E498A4CE}"/>
                  </a:ext>
                </a:extLst>
              </p:cNvPr>
              <p:cNvSpPr/>
              <p:nvPr/>
            </p:nvSpPr>
            <p:spPr>
              <a:xfrm>
                <a:off x="679928" y="2282085"/>
                <a:ext cx="2748810" cy="1149132"/>
              </a:xfrm>
              <a:prstGeom prst="rect">
                <a:avLst/>
              </a:prstGeom>
              <a:ln w="127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7BC0906-383C-7A54-D664-0C9DEA126318}"/>
                </a:ext>
              </a:extLst>
            </p:cNvPr>
            <p:cNvSpPr txBox="1">
              <a:spLocks/>
            </p:cNvSpPr>
            <p:nvPr/>
          </p:nvSpPr>
          <p:spPr>
            <a:xfrm>
              <a:off x="536009" y="2950140"/>
              <a:ext cx="2743200" cy="114532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400" b="1">
                  <a:solidFill>
                    <a:srgbClr val="000000"/>
                  </a:solidFill>
                </a:rPr>
                <a:t>Hitta headers</a:t>
              </a:r>
              <a:endParaRPr lang="en-US"/>
            </a:p>
            <a:p>
              <a:endParaRPr lang="en-US" b="1" dirty="0">
                <a:solidFill>
                  <a:srgbClr val="000000"/>
                </a:solidFill>
              </a:endParaRPr>
            </a:p>
            <a:p>
              <a:r>
                <a:rPr lang="en-US" sz="1200" i="1" dirty="0">
                  <a:solidFill>
                    <a:srgbClr val="000000"/>
                  </a:solidFill>
                </a:rPr>
                <a:t>Additional Include </a:t>
              </a:r>
              <a:r>
                <a:rPr lang="en-US" sz="1200" i="1">
                  <a:solidFill>
                    <a:srgbClr val="000000"/>
                  </a:solidFill>
                </a:rPr>
                <a:t>Directories</a:t>
              </a:r>
              <a:endParaRPr lang="en-US" sz="1200" i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D20384F-075A-FD5E-07C8-540A25FAFC3D}"/>
              </a:ext>
            </a:extLst>
          </p:cNvPr>
          <p:cNvGrpSpPr/>
          <p:nvPr/>
        </p:nvGrpSpPr>
        <p:grpSpPr>
          <a:xfrm>
            <a:off x="3804128" y="2453535"/>
            <a:ext cx="2827880" cy="1149132"/>
            <a:chOff x="4204178" y="2977410"/>
            <a:chExt cx="2827880" cy="114913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39A9F39-B253-4F66-283B-B2B44FDE71DA}"/>
                </a:ext>
              </a:extLst>
            </p:cNvPr>
            <p:cNvGrpSpPr/>
            <p:nvPr/>
          </p:nvGrpSpPr>
          <p:grpSpPr>
            <a:xfrm>
              <a:off x="4204178" y="2977410"/>
              <a:ext cx="2825010" cy="1149132"/>
              <a:chOff x="603728" y="2282085"/>
              <a:chExt cx="2825010" cy="1149132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E3BA652-C052-6787-2771-A234DC9962CD}"/>
                  </a:ext>
                </a:extLst>
              </p:cNvPr>
              <p:cNvSpPr/>
              <p:nvPr/>
            </p:nvSpPr>
            <p:spPr>
              <a:xfrm>
                <a:off x="603728" y="2282085"/>
                <a:ext cx="129435" cy="1149132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933C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36F7BC8-5EDA-1ADB-61D3-BE40580EA7E6}"/>
                  </a:ext>
                </a:extLst>
              </p:cNvPr>
              <p:cNvSpPr/>
              <p:nvPr/>
            </p:nvSpPr>
            <p:spPr>
              <a:xfrm>
                <a:off x="679928" y="2282085"/>
                <a:ext cx="2748810" cy="1149132"/>
              </a:xfrm>
              <a:prstGeom prst="rect">
                <a:avLst/>
              </a:prstGeom>
              <a:ln w="12700">
                <a:solidFill>
                  <a:srgbClr val="933C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2CBFCD-A081-91F2-721A-E3A01FEC7F51}"/>
                </a:ext>
              </a:extLst>
            </p:cNvPr>
            <p:cNvSpPr txBox="1">
              <a:spLocks/>
            </p:cNvSpPr>
            <p:nvPr/>
          </p:nvSpPr>
          <p:spPr>
            <a:xfrm>
              <a:off x="4288858" y="2978714"/>
              <a:ext cx="2743200" cy="1145322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400" b="1">
                  <a:solidFill>
                    <a:srgbClr val="000000"/>
                  </a:solidFill>
                </a:rPr>
                <a:t>Hitta .lib-filer</a:t>
              </a:r>
              <a:endParaRPr lang="en-US"/>
            </a:p>
            <a:p>
              <a:endParaRPr lang="en-US" b="1" dirty="0">
                <a:solidFill>
                  <a:srgbClr val="000000"/>
                </a:solidFill>
              </a:endParaRPr>
            </a:p>
            <a:p>
              <a:r>
                <a:rPr lang="en-US" sz="1200" i="1">
                  <a:solidFill>
                    <a:srgbClr val="000000"/>
                  </a:solidFill>
                </a:rPr>
                <a:t>Additional Library Directories</a:t>
              </a:r>
              <a:endParaRPr lang="en-US" sz="1200" i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52A9AB5-11A8-9F7B-8FF2-EABACDF5080A}"/>
              </a:ext>
            </a:extLst>
          </p:cNvPr>
          <p:cNvGrpSpPr/>
          <p:nvPr/>
        </p:nvGrpSpPr>
        <p:grpSpPr>
          <a:xfrm>
            <a:off x="3804128" y="4329960"/>
            <a:ext cx="2827880" cy="1149132"/>
            <a:chOff x="7785578" y="3025035"/>
            <a:chExt cx="2827880" cy="114913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A792502-35B6-04B0-B6AB-D14E76AD3A06}"/>
                </a:ext>
              </a:extLst>
            </p:cNvPr>
            <p:cNvGrpSpPr/>
            <p:nvPr/>
          </p:nvGrpSpPr>
          <p:grpSpPr>
            <a:xfrm>
              <a:off x="7785578" y="3025035"/>
              <a:ext cx="2825010" cy="1149132"/>
              <a:chOff x="603728" y="2282085"/>
              <a:chExt cx="2825010" cy="1149132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6157733-64FC-9795-DAB4-ECF658E9E179}"/>
                  </a:ext>
                </a:extLst>
              </p:cNvPr>
              <p:cNvSpPr/>
              <p:nvPr/>
            </p:nvSpPr>
            <p:spPr>
              <a:xfrm>
                <a:off x="603728" y="2282085"/>
                <a:ext cx="129435" cy="1149132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60926F0-B3E4-7EFB-B1B3-5F5420EF14A2}"/>
                  </a:ext>
                </a:extLst>
              </p:cNvPr>
              <p:cNvSpPr/>
              <p:nvPr/>
            </p:nvSpPr>
            <p:spPr>
              <a:xfrm>
                <a:off x="679928" y="2282085"/>
                <a:ext cx="2748810" cy="1149132"/>
              </a:xfrm>
              <a:prstGeom prst="rect">
                <a:avLst/>
              </a:prstGeom>
              <a:ln w="127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154249D-4CFF-B212-692E-AC685117042D}"/>
                </a:ext>
              </a:extLst>
            </p:cNvPr>
            <p:cNvSpPr txBox="1">
              <a:spLocks/>
            </p:cNvSpPr>
            <p:nvPr/>
          </p:nvSpPr>
          <p:spPr>
            <a:xfrm>
              <a:off x="7870258" y="3026339"/>
              <a:ext cx="2743200" cy="1145322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400" b="1">
                  <a:solidFill>
                    <a:srgbClr val="000000"/>
                  </a:solidFill>
                </a:rPr>
                <a:t>Välj bibliotek</a:t>
              </a:r>
              <a:endParaRPr lang="en-US"/>
            </a:p>
            <a:p>
              <a:endParaRPr lang="en-US" b="1" dirty="0">
                <a:solidFill>
                  <a:srgbClr val="000000"/>
                </a:solidFill>
              </a:endParaRPr>
            </a:p>
            <a:p>
              <a:r>
                <a:rPr lang="en-US" sz="1200" i="1">
                  <a:solidFill>
                    <a:srgbClr val="000000"/>
                  </a:solidFill>
                </a:rPr>
                <a:t>Additional Dependencies</a:t>
              </a:r>
              <a:endParaRPr lang="en-US" sz="1200" i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B794D54-43B6-6624-C0DB-E7160EE24A30}"/>
              </a:ext>
            </a:extLst>
          </p:cNvPr>
          <p:cNvGrpSpPr/>
          <p:nvPr/>
        </p:nvGrpSpPr>
        <p:grpSpPr>
          <a:xfrm>
            <a:off x="451328" y="4329960"/>
            <a:ext cx="2827880" cy="1149132"/>
            <a:chOff x="2022953" y="4520460"/>
            <a:chExt cx="2827880" cy="1149132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6DC27FD-2F79-370D-385B-837F5F7B8A81}"/>
                </a:ext>
              </a:extLst>
            </p:cNvPr>
            <p:cNvGrpSpPr/>
            <p:nvPr/>
          </p:nvGrpSpPr>
          <p:grpSpPr>
            <a:xfrm>
              <a:off x="2022953" y="4520460"/>
              <a:ext cx="2825010" cy="1149132"/>
              <a:chOff x="603728" y="2282085"/>
              <a:chExt cx="2825010" cy="1149132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2BBC6254-83A6-871A-0DBB-CFC2B0BE1C5A}"/>
                  </a:ext>
                </a:extLst>
              </p:cNvPr>
              <p:cNvSpPr/>
              <p:nvPr/>
            </p:nvSpPr>
            <p:spPr>
              <a:xfrm>
                <a:off x="603728" y="2282085"/>
                <a:ext cx="129435" cy="1149132"/>
              </a:xfrm>
              <a:prstGeom prst="rect">
                <a:avLst/>
              </a:prstGeom>
              <a:solidFill>
                <a:srgbClr val="00B050"/>
              </a:solidFill>
              <a:ln w="12700">
                <a:solidFill>
                  <a:srgbClr val="933C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10FEA21-8CD8-7EA5-A5DF-3B4E57F39B2E}"/>
                  </a:ext>
                </a:extLst>
              </p:cNvPr>
              <p:cNvSpPr/>
              <p:nvPr/>
            </p:nvSpPr>
            <p:spPr>
              <a:xfrm>
                <a:off x="679928" y="2282085"/>
                <a:ext cx="2748810" cy="1149132"/>
              </a:xfrm>
              <a:prstGeom prst="rect">
                <a:avLst/>
              </a:prstGeom>
              <a:ln w="12700">
                <a:solidFill>
                  <a:srgbClr val="933C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6E3C7C7-85AC-C35E-67C1-B0C4A50552E6}"/>
                </a:ext>
              </a:extLst>
            </p:cNvPr>
            <p:cNvSpPr txBox="1">
              <a:spLocks/>
            </p:cNvSpPr>
            <p:nvPr/>
          </p:nvSpPr>
          <p:spPr>
            <a:xfrm>
              <a:off x="2107633" y="4521764"/>
              <a:ext cx="2743200" cy="1145322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400" b="1">
                  <a:solidFill>
                    <a:srgbClr val="000000"/>
                  </a:solidFill>
                </a:rPr>
                <a:t>Inkludera header</a:t>
              </a:r>
              <a:endParaRPr lang="en-US"/>
            </a:p>
            <a:p>
              <a:endParaRPr lang="en-US" b="1" dirty="0">
                <a:solidFill>
                  <a:srgbClr val="000000"/>
                </a:solidFill>
              </a:endParaRPr>
            </a:p>
            <a:p>
              <a:r>
                <a:rPr lang="en-US" sz="1200" i="1" dirty="0">
                  <a:solidFill>
                    <a:srgbClr val="000000"/>
                  </a:solidFill>
                </a:rPr>
                <a:t>#include </a:t>
              </a:r>
              <a:r>
                <a:rPr lang="en-US" sz="1200" i="1">
                  <a:solidFill>
                    <a:srgbClr val="000000"/>
                  </a:solidFill>
                </a:rPr>
                <a:t>&lt;CommonUtilities.h&gt;</a:t>
              </a:r>
              <a:endParaRPr lang="en-US" sz="1200" i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9F96C1F-BACE-8A1D-220F-9421556AED08}"/>
              </a:ext>
            </a:extLst>
          </p:cNvPr>
          <p:cNvGrpSpPr/>
          <p:nvPr/>
        </p:nvGrpSpPr>
        <p:grpSpPr>
          <a:xfrm>
            <a:off x="8233253" y="3425085"/>
            <a:ext cx="2827880" cy="1149132"/>
            <a:chOff x="6061553" y="4720485"/>
            <a:chExt cx="2827880" cy="1149132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BD85F685-CFB1-101D-7A12-819C3031FB97}"/>
                </a:ext>
              </a:extLst>
            </p:cNvPr>
            <p:cNvGrpSpPr/>
            <p:nvPr/>
          </p:nvGrpSpPr>
          <p:grpSpPr>
            <a:xfrm>
              <a:off x="6061553" y="4720485"/>
              <a:ext cx="2825010" cy="1149132"/>
              <a:chOff x="603728" y="2282085"/>
              <a:chExt cx="2825010" cy="1149132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366CD69C-26AC-976F-933C-F9EC53AE9736}"/>
                  </a:ext>
                </a:extLst>
              </p:cNvPr>
              <p:cNvSpPr/>
              <p:nvPr/>
            </p:nvSpPr>
            <p:spPr>
              <a:xfrm>
                <a:off x="603728" y="2282085"/>
                <a:ext cx="129435" cy="1149132"/>
              </a:xfrm>
              <a:prstGeom prst="rect">
                <a:avLst/>
              </a:prstGeom>
              <a:solidFill>
                <a:srgbClr val="C00000"/>
              </a:solidFill>
              <a:ln w="12700">
                <a:solidFill>
                  <a:srgbClr val="933C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450A339F-28E1-916C-35AB-596426AFE6B3}"/>
                  </a:ext>
                </a:extLst>
              </p:cNvPr>
              <p:cNvSpPr/>
              <p:nvPr/>
            </p:nvSpPr>
            <p:spPr>
              <a:xfrm>
                <a:off x="679928" y="2282085"/>
                <a:ext cx="2748810" cy="1149132"/>
              </a:xfrm>
              <a:prstGeom prst="rect">
                <a:avLst/>
              </a:prstGeom>
              <a:ln w="12700">
                <a:solidFill>
                  <a:srgbClr val="933C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D1E0F49-F009-4364-F551-ABCF921DFA04}"/>
                </a:ext>
              </a:extLst>
            </p:cNvPr>
            <p:cNvSpPr txBox="1">
              <a:spLocks/>
            </p:cNvSpPr>
            <p:nvPr/>
          </p:nvSpPr>
          <p:spPr>
            <a:xfrm>
              <a:off x="6146233" y="4721789"/>
              <a:ext cx="2743200" cy="1145322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400" b="1">
                  <a:solidFill>
                    <a:srgbClr val="000000"/>
                  </a:solidFill>
                </a:rPr>
                <a:t>Hitta .dll I run-time</a:t>
              </a:r>
              <a:endParaRPr lang="en-US"/>
            </a:p>
            <a:p>
              <a:endParaRPr lang="en-US" b="1" dirty="0">
                <a:solidFill>
                  <a:srgbClr val="000000"/>
                </a:solidFill>
              </a:endParaRPr>
            </a:p>
            <a:p>
              <a:r>
                <a:rPr lang="en-US" sz="1200" i="1" dirty="0">
                  <a:solidFill>
                    <a:srgbClr val="000000"/>
                  </a:solidFill>
                </a:rPr>
                <a:t>Oftas ligger nödvändiga dll-filer I samma mapp som .exe för att </a:t>
              </a:r>
              <a:r>
                <a:rPr lang="en-US" sz="1200" i="1">
                  <a:solidFill>
                    <a:srgbClr val="000000"/>
                  </a:solidFill>
                </a:rPr>
                <a:t>hittas enkelt</a:t>
              </a:r>
              <a:endParaRPr lang="en-US" sz="1200" i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8956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F1539-167C-36D2-694D-49B6E144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7B00C34-5AEC-F82F-2E79-80A7863AB9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5452" y="4267721"/>
            <a:ext cx="4425256" cy="1544638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>
            <a:normAutofit fontScale="47500" lnSpcReduction="20000"/>
          </a:bodyPr>
          <a:lstStyle/>
          <a:p>
            <a:r>
              <a:rPr lang="en-US" sz="2600">
                <a:latin typeface="Montserrat SemiBold"/>
              </a:rPr>
              <a:t>Användbara makron</a:t>
            </a:r>
            <a:endParaRPr lang="en-US">
              <a:latin typeface="Montserrat" pitchFamily="2" charset="77"/>
            </a:endParaRPr>
          </a:p>
          <a:p>
            <a:pPr lvl="1" algn="l"/>
            <a:r>
              <a:rPr lang="en-US">
                <a:latin typeface="Montserrat SemiBold"/>
              </a:rPr>
              <a:t>$(SolutionDir) – mappen där .sln-filen ligger​</a:t>
            </a:r>
            <a:endParaRPr lang="en-US">
              <a:latin typeface="Montserrat SemiBold" pitchFamily="2" charset="77"/>
            </a:endParaRPr>
          </a:p>
          <a:p>
            <a:pPr lvl="1" algn="l" rtl="0"/>
            <a:r>
              <a:rPr lang="en-US">
                <a:latin typeface="Montserrat SemiBold"/>
              </a:rPr>
              <a:t>$(ProjectDir) – mappen där projektfilen ligger​</a:t>
            </a:r>
          </a:p>
          <a:p>
            <a:pPr lvl="1" algn="l" rtl="0"/>
            <a:r>
              <a:rPr lang="en-US">
                <a:latin typeface="Montserrat SemiBold"/>
              </a:rPr>
              <a:t>$(Configuration) – exempelvis Debug eller Release​</a:t>
            </a:r>
          </a:p>
          <a:p>
            <a:pPr lvl="1" algn="l" rtl="0"/>
            <a:r>
              <a:rPr lang="en-US">
                <a:latin typeface="Montserrat SemiBold"/>
              </a:rPr>
              <a:t>$(PlatformTarget) – exempelvis x86 eller x64​</a:t>
            </a:r>
          </a:p>
          <a:p>
            <a:pPr lvl="1" algn="l" rtl="0"/>
            <a:r>
              <a:rPr lang="en-US">
                <a:latin typeface="Montserrat SemiBold"/>
              </a:rPr>
              <a:t>$(TargetName) – namnet på den byggda filen​</a:t>
            </a:r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487197A5-4A8B-9D57-256B-00439A7673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545" y="380364"/>
            <a:ext cx="8551971" cy="763575"/>
          </a:xfrm>
        </p:spPr>
        <p:txBody>
          <a:bodyPr/>
          <a:lstStyle/>
          <a:p>
            <a:r>
              <a:rPr lang="sv-SE" sz="4400">
                <a:latin typeface="Barlow Semi Condensed Medium"/>
              </a:rPr>
              <a:t>BIBLIOTEK - PROJEKTINSTÄLLNINGAR</a:t>
            </a:r>
            <a:endParaRPr lang="sv-SE" sz="4400" dirty="0"/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7889A130-CC07-B318-A5F6-4527214FA417}"/>
              </a:ext>
            </a:extLst>
          </p:cNvPr>
          <p:cNvSpPr txBox="1"/>
          <p:nvPr/>
        </p:nvSpPr>
        <p:spPr>
          <a:xfrm>
            <a:off x="449601" y="1151559"/>
            <a:ext cx="1097280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800" b="1">
                <a:solidFill>
                  <a:srgbClr val="16253E"/>
                </a:solidFill>
                <a:latin typeface="Aptos"/>
              </a:defRPr>
            </a:pPr>
            <a:r>
              <a:rPr lang="en-US" sz="1600" dirty="0">
                <a:solidFill>
                  <a:srgbClr val="A5A5A5"/>
                </a:solidFill>
                <a:latin typeface="Montserrat Light"/>
              </a:rPr>
              <a:t>Visual studio: </a:t>
            </a:r>
            <a:r>
              <a:rPr lang="en-US" sz="1600" i="1">
                <a:solidFill>
                  <a:srgbClr val="A5A5A5"/>
                </a:solidFill>
                <a:latin typeface="Montserrat Light"/>
              </a:rPr>
              <a:t>Makron gör projektinställningarna mer portabla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D7BDF9F-B64E-CA2E-A0C7-49C335E7CACE}"/>
              </a:ext>
            </a:extLst>
          </p:cNvPr>
          <p:cNvGrpSpPr/>
          <p:nvPr/>
        </p:nvGrpSpPr>
        <p:grpSpPr>
          <a:xfrm>
            <a:off x="483296" y="1872432"/>
            <a:ext cx="6675955" cy="467013"/>
            <a:chOff x="859077" y="1715857"/>
            <a:chExt cx="6675955" cy="988930"/>
          </a:xfrm>
        </p:grpSpPr>
        <p:sp>
          <p:nvSpPr>
            <p:cNvPr id="6" name="Rounded Rectangle 8">
              <a:extLst>
                <a:ext uri="{FF2B5EF4-FFF2-40B4-BE49-F238E27FC236}">
                  <a16:creationId xmlns:a16="http://schemas.microsoft.com/office/drawing/2014/main" id="{DE1CE076-1E03-2DDC-B92A-4B8BF2D3FF2B}"/>
                </a:ext>
              </a:extLst>
            </p:cNvPr>
            <p:cNvSpPr/>
            <p:nvPr/>
          </p:nvSpPr>
          <p:spPr>
            <a:xfrm>
              <a:off x="859077" y="1715857"/>
              <a:ext cx="6675955" cy="988930"/>
            </a:xfrm>
            <a:prstGeom prst="roundRect">
              <a:avLst/>
            </a:prstGeom>
            <a:solidFill>
              <a:srgbClr val="16253E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b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7" name="TextBox 9">
              <a:extLst>
                <a:ext uri="{FF2B5EF4-FFF2-40B4-BE49-F238E27FC236}">
                  <a16:creationId xmlns:a16="http://schemas.microsoft.com/office/drawing/2014/main" id="{C2BA160E-0CA3-5A0E-2413-5F75AF4966A2}"/>
                </a:ext>
              </a:extLst>
            </p:cNvPr>
            <p:cNvSpPr txBox="1"/>
            <p:nvPr/>
          </p:nvSpPr>
          <p:spPr>
            <a:xfrm>
              <a:off x="1097504" y="2079198"/>
              <a:ext cx="6199100" cy="270843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400" b="0">
                  <a:solidFill>
                    <a:srgbClr val="FFFFFF"/>
                  </a:solidFill>
                  <a:latin typeface="Consolas"/>
                </a:defRPr>
              </a:pPr>
              <a:r>
                <a:t>$(SolutionDir)\Output\$(PlatformTarget)-$(Configuration)\</a:t>
              </a:r>
            </a:p>
          </p:txBody>
        </p:sp>
      </p:grpSp>
      <p:sp>
        <p:nvSpPr>
          <p:cNvPr id="11" name="Subtitle 1">
            <a:extLst>
              <a:ext uri="{FF2B5EF4-FFF2-40B4-BE49-F238E27FC236}">
                <a16:creationId xmlns:a16="http://schemas.microsoft.com/office/drawing/2014/main" id="{41C953F7-89BC-6005-7AAF-6A65487EE0F7}"/>
              </a:ext>
            </a:extLst>
          </p:cNvPr>
          <p:cNvSpPr txBox="1">
            <a:spLocks/>
          </p:cNvSpPr>
          <p:nvPr/>
        </p:nvSpPr>
        <p:spPr>
          <a:xfrm>
            <a:off x="579633" y="2342889"/>
            <a:ext cx="6690379" cy="1544638"/>
          </a:xfrm>
          <a:prstGeom prst="rect">
            <a:avLst/>
          </a:prstGeom>
        </p:spPr>
        <p:txBody>
          <a:bodyPr vert="horz" lIns="0" tIns="45720" rIns="90000" bIns="45720" rtlCol="0" anchor="b">
            <a:normAutofit fontScale="47500" lnSpcReduction="20000"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SzPct val="100000"/>
              <a:buFont typeface="Wingdings" pitchFamily="2" charset="2"/>
              <a:buNone/>
              <a:defRPr sz="2000" b="1" i="0" kern="1200">
                <a:solidFill>
                  <a:schemeClr val="accent1"/>
                </a:solidFill>
                <a:latin typeface="Montserrat SemiBold" pitchFamily="2" charset="77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5000"/>
              </a:lnSpc>
              <a:spcBef>
                <a:spcPts val="500"/>
              </a:spcBef>
              <a:buSzPct val="100000"/>
              <a:buFont typeface="Systemtypsnitt normalt"/>
              <a:buNone/>
              <a:defRPr sz="2000" b="0" i="0" kern="1200">
                <a:solidFill>
                  <a:schemeClr val="accent1"/>
                </a:solidFill>
                <a:latin typeface="Montserrat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Systemtypsnitt normalt"/>
              <a:buNone/>
              <a:defRPr sz="1800" b="0" i="0" kern="1200">
                <a:solidFill>
                  <a:schemeClr val="accent1"/>
                </a:solidFill>
                <a:latin typeface="Montserrat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Systemtypsnitt normalt"/>
              <a:buNone/>
              <a:defRPr sz="1600" b="0" i="0" kern="1200">
                <a:solidFill>
                  <a:schemeClr val="accent1"/>
                </a:solidFill>
                <a:latin typeface="Montserrat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Systemtypsnitt normalt"/>
              <a:buNone/>
              <a:defRPr sz="1600" b="0" i="0" kern="1200">
                <a:solidFill>
                  <a:schemeClr val="accent1"/>
                </a:solidFill>
                <a:latin typeface="Montserrat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itchFamily="2" charset="2"/>
              <a:buChar char="•"/>
            </a:pPr>
            <a:r>
              <a:rPr lang="en-US">
                <a:latin typeface="Montserrat SemiBold"/>
              </a:rPr>
              <a:t>I samma mapp som .sln/.slnx</a:t>
            </a:r>
          </a:p>
          <a:p>
            <a:pPr marL="342900" indent="-342900">
              <a:buFont typeface="Arial" pitchFamily="2" charset="2"/>
              <a:buChar char="•"/>
            </a:pPr>
            <a:r>
              <a:rPr lang="en-US">
                <a:latin typeface="Montserrat SemiBold"/>
              </a:rPr>
              <a:t>Ligger en mapp som heter output</a:t>
            </a:r>
          </a:p>
          <a:p>
            <a:pPr marL="342900" indent="-342900">
              <a:buFont typeface="Arial" pitchFamily="2" charset="2"/>
              <a:buChar char="•"/>
            </a:pPr>
            <a:r>
              <a:rPr lang="en-US">
                <a:latin typeface="Montserrat SemiBold"/>
              </a:rPr>
              <a:t>I den ligger en mapp som heter x86_64 följt av bindestreck</a:t>
            </a:r>
          </a:p>
          <a:p>
            <a:pPr marL="342900" indent="-342900">
              <a:buFont typeface="Arial" pitchFamily="2" charset="2"/>
              <a:buChar char="•"/>
            </a:pPr>
            <a:r>
              <a:rPr lang="en-US">
                <a:latin typeface="Montserrat SemiBold"/>
              </a:rPr>
              <a:t>Sedan beroende på om vi bygger release eller debug så läggs konfigurationsnamnet till</a:t>
            </a:r>
            <a:endParaRPr lang="en-US" dirty="0">
              <a:latin typeface="Montserrat SemiBold"/>
            </a:endParaRPr>
          </a:p>
          <a:p>
            <a:pPr marL="342900" indent="-342900">
              <a:buFont typeface="Arial" pitchFamily="2" charset="2"/>
              <a:buChar char="•"/>
            </a:pPr>
            <a:r>
              <a:rPr lang="en-US">
                <a:latin typeface="Montserrat SemiBold"/>
              </a:rPr>
              <a:t>Exempel: C:\path\to\project\Bin\x86_64-Debug\</a:t>
            </a:r>
          </a:p>
        </p:txBody>
      </p:sp>
    </p:spTree>
    <p:extLst>
      <p:ext uri="{BB962C8B-B14F-4D97-AF65-F5344CB8AC3E}">
        <p14:creationId xmlns:p14="http://schemas.microsoft.com/office/powerpoint/2010/main" val="3561704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0CE18-2B55-810C-717A-1D4697FE2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0D8A29E4-DAAA-7B9E-8215-25EB4FBA99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545" y="380364"/>
            <a:ext cx="8551971" cy="763575"/>
          </a:xfrm>
        </p:spPr>
        <p:txBody>
          <a:bodyPr/>
          <a:lstStyle/>
          <a:p>
            <a:r>
              <a:rPr lang="sv-SE" sz="4400">
                <a:latin typeface="Barlow Semi Condensed Medium"/>
              </a:rPr>
              <a:t>BIBLIOTEK – STEG FÖR ATT BYGGA</a:t>
            </a:r>
            <a:endParaRPr lang="sv-SE" sz="4400" dirty="0"/>
          </a:p>
        </p:txBody>
      </p:sp>
      <p:sp>
        <p:nvSpPr>
          <p:cNvPr id="12" name="Subtitle 1">
            <a:extLst>
              <a:ext uri="{FF2B5EF4-FFF2-40B4-BE49-F238E27FC236}">
                <a16:creationId xmlns:a16="http://schemas.microsoft.com/office/drawing/2014/main" id="{FBDC0A0C-A9C1-9321-0839-38421A1552A6}"/>
              </a:ext>
            </a:extLst>
          </p:cNvPr>
          <p:cNvSpPr txBox="1">
            <a:spLocks/>
          </p:cNvSpPr>
          <p:nvPr/>
        </p:nvSpPr>
        <p:spPr>
          <a:xfrm>
            <a:off x="443933" y="1392999"/>
            <a:ext cx="8245694" cy="4279487"/>
          </a:xfrm>
          <a:prstGeom prst="rect">
            <a:avLst/>
          </a:prstGeom>
        </p:spPr>
        <p:txBody>
          <a:bodyPr vert="horz" lIns="0" tIns="45720" rIns="90000" bIns="45720" rtlCol="0" anchor="t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SzPct val="100000"/>
              <a:buFont typeface="Wingdings" pitchFamily="2" charset="2"/>
              <a:buNone/>
              <a:defRPr sz="2000" b="1" i="0" kern="1200">
                <a:solidFill>
                  <a:schemeClr val="accent1"/>
                </a:solidFill>
                <a:latin typeface="Montserrat SemiBold" pitchFamily="2" charset="77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5000"/>
              </a:lnSpc>
              <a:spcBef>
                <a:spcPts val="500"/>
              </a:spcBef>
              <a:buSzPct val="100000"/>
              <a:buFont typeface="Systemtypsnitt normalt"/>
              <a:buNone/>
              <a:defRPr sz="2000" b="0" i="0" kern="1200">
                <a:solidFill>
                  <a:schemeClr val="accent1"/>
                </a:solidFill>
                <a:latin typeface="Montserrat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Systemtypsnitt normalt"/>
              <a:buNone/>
              <a:defRPr sz="1800" b="0" i="0" kern="1200">
                <a:solidFill>
                  <a:schemeClr val="accent1"/>
                </a:solidFill>
                <a:latin typeface="Montserrat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Systemtypsnitt normalt"/>
              <a:buNone/>
              <a:defRPr sz="1600" b="0" i="0" kern="1200">
                <a:solidFill>
                  <a:schemeClr val="accent1"/>
                </a:solidFill>
                <a:latin typeface="Montserrat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Systemtypsnitt normalt"/>
              <a:buNone/>
              <a:defRPr sz="1600" b="0" i="0" kern="1200">
                <a:solidFill>
                  <a:schemeClr val="accent1"/>
                </a:solidFill>
                <a:latin typeface="Montserrat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AutoNum type="arabicPeriod"/>
            </a:pPr>
            <a:r>
              <a:rPr lang="en-US" sz="1600">
                <a:latin typeface="Montserrat SemiBold"/>
              </a:rPr>
              <a:t>Skapa projekt</a:t>
            </a:r>
            <a:r>
              <a:rPr lang="en-US" sz="1600">
                <a:latin typeface="Montserrat Light"/>
              </a:rPr>
              <a:t>                   </a:t>
            </a:r>
            <a:r>
              <a:rPr lang="en-US" sz="1600" b="0">
                <a:latin typeface="Montserrat Light"/>
              </a:rPr>
              <a:t>Static Library</a:t>
            </a:r>
            <a:endParaRPr lang="en-US" sz="1600" b="0" i="1">
              <a:latin typeface="Montserrat Light"/>
            </a:endParaRPr>
          </a:p>
          <a:p>
            <a:pPr marL="457200" indent="-457200" algn="just">
              <a:buAutoNum type="arabicPeriod"/>
            </a:pPr>
            <a:endParaRPr lang="en-US" sz="1600" b="0" dirty="0">
              <a:latin typeface="Montserrat Light"/>
            </a:endParaRPr>
          </a:p>
          <a:p>
            <a:pPr marL="457200" indent="-457200" algn="just">
              <a:buAutoNum type="arabicPeriod"/>
            </a:pPr>
            <a:r>
              <a:rPr lang="en-US" sz="1600" b="0">
                <a:latin typeface="Montserrat SemiBold"/>
              </a:rPr>
              <a:t>Skapa filer</a:t>
            </a:r>
            <a:r>
              <a:rPr lang="en-US" sz="1600" b="0">
                <a:latin typeface="Montserrat Light"/>
              </a:rPr>
              <a:t>                         En header: (</a:t>
            </a:r>
            <a:r>
              <a:rPr lang="en-US" sz="1600" b="0" i="1">
                <a:latin typeface="Montserrat Light"/>
              </a:rPr>
              <a:t>Timer.h</a:t>
            </a:r>
            <a:r>
              <a:rPr lang="en-US" sz="1600" b="0" dirty="0">
                <a:latin typeface="Montserrat Light"/>
              </a:rPr>
              <a:t>) och källkod (</a:t>
            </a:r>
            <a:r>
              <a:rPr lang="en-US" sz="1600" b="0" i="1" dirty="0">
                <a:latin typeface="Montserrat Light"/>
              </a:rPr>
              <a:t>Timer.cpp</a:t>
            </a:r>
            <a:r>
              <a:rPr lang="en-US" sz="1600" b="0" dirty="0">
                <a:latin typeface="Montserrat Light"/>
              </a:rPr>
              <a:t>)</a:t>
            </a:r>
            <a:endParaRPr lang="en-US"/>
          </a:p>
          <a:p>
            <a:pPr marL="457200" indent="-457200" algn="just">
              <a:buAutoNum type="arabicPeriod"/>
            </a:pPr>
            <a:endParaRPr lang="en-US" sz="1600" b="0" dirty="0">
              <a:latin typeface="Montserrat Light"/>
            </a:endParaRPr>
          </a:p>
          <a:p>
            <a:pPr marL="457200" indent="-457200" algn="just">
              <a:buAutoNum type="arabicPeriod"/>
            </a:pPr>
            <a:r>
              <a:rPr lang="en-US" sz="1600" b="0">
                <a:latin typeface="Montserrat SemiBold"/>
              </a:rPr>
              <a:t>Ställ in projekt</a:t>
            </a:r>
            <a:r>
              <a:rPr lang="en-US" sz="1600" b="0">
                <a:latin typeface="Montserrat Light"/>
                <a:cs typeface="Courier New"/>
              </a:rPr>
              <a:t>                 Output, Intermediate</a:t>
            </a:r>
          </a:p>
          <a:p>
            <a:pPr marL="457200" indent="-457200" algn="just">
              <a:buAutoNum type="arabicPeriod"/>
            </a:pPr>
            <a:endParaRPr lang="en-US" sz="1600" b="0" dirty="0">
              <a:latin typeface="Montserrat Light"/>
              <a:cs typeface="Courier New"/>
            </a:endParaRPr>
          </a:p>
          <a:p>
            <a:pPr marL="457200" indent="-457200" algn="just">
              <a:buAutoNum type="arabicPeriod"/>
            </a:pPr>
            <a:r>
              <a:rPr lang="en-US" sz="1600" b="0">
                <a:latin typeface="Montserrat SemiBold"/>
                <a:cs typeface="Courier New"/>
              </a:rPr>
              <a:t>Implementera</a:t>
            </a:r>
            <a:r>
              <a:rPr lang="en-US" sz="1600" b="0">
                <a:latin typeface="Montserrat Light"/>
                <a:cs typeface="Courier New"/>
              </a:rPr>
              <a:t>                  Deklarera gränssnitt (.h) och implementera (.cpp)</a:t>
            </a:r>
          </a:p>
          <a:p>
            <a:pPr marL="457200" indent="-457200" algn="just">
              <a:buAutoNum type="arabicPeriod"/>
            </a:pPr>
            <a:endParaRPr lang="en-US" sz="1600" b="0" dirty="0">
              <a:latin typeface="Montserrat Light"/>
              <a:cs typeface="Courier New"/>
            </a:endParaRPr>
          </a:p>
          <a:p>
            <a:pPr marL="457200" indent="-457200" algn="just">
              <a:buAutoNum type="arabicPeriod"/>
            </a:pPr>
            <a:r>
              <a:rPr lang="en-US" sz="1600" b="0">
                <a:latin typeface="Montserrat SemiBold"/>
                <a:cs typeface="Courier New"/>
              </a:rPr>
              <a:t>Bygg bibliotek</a:t>
            </a:r>
            <a:r>
              <a:rPr lang="en-US" sz="1600" b="0">
                <a:latin typeface="Montserrat Light"/>
                <a:cs typeface="Courier New"/>
              </a:rPr>
              <a:t>                 Producerar .lib</a:t>
            </a:r>
          </a:p>
          <a:p>
            <a:pPr marL="457200" indent="-457200" algn="just">
              <a:buAutoNum type="arabicPeriod"/>
            </a:pPr>
            <a:endParaRPr lang="en-US" sz="1600" b="0" dirty="0">
              <a:latin typeface="Montserrat Light"/>
              <a:cs typeface="Courier New"/>
            </a:endParaRPr>
          </a:p>
          <a:p>
            <a:pPr marL="457200" indent="-457200" algn="just">
              <a:buAutoNum type="arabicPeriod"/>
            </a:pPr>
            <a:r>
              <a:rPr lang="en-US" sz="1600" b="0">
                <a:latin typeface="Montserrat SemiBold"/>
                <a:cs typeface="Courier New"/>
              </a:rPr>
              <a:t>Länka mot bibliotek    </a:t>
            </a:r>
            <a:r>
              <a:rPr lang="en-US" b="0">
                <a:latin typeface="Montserrat SemiBold"/>
                <a:cs typeface="Courier New"/>
              </a:rPr>
              <a:t> </a:t>
            </a:r>
            <a:r>
              <a:rPr lang="en-US" sz="1600" b="0">
                <a:latin typeface="Montserrat Light"/>
                <a:cs typeface="Courier New"/>
              </a:rPr>
              <a:t>Skapa ett projekt som bygger .exe och länkar biblioteket</a:t>
            </a:r>
          </a:p>
        </p:txBody>
      </p:sp>
    </p:spTree>
    <p:extLst>
      <p:ext uri="{BB962C8B-B14F-4D97-AF65-F5344CB8AC3E}">
        <p14:creationId xmlns:p14="http://schemas.microsoft.com/office/powerpoint/2010/main" val="2643369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864F5-FD23-3FCF-472A-AEF8894B3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ECDD48AC-1A09-8BB0-8983-09A7FE1EB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122" y="452476"/>
            <a:ext cx="9204878" cy="697668"/>
          </a:xfrm>
        </p:spPr>
        <p:txBody>
          <a:bodyPr/>
          <a:lstStyle/>
          <a:p>
            <a:r>
              <a:rPr lang="sv-SE">
                <a:latin typeface="Barlow Semi Condensed Medium"/>
              </a:rPr>
              <a:t>BIBLIOTEK – DLL</a:t>
            </a:r>
            <a:endParaRPr lang="en-US"/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BFC8E3F2-B457-0333-8F08-DA810510E778}"/>
              </a:ext>
            </a:extLst>
          </p:cNvPr>
          <p:cNvSpPr txBox="1"/>
          <p:nvPr/>
        </p:nvSpPr>
        <p:spPr>
          <a:xfrm>
            <a:off x="449601" y="1151559"/>
            <a:ext cx="1097280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800" b="1">
                <a:solidFill>
                  <a:srgbClr val="16253E"/>
                </a:solidFill>
                <a:latin typeface="Aptos"/>
              </a:defRPr>
            </a:pPr>
            <a:r>
              <a:rPr lang="en-US" sz="1600">
                <a:solidFill>
                  <a:srgbClr val="A5A5A5"/>
                </a:solidFill>
                <a:latin typeface="Montserrat Light"/>
              </a:rPr>
              <a:t>En DLL behöver exportera funktioner och vara tillgänglig när programmet körs. </a:t>
            </a:r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D93281E-F02E-EDF5-5A43-658F02F34A3C}"/>
              </a:ext>
            </a:extLst>
          </p:cNvPr>
          <p:cNvGrpSpPr/>
          <p:nvPr/>
        </p:nvGrpSpPr>
        <p:grpSpPr>
          <a:xfrm>
            <a:off x="851378" y="2215410"/>
            <a:ext cx="4199481" cy="2425482"/>
            <a:chOff x="451328" y="2948835"/>
            <a:chExt cx="2827881" cy="1149132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314AAC5-6B9A-F996-691A-B8F5F114D75E}"/>
                </a:ext>
              </a:extLst>
            </p:cNvPr>
            <p:cNvGrpSpPr/>
            <p:nvPr/>
          </p:nvGrpSpPr>
          <p:grpSpPr>
            <a:xfrm>
              <a:off x="451328" y="2948835"/>
              <a:ext cx="2825010" cy="1149132"/>
              <a:chOff x="603728" y="2282085"/>
              <a:chExt cx="2825010" cy="1149132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7496B19-4C9A-2A3E-A705-7B026BE4775A}"/>
                  </a:ext>
                </a:extLst>
              </p:cNvPr>
              <p:cNvSpPr/>
              <p:nvPr/>
            </p:nvSpPr>
            <p:spPr>
              <a:xfrm>
                <a:off x="603728" y="2282085"/>
                <a:ext cx="129435" cy="1149132"/>
              </a:xfrm>
              <a:prstGeom prst="rect">
                <a:avLst/>
              </a:prstGeom>
              <a:solidFill>
                <a:srgbClr val="00B0F0"/>
              </a:solidFill>
              <a:ln w="127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61C22D8-E8D9-0154-AF3C-206BD3298354}"/>
                  </a:ext>
                </a:extLst>
              </p:cNvPr>
              <p:cNvSpPr/>
              <p:nvPr/>
            </p:nvSpPr>
            <p:spPr>
              <a:xfrm>
                <a:off x="679928" y="2282085"/>
                <a:ext cx="2748810" cy="1149132"/>
              </a:xfrm>
              <a:prstGeom prst="rect">
                <a:avLst/>
              </a:prstGeom>
              <a:ln w="127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23DB3BD-2D9D-7938-8454-76DA52BC60ED}"/>
                </a:ext>
              </a:extLst>
            </p:cNvPr>
            <p:cNvSpPr txBox="1">
              <a:spLocks/>
            </p:cNvSpPr>
            <p:nvPr/>
          </p:nvSpPr>
          <p:spPr>
            <a:xfrm>
              <a:off x="696360" y="2950140"/>
              <a:ext cx="2582849" cy="114532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400" b="1">
                  <a:solidFill>
                    <a:srgbClr val="000000"/>
                  </a:solidFill>
                  <a:latin typeface="Montserrat"/>
                </a:rPr>
                <a:t>När biblioteket byggs</a:t>
              </a:r>
              <a:endParaRPr lang="en-US"/>
            </a:p>
            <a:p>
              <a:endParaRPr lang="en-US" b="1" dirty="0">
                <a:solidFill>
                  <a:srgbClr val="000000"/>
                </a:solidFill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200" i="1">
                  <a:solidFill>
                    <a:srgbClr val="000000"/>
                  </a:solidFill>
                </a:rPr>
                <a:t>En preprocessordefinition</a:t>
              </a:r>
              <a:endParaRPr lang="en-US">
                <a:solidFill>
                  <a:srgbClr val="FFFFFF"/>
                </a:solidFill>
              </a:endParaRPr>
            </a:p>
            <a:p>
              <a:pPr marL="628650" lvl="1" indent="-171450">
                <a:buFont typeface="Courier New"/>
                <a:buChar char="o"/>
              </a:pPr>
              <a:r>
                <a:rPr lang="en-US" sz="1200" i="1">
                  <a:solidFill>
                    <a:srgbClr val="000000"/>
                  </a:solidFill>
                </a:rPr>
                <a:t>exempelvis COMMON_UTILITIES_EXPORTS</a:t>
              </a:r>
              <a:endParaRPr lang="en-US">
                <a:solidFill>
                  <a:srgbClr val="FFFFFF"/>
                </a:solidFill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200" i="1">
                  <a:solidFill>
                    <a:srgbClr val="000000"/>
                  </a:solidFill>
                </a:rPr>
                <a:t>Markerar att symboler exporteras</a:t>
              </a:r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6F811C9-C5D0-71F6-D1DE-8C4B1D8DA9A9}"/>
              </a:ext>
            </a:extLst>
          </p:cNvPr>
          <p:cNvGrpSpPr/>
          <p:nvPr/>
        </p:nvGrpSpPr>
        <p:grpSpPr>
          <a:xfrm>
            <a:off x="6233003" y="2215410"/>
            <a:ext cx="4209005" cy="2425482"/>
            <a:chOff x="6061553" y="4720485"/>
            <a:chExt cx="2834294" cy="1149132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099A63F-BE84-ED3D-94C7-B192A594BD95}"/>
                </a:ext>
              </a:extLst>
            </p:cNvPr>
            <p:cNvGrpSpPr/>
            <p:nvPr/>
          </p:nvGrpSpPr>
          <p:grpSpPr>
            <a:xfrm>
              <a:off x="6061553" y="4720485"/>
              <a:ext cx="2825010" cy="1149132"/>
              <a:chOff x="603728" y="2282085"/>
              <a:chExt cx="2825010" cy="1149132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00B5C6D7-4CD6-6D43-4564-1690587D292E}"/>
                  </a:ext>
                </a:extLst>
              </p:cNvPr>
              <p:cNvSpPr/>
              <p:nvPr/>
            </p:nvSpPr>
            <p:spPr>
              <a:xfrm>
                <a:off x="603728" y="2282085"/>
                <a:ext cx="129435" cy="1149132"/>
              </a:xfrm>
              <a:prstGeom prst="rect">
                <a:avLst/>
              </a:prstGeom>
              <a:solidFill>
                <a:srgbClr val="C00000"/>
              </a:solidFill>
              <a:ln w="12700">
                <a:solidFill>
                  <a:srgbClr val="933C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53903E39-F2D8-4FC4-F0F5-3966615F7A5F}"/>
                  </a:ext>
                </a:extLst>
              </p:cNvPr>
              <p:cNvSpPr/>
              <p:nvPr/>
            </p:nvSpPr>
            <p:spPr>
              <a:xfrm>
                <a:off x="679928" y="2282085"/>
                <a:ext cx="2748810" cy="1149132"/>
              </a:xfrm>
              <a:prstGeom prst="rect">
                <a:avLst/>
              </a:prstGeom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E34617A-5723-6E4A-075A-560D2B748187}"/>
                </a:ext>
              </a:extLst>
            </p:cNvPr>
            <p:cNvSpPr txBox="1">
              <a:spLocks/>
            </p:cNvSpPr>
            <p:nvPr/>
          </p:nvSpPr>
          <p:spPr>
            <a:xfrm>
              <a:off x="6293755" y="4721789"/>
              <a:ext cx="2602092" cy="1145322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400" b="1">
                  <a:solidFill>
                    <a:srgbClr val="000000"/>
                  </a:solidFill>
                </a:rPr>
                <a:t>När biblioteket används </a:t>
              </a:r>
              <a:endParaRPr lang="en-US"/>
            </a:p>
            <a:p>
              <a:endParaRPr lang="en-US" b="1" dirty="0">
                <a:solidFill>
                  <a:srgbClr val="000000"/>
                </a:solidFill>
              </a:endParaRPr>
            </a:p>
            <a:p>
              <a:r>
                <a:rPr lang="en-US" sz="1200" i="1">
                  <a:solidFill>
                    <a:srgbClr val="000000"/>
                  </a:solidFill>
                </a:rPr>
                <a:t>Definitionen saknas, och deklarationerna markeras för import via bibliotekets API-makro. </a:t>
              </a:r>
              <a:endParaRPr lang="en-US"/>
            </a:p>
          </p:txBody>
        </p:sp>
      </p:grpSp>
      <p:sp>
        <p:nvSpPr>
          <p:cNvPr id="3" name="TextBox 19">
            <a:extLst>
              <a:ext uri="{FF2B5EF4-FFF2-40B4-BE49-F238E27FC236}">
                <a16:creationId xmlns:a16="http://schemas.microsoft.com/office/drawing/2014/main" id="{92272D37-828E-B0E8-808F-63D6C55F7186}"/>
              </a:ext>
            </a:extLst>
          </p:cNvPr>
          <p:cNvSpPr txBox="1"/>
          <p:nvPr/>
        </p:nvSpPr>
        <p:spPr>
          <a:xfrm>
            <a:off x="914400" y="5007456"/>
            <a:ext cx="10332720" cy="301621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800" b="1">
                <a:solidFill>
                  <a:srgbClr val="16253E"/>
                </a:solidFill>
                <a:latin typeface="Aptos"/>
              </a:defRPr>
            </a:pPr>
            <a:r>
              <a:rPr lang="en-US" sz="1600" i="1">
                <a:solidFill>
                  <a:srgbClr val="A5A5A5"/>
                </a:solidFill>
                <a:latin typeface="Montserrat Light"/>
              </a:rPr>
              <a:t>På Omniway finns exempel för CU_API och export/import-deklarationerna</a:t>
            </a:r>
            <a:endParaRPr lang="en-US" i="1"/>
          </a:p>
        </p:txBody>
      </p:sp>
    </p:spTree>
    <p:extLst>
      <p:ext uri="{BB962C8B-B14F-4D97-AF65-F5344CB8AC3E}">
        <p14:creationId xmlns:p14="http://schemas.microsoft.com/office/powerpoint/2010/main" val="1954474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A0546-0772-0A53-F439-CAD8DCE5F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28B762AD-DD3B-F43A-71AE-E1ECB2EA7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122" y="452476"/>
            <a:ext cx="9204878" cy="697668"/>
          </a:xfrm>
        </p:spPr>
        <p:txBody>
          <a:bodyPr/>
          <a:lstStyle/>
          <a:p>
            <a:r>
              <a:rPr lang="sv-SE">
                <a:latin typeface="Barlow Semi Condensed Medium"/>
              </a:rPr>
              <a:t>BIBLIOTEK – STRUKTUR</a:t>
            </a:r>
            <a:endParaRPr lang="en-US"/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B696E5C0-E893-DDEA-9266-39FACE655A68}"/>
              </a:ext>
            </a:extLst>
          </p:cNvPr>
          <p:cNvSpPr txBox="1"/>
          <p:nvPr/>
        </p:nvSpPr>
        <p:spPr>
          <a:xfrm>
            <a:off x="449601" y="1151559"/>
            <a:ext cx="1097280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800" b="1">
                <a:solidFill>
                  <a:srgbClr val="16253E"/>
                </a:solidFill>
                <a:latin typeface="Aptos"/>
              </a:defRPr>
            </a:pPr>
            <a:r>
              <a:rPr lang="en-US" sz="1600">
                <a:solidFill>
                  <a:srgbClr val="A5A5A5"/>
                </a:solidFill>
                <a:latin typeface="Montserrat Light"/>
              </a:rPr>
              <a:t>Strukturera bibliotek så att </a:t>
            </a:r>
            <a:r>
              <a:rPr lang="en-US" sz="1600">
                <a:solidFill>
                  <a:srgbClr val="A5A5A5"/>
                </a:solidFill>
                <a:latin typeface="Montserrat SemiBold"/>
              </a:rPr>
              <a:t>gränssnitt</a:t>
            </a:r>
            <a:r>
              <a:rPr lang="en-US" sz="1600">
                <a:solidFill>
                  <a:srgbClr val="A5A5A5"/>
                </a:solidFill>
                <a:latin typeface="Montserrat Light"/>
              </a:rPr>
              <a:t>, </a:t>
            </a:r>
            <a:r>
              <a:rPr lang="en-US" sz="1600">
                <a:solidFill>
                  <a:srgbClr val="A5A5A5"/>
                </a:solidFill>
                <a:latin typeface="Montserrat SemiBold"/>
              </a:rPr>
              <a:t>binärer </a:t>
            </a:r>
            <a:r>
              <a:rPr lang="en-US" sz="1600">
                <a:solidFill>
                  <a:srgbClr val="A5A5A5"/>
                </a:solidFill>
                <a:latin typeface="Montserrat Light"/>
              </a:rPr>
              <a:t>och </a:t>
            </a:r>
            <a:r>
              <a:rPr lang="en-US" sz="1600">
                <a:solidFill>
                  <a:srgbClr val="A5A5A5"/>
                </a:solidFill>
                <a:latin typeface="Montserrat SemiBold"/>
              </a:rPr>
              <a:t>länkfiler </a:t>
            </a:r>
            <a:r>
              <a:rPr lang="en-US" sz="1600">
                <a:solidFill>
                  <a:srgbClr val="A5A5A5"/>
                </a:solidFill>
                <a:latin typeface="Montserrat Light"/>
              </a:rPr>
              <a:t>hålls skilda.  </a:t>
            </a:r>
            <a:r>
              <a:rPr lang="en-US" sz="1600" i="1">
                <a:solidFill>
                  <a:srgbClr val="A5A5A5"/>
                </a:solidFill>
                <a:latin typeface="Montserrat Light"/>
              </a:rPr>
              <a:t>Gör det lätt att använda. </a:t>
            </a:r>
            <a:endParaRPr lang="en-US" i="1">
              <a:latin typeface="Montserrat Light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24D206C-FF4B-27C2-61F4-6E89D0A7FEE3}"/>
              </a:ext>
            </a:extLst>
          </p:cNvPr>
          <p:cNvGrpSpPr/>
          <p:nvPr/>
        </p:nvGrpSpPr>
        <p:grpSpPr>
          <a:xfrm>
            <a:off x="5934858" y="1860506"/>
            <a:ext cx="5817426" cy="4398330"/>
            <a:chOff x="451328" y="2948835"/>
            <a:chExt cx="2827881" cy="1149132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8B5444E-D6E3-9B23-B266-668CAC4A180A}"/>
                </a:ext>
              </a:extLst>
            </p:cNvPr>
            <p:cNvGrpSpPr/>
            <p:nvPr/>
          </p:nvGrpSpPr>
          <p:grpSpPr>
            <a:xfrm>
              <a:off x="451328" y="2948835"/>
              <a:ext cx="2825010" cy="1149132"/>
              <a:chOff x="603728" y="2282085"/>
              <a:chExt cx="2825010" cy="1149132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CCEFDED-86E3-BF7F-965F-DEDEA5207339}"/>
                  </a:ext>
                </a:extLst>
              </p:cNvPr>
              <p:cNvSpPr/>
              <p:nvPr/>
            </p:nvSpPr>
            <p:spPr>
              <a:xfrm>
                <a:off x="603728" y="2282085"/>
                <a:ext cx="129435" cy="1149132"/>
              </a:xfrm>
              <a:prstGeom prst="rect">
                <a:avLst/>
              </a:prstGeom>
              <a:solidFill>
                <a:srgbClr val="00B0F0"/>
              </a:solidFill>
              <a:ln w="127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80D13F7-52B4-A711-D841-02E066EA43FF}"/>
                  </a:ext>
                </a:extLst>
              </p:cNvPr>
              <p:cNvSpPr/>
              <p:nvPr/>
            </p:nvSpPr>
            <p:spPr>
              <a:xfrm>
                <a:off x="679928" y="2282085"/>
                <a:ext cx="2748810" cy="1149132"/>
              </a:xfrm>
              <a:prstGeom prst="rect">
                <a:avLst/>
              </a:prstGeom>
              <a:ln w="127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ECA3200-841A-6363-88B6-0E2409AAF5F2}"/>
                </a:ext>
              </a:extLst>
            </p:cNvPr>
            <p:cNvSpPr txBox="1">
              <a:spLocks/>
            </p:cNvSpPr>
            <p:nvPr/>
          </p:nvSpPr>
          <p:spPr>
            <a:xfrm>
              <a:off x="696360" y="2950140"/>
              <a:ext cx="2582849" cy="114532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400" b="1">
                  <a:solidFill>
                    <a:srgbClr val="000000"/>
                  </a:solidFill>
                  <a:latin typeface="Montserrat"/>
                </a:rPr>
                <a:t>Exempel på struktur I ett biblioteket</a:t>
              </a:r>
              <a:endParaRPr lang="en-US">
                <a:solidFill>
                  <a:srgbClr val="FFFFFF"/>
                </a:solidFill>
                <a:latin typeface="Montserrat"/>
              </a:endParaRPr>
            </a:p>
            <a:p>
              <a:endParaRPr lang="en-US" b="1" dirty="0">
                <a:solidFill>
                  <a:srgbClr val="000000"/>
                </a:solidFill>
                <a:latin typeface="Montserrat"/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200" i="1">
                  <a:solidFill>
                    <a:srgbClr val="000000"/>
                  </a:solidFill>
                  <a:latin typeface="Montserrat SemiBold"/>
                </a:rPr>
                <a:t>include:</a:t>
              </a:r>
              <a:r>
                <a:rPr lang="en-US" sz="1200" i="1" dirty="0">
                  <a:solidFill>
                    <a:srgbClr val="000000"/>
                  </a:solidFill>
                </a:rPr>
                <a:t> </a:t>
              </a:r>
              <a:r>
                <a:rPr lang="en-US" sz="1200">
                  <a:solidFill>
                    <a:srgbClr val="000000"/>
                  </a:solidFill>
                </a:rPr>
                <a:t>header-filer </a:t>
              </a:r>
              <a:endParaRPr lang="en-US">
                <a:solidFill>
                  <a:srgbClr val="FFFFFF"/>
                </a:solidFill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200" i="1">
                  <a:solidFill>
                    <a:srgbClr val="000000"/>
                  </a:solidFill>
                  <a:latin typeface="Montserrat SemiBold"/>
                </a:rPr>
                <a:t>lib:</a:t>
              </a:r>
              <a:r>
                <a:rPr lang="en-US" sz="1200" i="1">
                  <a:solidFill>
                    <a:srgbClr val="000000"/>
                  </a:solidFill>
                </a:rPr>
                <a:t> statiska bibliotek eller importbibliotek </a:t>
              </a:r>
              <a:endParaRPr lang="en-US"/>
            </a:p>
            <a:p>
              <a:pPr marL="171450" indent="-171450">
                <a:buFont typeface="Arial"/>
                <a:buChar char="•"/>
              </a:pPr>
              <a:r>
                <a:rPr lang="en-US" sz="1200" i="1">
                  <a:solidFill>
                    <a:srgbClr val="000000"/>
                  </a:solidFill>
                  <a:latin typeface="Montserrat SemiBold"/>
                </a:rPr>
                <a:t>bin:</a:t>
              </a:r>
              <a:r>
                <a:rPr lang="en-US" sz="1200" i="1">
                  <a:solidFill>
                    <a:srgbClr val="000000"/>
                  </a:solidFill>
                </a:rPr>
                <a:t> DLL-filer och eventuell debuginformation </a:t>
              </a:r>
              <a:endParaRPr lang="en-US"/>
            </a:p>
            <a:p>
              <a:pPr marL="171450" indent="-171450">
                <a:buFont typeface="Arial"/>
                <a:buChar char="•"/>
              </a:pPr>
              <a:endParaRPr lang="en-US"/>
            </a:p>
            <a:p>
              <a:r>
                <a:rPr lang="en-US" sz="1400" b="1">
                  <a:solidFill>
                    <a:srgbClr val="000000"/>
                  </a:solidFill>
                  <a:latin typeface="Montserrat"/>
                </a:rPr>
                <a:t>Flera versioner av bibliotek</a:t>
              </a:r>
              <a:endParaRPr lang="en-US" dirty="0">
                <a:solidFill>
                  <a:srgbClr val="FFFFFF"/>
                </a:solidFill>
                <a:latin typeface="Montserra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00000"/>
                  </a:solidFill>
                  <a:latin typeface="Montserrat Light"/>
                </a:rPr>
                <a:t>För att länka ett bibliotek måste vårt projekt:</a:t>
              </a:r>
              <a:endParaRPr lang="en-US">
                <a:solidFill>
                  <a:srgbClr val="FFFFFF"/>
                </a:solidFill>
                <a:latin typeface="Montserrat Light"/>
              </a:endParaRPr>
            </a:p>
            <a:p>
              <a:pPr marL="742950" lvl="1" indent="-285750">
                <a:buFont typeface="Courier New"/>
                <a:buChar char="o"/>
              </a:pPr>
              <a:r>
                <a:rPr lang="en-US" sz="1200">
                  <a:solidFill>
                    <a:srgbClr val="000000"/>
                  </a:solidFill>
                  <a:latin typeface="Montserrat Light"/>
                </a:rPr>
                <a:t>Bygga för samma plattform (</a:t>
              </a:r>
              <a:r>
                <a:rPr lang="en-US" sz="1200" i="1">
                  <a:solidFill>
                    <a:srgbClr val="000000"/>
                  </a:solidFill>
                  <a:latin typeface="Montserrat Light"/>
                </a:rPr>
                <a:t>x86 eller x64</a:t>
              </a:r>
              <a:r>
                <a:rPr lang="en-US" sz="1200">
                  <a:solidFill>
                    <a:srgbClr val="000000"/>
                  </a:solidFill>
                  <a:latin typeface="Montserrat Light"/>
                </a:rPr>
                <a:t>)</a:t>
              </a:r>
            </a:p>
            <a:p>
              <a:pPr marL="742950" lvl="1" indent="-285750">
                <a:buFont typeface="Courier New"/>
                <a:buChar char="o"/>
              </a:pPr>
              <a:r>
                <a:rPr lang="en-US" sz="1200">
                  <a:solidFill>
                    <a:srgbClr val="000000"/>
                  </a:solidFill>
                  <a:latin typeface="Montserrat Light"/>
                </a:rPr>
                <a:t>Men även konfiguration (</a:t>
              </a:r>
              <a:r>
                <a:rPr lang="en-US" sz="1200" i="1">
                  <a:solidFill>
                    <a:srgbClr val="000000"/>
                  </a:solidFill>
                  <a:latin typeface="Montserrat Light"/>
                </a:rPr>
                <a:t>Debug, Release, osv..</a:t>
              </a:r>
              <a:r>
                <a:rPr lang="en-US" sz="1200">
                  <a:solidFill>
                    <a:srgbClr val="000000"/>
                  </a:solidFill>
                  <a:latin typeface="Montserrat Light"/>
                </a:rPr>
                <a:t>)</a:t>
              </a:r>
            </a:p>
            <a:p>
              <a:pPr marL="285750" indent="-285750">
                <a:buFont typeface="Arial"/>
                <a:buChar char="•"/>
              </a:pPr>
              <a:endParaRPr lang="en-US" sz="1400" dirty="0">
                <a:solidFill>
                  <a:srgbClr val="000000"/>
                </a:solidFill>
                <a:latin typeface="Montserrat Ligh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00000"/>
                  </a:solidFill>
                  <a:latin typeface="Montserrat Light"/>
                </a:rPr>
                <a:t>Använd </a:t>
              </a:r>
              <a:r>
                <a:rPr lang="en-US" sz="1400" b="1">
                  <a:solidFill>
                    <a:srgbClr val="000000"/>
                  </a:solidFill>
                  <a:latin typeface="Montserrat Light"/>
                </a:rPr>
                <a:t>filnamn</a:t>
              </a:r>
              <a:r>
                <a:rPr lang="en-US" sz="1400">
                  <a:solidFill>
                    <a:srgbClr val="000000"/>
                  </a:solidFill>
                  <a:latin typeface="Montserrat Light"/>
                </a:rPr>
                <a:t> för att specificera</a:t>
              </a:r>
            </a:p>
            <a:p>
              <a:pPr marL="742950" lvl="1" indent="-285750">
                <a:buFont typeface="Courier New"/>
                <a:buChar char="o"/>
              </a:pPr>
              <a:r>
                <a:rPr lang="en-US" sz="1200">
                  <a:solidFill>
                    <a:srgbClr val="000000"/>
                  </a:solidFill>
                  <a:latin typeface="Montserrat Light"/>
                </a:rPr>
                <a:t>Alltså, till example</a:t>
              </a:r>
              <a:r>
                <a:rPr lang="en-US" sz="1200" i="1">
                  <a:solidFill>
                    <a:srgbClr val="000000"/>
                  </a:solidFill>
                  <a:latin typeface="Montserrat Light"/>
                </a:rPr>
                <a:t>:</a:t>
              </a:r>
            </a:p>
            <a:p>
              <a:pPr marL="1200150" lvl="2" indent="-285750">
                <a:buFont typeface="Wingdings"/>
                <a:buChar char="§"/>
              </a:pPr>
              <a:r>
                <a:rPr lang="en-US" sz="1200" i="1">
                  <a:solidFill>
                    <a:srgbClr val="000000"/>
                  </a:solidFill>
                </a:rPr>
                <a:t>CommonUtilities_x64-debug.lib</a:t>
              </a:r>
            </a:p>
            <a:p>
              <a:pPr marL="1200150" lvl="2" indent="-285750">
                <a:buFont typeface="Wingdings"/>
                <a:buChar char="§"/>
              </a:pPr>
              <a:r>
                <a:rPr lang="en-US" sz="1200" i="1">
                  <a:solidFill>
                    <a:srgbClr val="000000"/>
                  </a:solidFill>
                </a:rPr>
                <a:t>CommonUtilities_x64-release.lib</a:t>
              </a:r>
            </a:p>
            <a:p>
              <a:pPr marL="742950" lvl="1" indent="-285750">
                <a:buFont typeface="Courier New"/>
                <a:buChar char="o"/>
              </a:pPr>
              <a:r>
                <a:rPr lang="en-US" sz="1200">
                  <a:solidFill>
                    <a:srgbClr val="000000"/>
                  </a:solidFill>
                  <a:latin typeface="Montserrat Light"/>
                </a:rPr>
                <a:t>Ger tydlighet och det blir svårare att göra fel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Montserrat Light"/>
                </a:rPr>
                <a:t>Undvik:</a:t>
              </a:r>
            </a:p>
            <a:p>
              <a:pPr marL="742950" lvl="1" indent="-285750">
                <a:buFont typeface="Courier New"/>
                <a:buChar char="o"/>
              </a:pPr>
              <a:r>
                <a:rPr lang="en-US" sz="1200">
                  <a:solidFill>
                    <a:srgbClr val="000000"/>
                  </a:solidFill>
                  <a:latin typeface="Montserrat Light"/>
                </a:rPr>
                <a:t>CommonUtilities/lib/x64/debug/CommonUtilities.lib</a:t>
              </a:r>
            </a:p>
            <a:p>
              <a:pPr marL="742950" lvl="1" indent="-285750">
                <a:buFont typeface="Courier New,monospace"/>
                <a:buChar char="o"/>
              </a:pPr>
              <a:r>
                <a:rPr lang="en-US" sz="1200">
                  <a:solidFill>
                    <a:srgbClr val="000000"/>
                  </a:solidFill>
                  <a:latin typeface="Montserrat Light"/>
                </a:rPr>
                <a:t>CommonUtilities/lib/x64/release/CommonUtilities.lib</a:t>
              </a:r>
              <a:endParaRPr lang="en-US" sz="1200">
                <a:solidFill>
                  <a:srgbClr val="FFFFFF"/>
                </a:solidFill>
                <a:latin typeface="Montserrat Light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6CF7447-2326-4BC9-C67A-D7FCB909DE15}"/>
              </a:ext>
            </a:extLst>
          </p:cNvPr>
          <p:cNvGrpSpPr/>
          <p:nvPr/>
        </p:nvGrpSpPr>
        <p:grpSpPr>
          <a:xfrm>
            <a:off x="555530" y="2203537"/>
            <a:ext cx="4663440" cy="2971800"/>
            <a:chOff x="868680" y="2057400"/>
            <a:chExt cx="4663440" cy="2971800"/>
          </a:xfrm>
        </p:grpSpPr>
        <p:sp>
          <p:nvSpPr>
            <p:cNvPr id="2" name="Rounded Rectangle 7">
              <a:extLst>
                <a:ext uri="{FF2B5EF4-FFF2-40B4-BE49-F238E27FC236}">
                  <a16:creationId xmlns:a16="http://schemas.microsoft.com/office/drawing/2014/main" id="{40189115-F6D6-EB68-E064-CF33CD658BB6}"/>
                </a:ext>
              </a:extLst>
            </p:cNvPr>
            <p:cNvSpPr/>
            <p:nvPr/>
          </p:nvSpPr>
          <p:spPr>
            <a:xfrm>
              <a:off x="868680" y="2057400"/>
              <a:ext cx="4663440" cy="2971800"/>
            </a:xfrm>
            <a:prstGeom prst="roundRect">
              <a:avLst/>
            </a:prstGeom>
            <a:solidFill>
              <a:srgbClr val="1625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5" name="TextBox 8">
              <a:extLst>
                <a:ext uri="{FF2B5EF4-FFF2-40B4-BE49-F238E27FC236}">
                  <a16:creationId xmlns:a16="http://schemas.microsoft.com/office/drawing/2014/main" id="{86EA797C-EE3D-09A3-AFAD-B757D5DF1673}"/>
                </a:ext>
              </a:extLst>
            </p:cNvPr>
            <p:cNvSpPr txBox="1"/>
            <p:nvPr/>
          </p:nvSpPr>
          <p:spPr>
            <a:xfrm>
              <a:off x="1051560" y="2176272"/>
              <a:ext cx="4287241" cy="2586690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700" b="0">
                  <a:solidFill>
                    <a:srgbClr val="FFFFFF"/>
                  </a:solidFill>
                  <a:latin typeface="Consolas"/>
                </a:defRPr>
              </a:pPr>
              <a:endParaRPr lang="en-US" dirty="0"/>
            </a:p>
            <a:p>
              <a:pPr>
                <a:defRPr sz="1700" b="0">
                  <a:solidFill>
                    <a:srgbClr val="FFFFFF"/>
                  </a:solidFill>
                  <a:latin typeface="Consolas"/>
                </a:defRPr>
              </a:pPr>
              <a:r>
                <a:t>CommonUtilities/</a:t>
              </a:r>
              <a:br>
                <a:rPr dirty="0"/>
              </a:br>
              <a:r>
                <a:t>├── include/</a:t>
              </a:r>
              <a:br>
                <a:rPr dirty="0"/>
              </a:br>
              <a:r>
                <a:t>│   └── *.h, *.hpp</a:t>
              </a:r>
              <a:br>
                <a:rPr dirty="0"/>
              </a:br>
              <a:r>
                <a:t>├── lib/</a:t>
              </a:r>
              <a:br>
                <a:rPr dirty="0"/>
              </a:br>
              <a:r>
                <a:t>│   └── *.lib</a:t>
              </a:r>
              <a:br>
                <a:rPr dirty="0"/>
              </a:br>
              <a:r>
                <a:t>└── bin/</a:t>
              </a:r>
              <a:br>
                <a:rPr dirty="0"/>
              </a:br>
              <a:r>
                <a:t>    └── *.dll, *.pdb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6028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CCA92-4E1D-73E8-8C67-8F98BAB8D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E75E6730-2EAE-B773-83C3-7FCB555B6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122" y="452476"/>
            <a:ext cx="9204878" cy="697668"/>
          </a:xfrm>
        </p:spPr>
        <p:txBody>
          <a:bodyPr/>
          <a:lstStyle/>
          <a:p>
            <a:r>
              <a:rPr lang="sv-SE">
                <a:latin typeface="Barlow Semi Condensed Medium"/>
              </a:rPr>
              <a:t>BIBLIOTEK – FELSÖKNING</a:t>
            </a:r>
            <a:endParaRPr lang="en-US"/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3C9A1C7C-C459-2519-4A35-3EF32091650C}"/>
              </a:ext>
            </a:extLst>
          </p:cNvPr>
          <p:cNvSpPr txBox="1"/>
          <p:nvPr/>
        </p:nvSpPr>
        <p:spPr>
          <a:xfrm>
            <a:off x="449601" y="1151559"/>
            <a:ext cx="1097280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800" b="1">
                <a:solidFill>
                  <a:srgbClr val="16253E"/>
                </a:solidFill>
                <a:latin typeface="Aptos"/>
              </a:defRPr>
            </a:pPr>
            <a:r>
              <a:rPr lang="en-US" sz="1600">
                <a:solidFill>
                  <a:srgbClr val="A5A5A5"/>
                </a:solidFill>
                <a:latin typeface="Montserrat Light"/>
              </a:rPr>
              <a:t>Felmeddelanden vid länkning brukar upplevas lite svårare, så </a:t>
            </a:r>
            <a:r>
              <a:rPr lang="en-US" sz="1600">
                <a:solidFill>
                  <a:srgbClr val="A5A5A5"/>
                </a:solidFill>
                <a:latin typeface="Montserrat SemiBold"/>
              </a:rPr>
              <a:t>läs output</a:t>
            </a:r>
            <a:r>
              <a:rPr lang="en-US" sz="1600">
                <a:solidFill>
                  <a:srgbClr val="A5A5A5"/>
                </a:solidFill>
                <a:latin typeface="Montserrat Light"/>
              </a:rPr>
              <a:t>!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7D32ADB-3000-4FA4-F34B-58F55D38606A}"/>
              </a:ext>
            </a:extLst>
          </p:cNvPr>
          <p:cNvGrpSpPr/>
          <p:nvPr/>
        </p:nvGrpSpPr>
        <p:grpSpPr>
          <a:xfrm>
            <a:off x="451328" y="2453535"/>
            <a:ext cx="5188424" cy="1149132"/>
            <a:chOff x="451328" y="2948835"/>
            <a:chExt cx="2827881" cy="1149132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E47E3B9-3CD8-9C09-B274-FAAE41B3D880}"/>
                </a:ext>
              </a:extLst>
            </p:cNvPr>
            <p:cNvGrpSpPr/>
            <p:nvPr/>
          </p:nvGrpSpPr>
          <p:grpSpPr>
            <a:xfrm>
              <a:off x="451328" y="2948835"/>
              <a:ext cx="2825010" cy="1149132"/>
              <a:chOff x="603728" y="2282085"/>
              <a:chExt cx="2825010" cy="1149132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8926261-2803-060F-0327-12FF88DAD362}"/>
                  </a:ext>
                </a:extLst>
              </p:cNvPr>
              <p:cNvSpPr/>
              <p:nvPr/>
            </p:nvSpPr>
            <p:spPr>
              <a:xfrm>
                <a:off x="603728" y="2282085"/>
                <a:ext cx="129435" cy="1149132"/>
              </a:xfrm>
              <a:prstGeom prst="rect">
                <a:avLst/>
              </a:prstGeom>
              <a:solidFill>
                <a:srgbClr val="00B0F0"/>
              </a:solidFill>
              <a:ln w="127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3BB0A59-B190-39B6-1E83-2E6B3ACBB433}"/>
                  </a:ext>
                </a:extLst>
              </p:cNvPr>
              <p:cNvSpPr/>
              <p:nvPr/>
            </p:nvSpPr>
            <p:spPr>
              <a:xfrm>
                <a:off x="679928" y="2282085"/>
                <a:ext cx="2748810" cy="1149132"/>
              </a:xfrm>
              <a:prstGeom prst="rect">
                <a:avLst/>
              </a:prstGeom>
              <a:ln w="127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3DA4465-8CC5-586B-4A21-EC12B9EA2B72}"/>
                </a:ext>
              </a:extLst>
            </p:cNvPr>
            <p:cNvSpPr txBox="1">
              <a:spLocks/>
            </p:cNvSpPr>
            <p:nvPr/>
          </p:nvSpPr>
          <p:spPr>
            <a:xfrm>
              <a:off x="639839" y="2950140"/>
              <a:ext cx="2639370" cy="114532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700" b="1">
                  <a:solidFill>
                    <a:srgbClr val="16253E"/>
                  </a:solidFill>
                  <a:latin typeface="Aptos"/>
                </a:rPr>
                <a:t>Cannot open include file</a:t>
              </a:r>
              <a:endParaRPr lang="en-US" sz="1700">
                <a:solidFill>
                  <a:srgbClr val="000000"/>
                </a:solidFill>
                <a:latin typeface="Aptos"/>
              </a:endParaRPr>
            </a:p>
            <a:p>
              <a:endParaRPr lang="en-US" b="1" dirty="0">
                <a:solidFill>
                  <a:srgbClr val="000000"/>
                </a:solidFill>
              </a:endParaRPr>
            </a:p>
            <a:p>
              <a:r>
                <a:rPr lang="en-US" sz="1200" i="1">
                  <a:solidFill>
                    <a:srgbClr val="000000"/>
                  </a:solidFill>
                </a:rPr>
                <a:t>Kontrollera Additional Include Directories. </a:t>
              </a:r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4079712-DD33-F7B1-1BA8-13874E8569E2}"/>
              </a:ext>
            </a:extLst>
          </p:cNvPr>
          <p:cNvGrpSpPr/>
          <p:nvPr/>
        </p:nvGrpSpPr>
        <p:grpSpPr>
          <a:xfrm>
            <a:off x="6545671" y="2453535"/>
            <a:ext cx="5188423" cy="1149132"/>
            <a:chOff x="4204178" y="2977410"/>
            <a:chExt cx="2827880" cy="114913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51D4A8F-4F25-2B73-D77A-1FA2959A6790}"/>
                </a:ext>
              </a:extLst>
            </p:cNvPr>
            <p:cNvGrpSpPr/>
            <p:nvPr/>
          </p:nvGrpSpPr>
          <p:grpSpPr>
            <a:xfrm>
              <a:off x="4204178" y="2977410"/>
              <a:ext cx="2825010" cy="1149132"/>
              <a:chOff x="603728" y="2282085"/>
              <a:chExt cx="2825010" cy="1149132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76D520C-144D-9513-B19A-85110D3BB0A3}"/>
                  </a:ext>
                </a:extLst>
              </p:cNvPr>
              <p:cNvSpPr/>
              <p:nvPr/>
            </p:nvSpPr>
            <p:spPr>
              <a:xfrm>
                <a:off x="603728" y="2282085"/>
                <a:ext cx="129435" cy="1149132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933C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9E31CEC-D34F-4A25-4E70-78CA0F8FDA12}"/>
                  </a:ext>
                </a:extLst>
              </p:cNvPr>
              <p:cNvSpPr/>
              <p:nvPr/>
            </p:nvSpPr>
            <p:spPr>
              <a:xfrm>
                <a:off x="679928" y="2282085"/>
                <a:ext cx="2748810" cy="1149132"/>
              </a:xfrm>
              <a:prstGeom prst="rect">
                <a:avLst/>
              </a:prstGeom>
              <a:ln w="12700">
                <a:solidFill>
                  <a:srgbClr val="933C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0AD5560-9E39-B5B9-DC4A-F4540FD5D8ED}"/>
                </a:ext>
              </a:extLst>
            </p:cNvPr>
            <p:cNvSpPr txBox="1">
              <a:spLocks/>
            </p:cNvSpPr>
            <p:nvPr/>
          </p:nvSpPr>
          <p:spPr>
            <a:xfrm>
              <a:off x="4390736" y="2978714"/>
              <a:ext cx="2641322" cy="1145322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400" b="1">
                  <a:solidFill>
                    <a:srgbClr val="000000"/>
                  </a:solidFill>
                </a:rPr>
                <a:t>Unresolved external symbol </a:t>
              </a:r>
              <a:endParaRPr lang="en-US"/>
            </a:p>
            <a:p>
              <a:endParaRPr lang="en-US" b="1" dirty="0">
                <a:solidFill>
                  <a:srgbClr val="000000"/>
                </a:solidFill>
              </a:endParaRPr>
            </a:p>
            <a:p>
              <a:r>
                <a:rPr lang="en-US" sz="1200" i="1">
                  <a:solidFill>
                    <a:srgbClr val="000000"/>
                  </a:solidFill>
                </a:rPr>
                <a:t>Kontrollera bibliotekssökväg och att rätt .lib länkas in. </a:t>
              </a:r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760C5DB-556A-B39A-EE17-D5451025F46D}"/>
              </a:ext>
            </a:extLst>
          </p:cNvPr>
          <p:cNvGrpSpPr/>
          <p:nvPr/>
        </p:nvGrpSpPr>
        <p:grpSpPr>
          <a:xfrm>
            <a:off x="6545671" y="4329960"/>
            <a:ext cx="5188423" cy="1154908"/>
            <a:chOff x="7785578" y="3025035"/>
            <a:chExt cx="2827880" cy="115490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6EA681A-438E-6DFA-65B7-BF3E712C2B16}"/>
                </a:ext>
              </a:extLst>
            </p:cNvPr>
            <p:cNvGrpSpPr/>
            <p:nvPr/>
          </p:nvGrpSpPr>
          <p:grpSpPr>
            <a:xfrm>
              <a:off x="7785578" y="3025035"/>
              <a:ext cx="2825010" cy="1149132"/>
              <a:chOff x="603728" y="2282085"/>
              <a:chExt cx="2825010" cy="1149132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687AB7F-E7E9-D886-04AF-0955CBE33A2E}"/>
                  </a:ext>
                </a:extLst>
              </p:cNvPr>
              <p:cNvSpPr/>
              <p:nvPr/>
            </p:nvSpPr>
            <p:spPr>
              <a:xfrm>
                <a:off x="603728" y="2282085"/>
                <a:ext cx="129435" cy="1149132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C5ADBB6-2066-1740-C0B9-F590E0B574ED}"/>
                  </a:ext>
                </a:extLst>
              </p:cNvPr>
              <p:cNvSpPr/>
              <p:nvPr/>
            </p:nvSpPr>
            <p:spPr>
              <a:xfrm>
                <a:off x="679928" y="2282085"/>
                <a:ext cx="2748810" cy="1149132"/>
              </a:xfrm>
              <a:prstGeom prst="rect">
                <a:avLst/>
              </a:prstGeom>
              <a:ln w="127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BA96A73-E7D6-E4AB-E146-486B56E891FB}"/>
                </a:ext>
              </a:extLst>
            </p:cNvPr>
            <p:cNvSpPr txBox="1">
              <a:spLocks/>
            </p:cNvSpPr>
            <p:nvPr/>
          </p:nvSpPr>
          <p:spPr>
            <a:xfrm>
              <a:off x="7976565" y="3026339"/>
              <a:ext cx="2636893" cy="1153604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400" b="1">
                  <a:solidFill>
                    <a:srgbClr val="000000"/>
                  </a:solidFill>
                </a:rPr>
                <a:t>DLL is missing</a:t>
              </a:r>
              <a:endParaRPr lang="en-US"/>
            </a:p>
            <a:p>
              <a:endParaRPr lang="en-US" b="1" dirty="0">
                <a:solidFill>
                  <a:srgbClr val="000000"/>
                </a:solidFill>
              </a:endParaRPr>
            </a:p>
            <a:p>
              <a:r>
                <a:rPr lang="en-US" sz="1200" i="1">
                  <a:solidFill>
                    <a:srgbClr val="000000"/>
                  </a:solidFill>
                </a:rPr>
                <a:t>Kontrollera att nödvändig .dll finns tillgänglig vid körning. </a:t>
              </a:r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830B2A6-6EE4-7829-0F84-376FEA4F1FD7}"/>
              </a:ext>
            </a:extLst>
          </p:cNvPr>
          <p:cNvGrpSpPr/>
          <p:nvPr/>
        </p:nvGrpSpPr>
        <p:grpSpPr>
          <a:xfrm>
            <a:off x="451328" y="4329960"/>
            <a:ext cx="5188423" cy="1154908"/>
            <a:chOff x="2022953" y="4520460"/>
            <a:chExt cx="2827880" cy="115490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75C72DB-03E7-24A0-17F4-05E1D9E239B8}"/>
                </a:ext>
              </a:extLst>
            </p:cNvPr>
            <p:cNvGrpSpPr/>
            <p:nvPr/>
          </p:nvGrpSpPr>
          <p:grpSpPr>
            <a:xfrm>
              <a:off x="2022953" y="4520460"/>
              <a:ext cx="2825010" cy="1149132"/>
              <a:chOff x="603728" y="2282085"/>
              <a:chExt cx="2825010" cy="1149132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A0CEECD-C966-9749-B6B4-C3E98FF3749F}"/>
                  </a:ext>
                </a:extLst>
              </p:cNvPr>
              <p:cNvSpPr/>
              <p:nvPr/>
            </p:nvSpPr>
            <p:spPr>
              <a:xfrm>
                <a:off x="603728" y="2282085"/>
                <a:ext cx="129435" cy="1149132"/>
              </a:xfrm>
              <a:prstGeom prst="rect">
                <a:avLst/>
              </a:prstGeom>
              <a:solidFill>
                <a:srgbClr val="00B050"/>
              </a:solidFill>
              <a:ln w="12700">
                <a:solidFill>
                  <a:srgbClr val="933C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03A0C17-13C1-E710-FBE3-FE07AC1B5467}"/>
                  </a:ext>
                </a:extLst>
              </p:cNvPr>
              <p:cNvSpPr/>
              <p:nvPr/>
            </p:nvSpPr>
            <p:spPr>
              <a:xfrm>
                <a:off x="679928" y="2282085"/>
                <a:ext cx="2748810" cy="1149132"/>
              </a:xfrm>
              <a:prstGeom prst="rect">
                <a:avLst/>
              </a:prstGeom>
              <a:ln w="12700">
                <a:solidFill>
                  <a:srgbClr val="933C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92A72CB-3413-FA17-D462-FE20AD04E3BA}"/>
                </a:ext>
              </a:extLst>
            </p:cNvPr>
            <p:cNvSpPr txBox="1">
              <a:spLocks/>
            </p:cNvSpPr>
            <p:nvPr/>
          </p:nvSpPr>
          <p:spPr>
            <a:xfrm>
              <a:off x="2215977" y="4521764"/>
              <a:ext cx="2634856" cy="1153604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400" b="1">
                  <a:solidFill>
                    <a:srgbClr val="000000"/>
                  </a:solidFill>
                </a:rPr>
                <a:t>Cannot open .lib file </a:t>
              </a:r>
              <a:endParaRPr lang="en-US"/>
            </a:p>
            <a:p>
              <a:endParaRPr lang="en-US" b="1" dirty="0">
                <a:solidFill>
                  <a:srgbClr val="000000"/>
                </a:solidFill>
              </a:endParaRPr>
            </a:p>
            <a:p>
              <a:r>
                <a:rPr lang="en-US" sz="1200" i="1">
                  <a:solidFill>
                    <a:srgbClr val="000000"/>
                  </a:solidFill>
                </a:rPr>
                <a:t>Kontrollera Additional Library Directories och filnamn. </a:t>
              </a:r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F685DA5-316A-ACEF-5160-3D7913D3C750}"/>
              </a:ext>
            </a:extLst>
          </p:cNvPr>
          <p:cNvSpPr txBox="1"/>
          <p:nvPr/>
        </p:nvSpPr>
        <p:spPr>
          <a:xfrm>
            <a:off x="447261" y="1714500"/>
            <a:ext cx="60960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0" u="none" strike="noStrike" baseline="0">
                <a:solidFill>
                  <a:srgbClr val="FFFFFF"/>
                </a:solidFill>
                <a:latin typeface="Montserrat SemiBold"/>
              </a:rPr>
              <a:t>Det finns några möjliga problem som kan uppstå</a:t>
            </a:r>
            <a:r>
              <a:rPr sz="16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​</a:t>
            </a: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438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67957-0C1B-AA9E-D7D8-794A2802C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94A02193-175C-E9F5-43BD-6FE21C86D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>
                <a:latin typeface="Barlow Semi Condensed Medium"/>
              </a:rPr>
              <a:t>TIMER</a:t>
            </a:r>
            <a:endParaRPr lang="en-US"/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85591CA4-229B-825C-2D86-2EA2B9502D4A}"/>
              </a:ext>
            </a:extLst>
          </p:cNvPr>
          <p:cNvSpPr/>
          <p:nvPr/>
        </p:nvSpPr>
        <p:spPr>
          <a:xfrm>
            <a:off x="917761" y="2689171"/>
            <a:ext cx="3622710" cy="14849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00" b="1" dirty="0">
              <a:solidFill>
                <a:srgbClr val="16253E"/>
              </a:solidFill>
              <a:latin typeface="Aptos"/>
            </a:endParaRP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D56AFF28-3D20-3BF1-06F3-C07ED34EE293}"/>
              </a:ext>
            </a:extLst>
          </p:cNvPr>
          <p:cNvSpPr txBox="1"/>
          <p:nvPr/>
        </p:nvSpPr>
        <p:spPr>
          <a:xfrm>
            <a:off x="449601" y="1151559"/>
            <a:ext cx="1097280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800" b="1">
                <a:solidFill>
                  <a:srgbClr val="16253E"/>
                </a:solidFill>
                <a:latin typeface="Aptos"/>
              </a:defRPr>
            </a:pPr>
            <a:r>
              <a:rPr lang="en-US" sz="1600" i="1">
                <a:solidFill>
                  <a:srgbClr val="A5A5A5"/>
                </a:solidFill>
                <a:latin typeface="Montserrat Light"/>
              </a:rPr>
              <a:t>"Samma program ska bete sig likadant på olika datorer "</a:t>
            </a:r>
            <a:endParaRPr lang="en-US" i="1"/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5697403E-F23E-AF88-4A88-2DFA5D1067C0}"/>
              </a:ext>
            </a:extLst>
          </p:cNvPr>
          <p:cNvSpPr txBox="1"/>
          <p:nvPr/>
        </p:nvSpPr>
        <p:spPr>
          <a:xfrm>
            <a:off x="914400" y="4915123"/>
            <a:ext cx="10332720" cy="301621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800" b="1">
                <a:solidFill>
                  <a:srgbClr val="16253E"/>
                </a:solidFill>
                <a:latin typeface="Aptos"/>
              </a:defRPr>
            </a:pPr>
            <a:r>
              <a:rPr lang="en-US" sz="1600" b="1">
                <a:solidFill>
                  <a:srgbClr val="A5A5A5"/>
                </a:solidFill>
                <a:latin typeface="Montserrat Light"/>
              </a:rPr>
              <a:t>Timer-klassen blir en del av biblioteket och kan återanvändas i realtidsprojekt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2A98FE-535D-F41F-584E-7795A496D758}"/>
              </a:ext>
            </a:extLst>
          </p:cNvPr>
          <p:cNvSpPr txBox="1"/>
          <p:nvPr/>
        </p:nvSpPr>
        <p:spPr>
          <a:xfrm>
            <a:off x="447261" y="1714500"/>
            <a:ext cx="1129747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FFFFFF"/>
                </a:solidFill>
                <a:latin typeface="Montserrat SemiBold"/>
              </a:rPr>
              <a:t>Frame rate varierar med hårdvara och hur mycket arbete varje frame kräver. 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49DD5F-8091-F6F9-062C-FE8B518C193A}"/>
              </a:ext>
            </a:extLst>
          </p:cNvPr>
          <p:cNvSpPr/>
          <p:nvPr/>
        </p:nvSpPr>
        <p:spPr>
          <a:xfrm flipH="1">
            <a:off x="5381329" y="2465851"/>
            <a:ext cx="20116" cy="192314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9FEC1B7D-ABF8-65CB-6FB7-90C71E43FA4D}"/>
              </a:ext>
            </a:extLst>
          </p:cNvPr>
          <p:cNvSpPr/>
          <p:nvPr/>
        </p:nvSpPr>
        <p:spPr>
          <a:xfrm>
            <a:off x="1042000" y="2689170"/>
            <a:ext cx="3498471" cy="148496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>
                <a:solidFill>
                  <a:srgbClr val="16253E"/>
                </a:solidFill>
                <a:latin typeface="Aptos"/>
              </a:rPr>
              <a:t>Utan tidsjustering </a:t>
            </a:r>
            <a:endParaRPr lang="en-US"/>
          </a:p>
          <a:p>
            <a:endParaRPr lang="en-US" sz="1700" b="1" dirty="0">
              <a:solidFill>
                <a:srgbClr val="16253E"/>
              </a:solidFill>
              <a:latin typeface="Aptos"/>
            </a:endParaRPr>
          </a:p>
          <a:p>
            <a:r>
              <a:rPr lang="en-US" sz="1600">
                <a:solidFill>
                  <a:srgbClr val="232D3A"/>
                </a:solidFill>
                <a:latin typeface="Aptos"/>
              </a:rPr>
              <a:t>Flytta 5 pixlar per frame </a:t>
            </a:r>
            <a:endParaRPr lang="en-US"/>
          </a:p>
          <a:p>
            <a:r>
              <a:rPr lang="en-US" sz="1600">
                <a:solidFill>
                  <a:srgbClr val="232D3A"/>
                </a:solidFill>
                <a:latin typeface="Aptos"/>
              </a:rPr>
              <a:t>→ snabbare dator = snabbare rörelse </a:t>
            </a:r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573F234-940D-EB46-0E74-D0F3A381CBBF}"/>
              </a:ext>
            </a:extLst>
          </p:cNvPr>
          <p:cNvGrpSpPr/>
          <p:nvPr/>
        </p:nvGrpSpPr>
        <p:grpSpPr>
          <a:xfrm>
            <a:off x="6193782" y="2689171"/>
            <a:ext cx="3622710" cy="1484961"/>
            <a:chOff x="6599630" y="2689171"/>
            <a:chExt cx="3622710" cy="1484961"/>
          </a:xfrm>
        </p:grpSpPr>
        <p:sp>
          <p:nvSpPr>
            <p:cNvPr id="5" name="Rounded Rectangle 7">
              <a:extLst>
                <a:ext uri="{FF2B5EF4-FFF2-40B4-BE49-F238E27FC236}">
                  <a16:creationId xmlns:a16="http://schemas.microsoft.com/office/drawing/2014/main" id="{5234D1D5-F24B-26E4-C62A-870441823801}"/>
                </a:ext>
              </a:extLst>
            </p:cNvPr>
            <p:cNvSpPr/>
            <p:nvPr/>
          </p:nvSpPr>
          <p:spPr>
            <a:xfrm>
              <a:off x="6599630" y="2689171"/>
              <a:ext cx="3622710" cy="148496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700" b="1" dirty="0">
                <a:solidFill>
                  <a:srgbClr val="16253E"/>
                </a:solidFill>
                <a:latin typeface="Aptos"/>
              </a:endParaRPr>
            </a:p>
          </p:txBody>
        </p:sp>
        <p:sp>
          <p:nvSpPr>
            <p:cNvPr id="10" name="Rounded Rectangle 7">
              <a:extLst>
                <a:ext uri="{FF2B5EF4-FFF2-40B4-BE49-F238E27FC236}">
                  <a16:creationId xmlns:a16="http://schemas.microsoft.com/office/drawing/2014/main" id="{63C7EE7A-8C79-66C6-7AF2-9E638B7A9EA4}"/>
                </a:ext>
              </a:extLst>
            </p:cNvPr>
            <p:cNvSpPr/>
            <p:nvPr/>
          </p:nvSpPr>
          <p:spPr>
            <a:xfrm>
              <a:off x="6798412" y="2689171"/>
              <a:ext cx="3423928" cy="1484961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700" b="1">
                  <a:solidFill>
                    <a:srgbClr val="16253E"/>
                  </a:solidFill>
                  <a:latin typeface="Aptos"/>
                </a:rPr>
                <a:t>Med delta time</a:t>
              </a:r>
              <a:endParaRPr lang="en-US"/>
            </a:p>
            <a:p>
              <a:endParaRPr lang="en-US" sz="1700" b="1" dirty="0">
                <a:solidFill>
                  <a:srgbClr val="16253E"/>
                </a:solidFill>
                <a:latin typeface="Aptos"/>
              </a:endParaRPr>
            </a:p>
            <a:p>
              <a:r>
                <a:rPr lang="en-US" sz="1600">
                  <a:solidFill>
                    <a:srgbClr val="232D3A"/>
                  </a:solidFill>
                  <a:latin typeface="Aptos"/>
                </a:rPr>
                <a:t>Flytta hastighet × tid </a:t>
              </a:r>
              <a:endParaRPr lang="en-US"/>
            </a:p>
            <a:p>
              <a:r>
                <a:rPr lang="en-US" sz="1600">
                  <a:solidFill>
                    <a:srgbClr val="232D3A"/>
                  </a:solidFill>
                  <a:latin typeface="Aptos"/>
                </a:rPr>
                <a:t>→ rörelsen beror på förfluten tid 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48667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94467-1A03-ACED-1B9D-AD5446A5A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5D0E7218-0F4D-2A83-23F5-983A3B306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122" y="452476"/>
            <a:ext cx="10334625" cy="697254"/>
          </a:xfrm>
        </p:spPr>
        <p:txBody>
          <a:bodyPr/>
          <a:lstStyle/>
          <a:p>
            <a:r>
              <a:rPr lang="sv-SE" dirty="0">
                <a:latin typeface="Barlow Semi Condensed Medium"/>
              </a:rPr>
              <a:t>TIMER - </a:t>
            </a:r>
            <a:r>
              <a:rPr lang="sv-SE">
                <a:solidFill>
                  <a:srgbClr val="FFFFFF"/>
                </a:solidFill>
                <a:latin typeface="Barlow Semi Condensed Medium"/>
              </a:rPr>
              <a:t>TRE BEGREPP ATT HÅLLA ISÄR</a:t>
            </a:r>
            <a:endParaRPr lang="en-US"/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7D8E06FA-2C65-737D-5EAB-FB53E9C43DB7}"/>
              </a:ext>
            </a:extLst>
          </p:cNvPr>
          <p:cNvSpPr txBox="1"/>
          <p:nvPr/>
        </p:nvSpPr>
        <p:spPr>
          <a:xfrm>
            <a:off x="449601" y="1151559"/>
            <a:ext cx="1097280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800" b="1">
                <a:solidFill>
                  <a:srgbClr val="16253E"/>
                </a:solidFill>
                <a:latin typeface="Aptos"/>
              </a:defRPr>
            </a:pPr>
            <a:r>
              <a:rPr lang="en-US" sz="1600" i="1">
                <a:solidFill>
                  <a:srgbClr val="A5A5A5"/>
                </a:solidFill>
                <a:latin typeface="Montserrat Light"/>
              </a:rPr>
              <a:t>Frame time mäts ofta i sekunder eller millisekunder. 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7196EC-F80B-6F35-4FB3-3F9664635AFF}"/>
              </a:ext>
            </a:extLst>
          </p:cNvPr>
          <p:cNvSpPr/>
          <p:nvPr/>
        </p:nvSpPr>
        <p:spPr>
          <a:xfrm>
            <a:off x="450021" y="1716078"/>
            <a:ext cx="1723571" cy="8164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0D8D645-F24C-0363-5649-C454752BB447}"/>
              </a:ext>
            </a:extLst>
          </p:cNvPr>
          <p:cNvGrpSpPr/>
          <p:nvPr/>
        </p:nvGrpSpPr>
        <p:grpSpPr>
          <a:xfrm>
            <a:off x="451328" y="2453535"/>
            <a:ext cx="3299990" cy="1737197"/>
            <a:chOff x="451328" y="2948835"/>
            <a:chExt cx="2827881" cy="114913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83D60E8-AE4E-2D05-DF9E-8090F66CDCAC}"/>
                </a:ext>
              </a:extLst>
            </p:cNvPr>
            <p:cNvGrpSpPr/>
            <p:nvPr/>
          </p:nvGrpSpPr>
          <p:grpSpPr>
            <a:xfrm>
              <a:off x="451328" y="2948835"/>
              <a:ext cx="2825010" cy="1149132"/>
              <a:chOff x="603728" y="2282085"/>
              <a:chExt cx="2825010" cy="1149132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5FAF39E-5B9D-7017-2793-B9C98966480D}"/>
                  </a:ext>
                </a:extLst>
              </p:cNvPr>
              <p:cNvSpPr/>
              <p:nvPr/>
            </p:nvSpPr>
            <p:spPr>
              <a:xfrm>
                <a:off x="603728" y="2282085"/>
                <a:ext cx="129435" cy="1149132"/>
              </a:xfrm>
              <a:prstGeom prst="rect">
                <a:avLst/>
              </a:prstGeom>
              <a:solidFill>
                <a:srgbClr val="00B0F0"/>
              </a:solidFill>
              <a:ln w="127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71AF9B8-01E9-F6DF-B1E7-7E4490DE65DC}"/>
                  </a:ext>
                </a:extLst>
              </p:cNvPr>
              <p:cNvSpPr/>
              <p:nvPr/>
            </p:nvSpPr>
            <p:spPr>
              <a:xfrm>
                <a:off x="679928" y="2282085"/>
                <a:ext cx="2748810" cy="1149132"/>
              </a:xfrm>
              <a:prstGeom prst="rect">
                <a:avLst/>
              </a:prstGeom>
              <a:ln w="127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61CBD56-99D7-0BF6-A753-3D112997D776}"/>
                </a:ext>
              </a:extLst>
            </p:cNvPr>
            <p:cNvSpPr txBox="1">
              <a:spLocks/>
            </p:cNvSpPr>
            <p:nvPr/>
          </p:nvSpPr>
          <p:spPr>
            <a:xfrm>
              <a:off x="639839" y="2950140"/>
              <a:ext cx="2639370" cy="114532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700" b="1">
                  <a:solidFill>
                    <a:srgbClr val="16253E"/>
                  </a:solidFill>
                  <a:latin typeface="Aptos"/>
                </a:rPr>
                <a:t>Frame</a:t>
              </a:r>
              <a:endParaRPr lang="en-US"/>
            </a:p>
            <a:p>
              <a:endParaRPr lang="en-US" b="1" dirty="0">
                <a:solidFill>
                  <a:srgbClr val="000000"/>
                </a:solidFill>
              </a:endParaRPr>
            </a:p>
            <a:p>
              <a:r>
                <a:rPr lang="en-US" sz="1200" i="1">
                  <a:solidFill>
                    <a:srgbClr val="000000"/>
                  </a:solidFill>
                </a:rPr>
                <a:t>En bildruta – en uppdatering av spelet eller bilden </a:t>
              </a:r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8FD194F-E282-6F20-88EE-786A74FA5B24}"/>
              </a:ext>
            </a:extLst>
          </p:cNvPr>
          <p:cNvGrpSpPr/>
          <p:nvPr/>
        </p:nvGrpSpPr>
        <p:grpSpPr>
          <a:xfrm>
            <a:off x="3963154" y="2453535"/>
            <a:ext cx="3296640" cy="1737197"/>
            <a:chOff x="451328" y="2948835"/>
            <a:chExt cx="2825010" cy="114913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923C3E8-41FA-0210-59AE-013837C01640}"/>
                </a:ext>
              </a:extLst>
            </p:cNvPr>
            <p:cNvGrpSpPr/>
            <p:nvPr/>
          </p:nvGrpSpPr>
          <p:grpSpPr>
            <a:xfrm>
              <a:off x="451328" y="2948835"/>
              <a:ext cx="2825010" cy="1149132"/>
              <a:chOff x="603728" y="2282085"/>
              <a:chExt cx="2825010" cy="1149132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5D329E7-235E-97DE-B667-E629548774A1}"/>
                  </a:ext>
                </a:extLst>
              </p:cNvPr>
              <p:cNvSpPr/>
              <p:nvPr/>
            </p:nvSpPr>
            <p:spPr>
              <a:xfrm>
                <a:off x="603728" y="2282085"/>
                <a:ext cx="129435" cy="1149132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127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D32805E-AD02-1807-B162-43B6C987347D}"/>
                  </a:ext>
                </a:extLst>
              </p:cNvPr>
              <p:cNvSpPr/>
              <p:nvPr/>
            </p:nvSpPr>
            <p:spPr>
              <a:xfrm>
                <a:off x="679928" y="2282085"/>
                <a:ext cx="2748810" cy="1149132"/>
              </a:xfrm>
              <a:prstGeom prst="rect">
                <a:avLst/>
              </a:prstGeom>
              <a:ln w="127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B5AFCCE-C751-B5D3-AF68-B28785F7F1DD}"/>
                </a:ext>
              </a:extLst>
            </p:cNvPr>
            <p:cNvSpPr txBox="1">
              <a:spLocks/>
            </p:cNvSpPr>
            <p:nvPr/>
          </p:nvSpPr>
          <p:spPr>
            <a:xfrm>
              <a:off x="639839" y="2950140"/>
              <a:ext cx="2327073" cy="1145322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700" b="1">
                  <a:solidFill>
                    <a:srgbClr val="16253E"/>
                  </a:solidFill>
                  <a:latin typeface="Aptos"/>
                </a:rPr>
                <a:t>Frame rate / FPS</a:t>
              </a:r>
              <a:endParaRPr lang="en-US"/>
            </a:p>
            <a:p>
              <a:endParaRPr lang="en-US" b="1" dirty="0">
                <a:solidFill>
                  <a:srgbClr val="000000"/>
                </a:solidFill>
              </a:endParaRPr>
            </a:p>
            <a:p>
              <a:r>
                <a:rPr lang="en-US" sz="1200" i="1">
                  <a:solidFill>
                    <a:srgbClr val="000000"/>
                  </a:solidFill>
                </a:rPr>
                <a:t>Hur många bildrutor som visas per sekund </a:t>
              </a:r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94FB66A-7C28-9E8A-661F-B233E969E16B}"/>
              </a:ext>
            </a:extLst>
          </p:cNvPr>
          <p:cNvGrpSpPr/>
          <p:nvPr/>
        </p:nvGrpSpPr>
        <p:grpSpPr>
          <a:xfrm>
            <a:off x="7474980" y="2453535"/>
            <a:ext cx="3296640" cy="1737197"/>
            <a:chOff x="451328" y="2948835"/>
            <a:chExt cx="2825010" cy="114913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66F8860-8551-A781-900A-AC2B0081FC95}"/>
                </a:ext>
              </a:extLst>
            </p:cNvPr>
            <p:cNvGrpSpPr/>
            <p:nvPr/>
          </p:nvGrpSpPr>
          <p:grpSpPr>
            <a:xfrm>
              <a:off x="451328" y="2948835"/>
              <a:ext cx="2825010" cy="1149132"/>
              <a:chOff x="603728" y="2282085"/>
              <a:chExt cx="2825010" cy="1149132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195BFE7-A96A-01C7-C35E-B0E95CE43B97}"/>
                  </a:ext>
                </a:extLst>
              </p:cNvPr>
              <p:cNvSpPr/>
              <p:nvPr/>
            </p:nvSpPr>
            <p:spPr>
              <a:xfrm>
                <a:off x="603728" y="2282085"/>
                <a:ext cx="129435" cy="1149132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92DA34B-B444-0F0D-9F5D-F0D8E66C7732}"/>
                  </a:ext>
                </a:extLst>
              </p:cNvPr>
              <p:cNvSpPr/>
              <p:nvPr/>
            </p:nvSpPr>
            <p:spPr>
              <a:xfrm>
                <a:off x="679928" y="2282085"/>
                <a:ext cx="2748810" cy="1149132"/>
              </a:xfrm>
              <a:prstGeom prst="rect">
                <a:avLst/>
              </a:prstGeom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389FF21-0729-5330-ACAC-24249DE2195F}"/>
                </a:ext>
              </a:extLst>
            </p:cNvPr>
            <p:cNvSpPr txBox="1">
              <a:spLocks/>
            </p:cNvSpPr>
            <p:nvPr/>
          </p:nvSpPr>
          <p:spPr>
            <a:xfrm>
              <a:off x="639839" y="2950140"/>
              <a:ext cx="2327073" cy="1145322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700" b="1">
                  <a:solidFill>
                    <a:srgbClr val="16253E"/>
                  </a:solidFill>
                  <a:latin typeface="Aptos"/>
                </a:rPr>
                <a:t>Delta time (dt)</a:t>
              </a:r>
              <a:endParaRPr lang="en-US"/>
            </a:p>
            <a:p>
              <a:endParaRPr lang="en-US" b="1" dirty="0">
                <a:solidFill>
                  <a:srgbClr val="000000"/>
                </a:solidFill>
              </a:endParaRPr>
            </a:p>
            <a:p>
              <a:r>
                <a:rPr lang="en-US" sz="1200" i="1">
                  <a:solidFill>
                    <a:srgbClr val="000000"/>
                  </a:solidFill>
                </a:rPr>
                <a:t>Tiden som förflutit sedan föregående frame </a:t>
              </a:r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C6A1C26-6EA5-63AE-9F9E-DB2F83598770}"/>
              </a:ext>
            </a:extLst>
          </p:cNvPr>
          <p:cNvGrpSpPr/>
          <p:nvPr/>
        </p:nvGrpSpPr>
        <p:grpSpPr>
          <a:xfrm>
            <a:off x="1965960" y="4754880"/>
            <a:ext cx="8229600" cy="685800"/>
            <a:chOff x="1965960" y="4754880"/>
            <a:chExt cx="8229600" cy="685800"/>
          </a:xfrm>
        </p:grpSpPr>
        <p:sp>
          <p:nvSpPr>
            <p:cNvPr id="30" name="Rounded Rectangle 19">
              <a:extLst>
                <a:ext uri="{FF2B5EF4-FFF2-40B4-BE49-F238E27FC236}">
                  <a16:creationId xmlns:a16="http://schemas.microsoft.com/office/drawing/2014/main" id="{3513A87B-E4E3-2D63-3F48-786D551D9FAF}"/>
                </a:ext>
              </a:extLst>
            </p:cNvPr>
            <p:cNvSpPr/>
            <p:nvPr/>
          </p:nvSpPr>
          <p:spPr>
            <a:xfrm>
              <a:off x="1965960" y="4754880"/>
              <a:ext cx="8229600" cy="685800"/>
            </a:xfrm>
            <a:prstGeom prst="roundRect">
              <a:avLst/>
            </a:prstGeom>
            <a:solidFill>
              <a:srgbClr val="16253E"/>
            </a:solidFill>
            <a:ln>
              <a:solidFill>
                <a:schemeClr val="accent6">
                  <a:lumMod val="90000"/>
                  <a:lumOff val="1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1" name="TextBox 20">
              <a:extLst>
                <a:ext uri="{FF2B5EF4-FFF2-40B4-BE49-F238E27FC236}">
                  <a16:creationId xmlns:a16="http://schemas.microsoft.com/office/drawing/2014/main" id="{D7868464-1997-E217-9419-CF6E528513E1}"/>
                </a:ext>
              </a:extLst>
            </p:cNvPr>
            <p:cNvSpPr txBox="1"/>
            <p:nvPr/>
          </p:nvSpPr>
          <p:spPr>
            <a:xfrm>
              <a:off x="2148840" y="4920764"/>
              <a:ext cx="7863840" cy="3631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45720" tIns="27432" rIns="45720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2000" b="0">
                  <a:solidFill>
                    <a:srgbClr val="FFFFFF"/>
                  </a:solidFill>
                  <a:latin typeface="Consolas"/>
                </a:defRPr>
              </a:pPr>
              <a:r>
                <a:t>frame time = 1 / FPS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7315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65359-EA4F-C3B5-8FDD-9852A871A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F8DCEF41-617F-3832-671E-E372B9D56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122" y="452476"/>
            <a:ext cx="10334625" cy="697254"/>
          </a:xfrm>
        </p:spPr>
        <p:txBody>
          <a:bodyPr/>
          <a:lstStyle/>
          <a:p>
            <a:r>
              <a:rPr lang="sv-SE">
                <a:latin typeface="Barlow Semi Condensed Medium"/>
              </a:rPr>
              <a:t>TIMER – DELTA TIME NORMALISERAR RÖRELSE</a:t>
            </a:r>
            <a:endParaRPr lang="sv-SE"/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DDCD98CD-EFF0-AFD1-BCAD-F138B788FB40}"/>
              </a:ext>
            </a:extLst>
          </p:cNvPr>
          <p:cNvSpPr txBox="1"/>
          <p:nvPr/>
        </p:nvSpPr>
        <p:spPr>
          <a:xfrm>
            <a:off x="449601" y="1151559"/>
            <a:ext cx="1097280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800" b="1">
                <a:solidFill>
                  <a:srgbClr val="16253E"/>
                </a:solidFill>
                <a:latin typeface="Aptos"/>
              </a:defRPr>
            </a:pPr>
            <a:r>
              <a:rPr lang="en-US" sz="1600" i="1">
                <a:solidFill>
                  <a:srgbClr val="A5A5A5"/>
                </a:solidFill>
                <a:latin typeface="Montserrat Light"/>
              </a:rPr>
              <a:t>Lägre FPS innebär längre tid per frame – därför multipliceras förflyttning med dt. 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E394EF-C696-B2BE-A2EC-829AF667A186}"/>
              </a:ext>
            </a:extLst>
          </p:cNvPr>
          <p:cNvSpPr/>
          <p:nvPr/>
        </p:nvSpPr>
        <p:spPr>
          <a:xfrm>
            <a:off x="450021" y="1716078"/>
            <a:ext cx="1723571" cy="8164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916F6F0-739A-CDF2-3863-A9C0BE7AEE80}"/>
              </a:ext>
            </a:extLst>
          </p:cNvPr>
          <p:cNvGrpSpPr/>
          <p:nvPr/>
        </p:nvGrpSpPr>
        <p:grpSpPr>
          <a:xfrm>
            <a:off x="451328" y="2453535"/>
            <a:ext cx="3299990" cy="1737197"/>
            <a:chOff x="451328" y="2948835"/>
            <a:chExt cx="2827881" cy="114913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E9730BB-90C7-AB72-31C1-BB35B163C887}"/>
                </a:ext>
              </a:extLst>
            </p:cNvPr>
            <p:cNvGrpSpPr/>
            <p:nvPr/>
          </p:nvGrpSpPr>
          <p:grpSpPr>
            <a:xfrm>
              <a:off x="451328" y="2948835"/>
              <a:ext cx="2825010" cy="1149132"/>
              <a:chOff x="603728" y="2282085"/>
              <a:chExt cx="2825010" cy="1149132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6E67D69-D0AA-35C8-F0E0-63569C356678}"/>
                  </a:ext>
                </a:extLst>
              </p:cNvPr>
              <p:cNvSpPr/>
              <p:nvPr/>
            </p:nvSpPr>
            <p:spPr>
              <a:xfrm>
                <a:off x="603728" y="2282085"/>
                <a:ext cx="129435" cy="1149132"/>
              </a:xfrm>
              <a:prstGeom prst="rect">
                <a:avLst/>
              </a:prstGeom>
              <a:solidFill>
                <a:srgbClr val="00B0F0"/>
              </a:solidFill>
              <a:ln w="127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CF3C0C0-7E95-4D2E-1FE8-E84F2842832A}"/>
                  </a:ext>
                </a:extLst>
              </p:cNvPr>
              <p:cNvSpPr/>
              <p:nvPr/>
            </p:nvSpPr>
            <p:spPr>
              <a:xfrm>
                <a:off x="679928" y="2282085"/>
                <a:ext cx="2748810" cy="1149132"/>
              </a:xfrm>
              <a:prstGeom prst="rect">
                <a:avLst/>
              </a:prstGeom>
              <a:ln w="127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0BCFD48-FA35-9D14-D788-2B0D01980D30}"/>
                </a:ext>
              </a:extLst>
            </p:cNvPr>
            <p:cNvSpPr txBox="1">
              <a:spLocks/>
            </p:cNvSpPr>
            <p:nvPr/>
          </p:nvSpPr>
          <p:spPr>
            <a:xfrm>
              <a:off x="639839" y="2950140"/>
              <a:ext cx="2639370" cy="114532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2400" b="1">
                  <a:solidFill>
                    <a:srgbClr val="16253E"/>
                  </a:solidFill>
                  <a:latin typeface="Aptos"/>
                </a:rPr>
                <a:t>60 FPS </a:t>
              </a:r>
              <a:endParaRPr lang="en-US" sz="2400"/>
            </a:p>
            <a:p>
              <a:br>
                <a:rPr lang="en-US" sz="1600" i="1" dirty="0">
                  <a:solidFill>
                    <a:srgbClr val="000000"/>
                  </a:solidFill>
                </a:rPr>
              </a:br>
              <a:r>
                <a:rPr lang="en-US" sz="1600" i="1">
                  <a:solidFill>
                    <a:srgbClr val="000000"/>
                  </a:solidFill>
                </a:rPr>
                <a:t>dt ≈ 1 / 60 = 0,0167 s </a:t>
              </a:r>
              <a:endParaRPr lang="en-US" sz="1600"/>
            </a:p>
            <a:p>
              <a:r>
                <a:rPr lang="en-US" sz="1600" i="1">
                  <a:solidFill>
                    <a:srgbClr val="000000"/>
                  </a:solidFill>
                </a:rPr>
                <a:t>≈ 16,7 ms </a:t>
              </a:r>
              <a:r>
                <a:rPr lang="en-US" sz="1600" i="1" dirty="0">
                  <a:solidFill>
                    <a:srgbClr val="000000"/>
                  </a:solidFill>
                </a:rPr>
                <a:t> </a:t>
              </a:r>
              <a:endParaRPr lang="en-US" sz="160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D60B476-7BE4-CDBB-51D2-4CF6DC42E86F}"/>
              </a:ext>
            </a:extLst>
          </p:cNvPr>
          <p:cNvGrpSpPr/>
          <p:nvPr/>
        </p:nvGrpSpPr>
        <p:grpSpPr>
          <a:xfrm>
            <a:off x="7474980" y="2453535"/>
            <a:ext cx="3296640" cy="1737197"/>
            <a:chOff x="451328" y="2948835"/>
            <a:chExt cx="2825010" cy="114913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83540D1-B902-6FF3-446B-90E43FCB5B3C}"/>
                </a:ext>
              </a:extLst>
            </p:cNvPr>
            <p:cNvGrpSpPr/>
            <p:nvPr/>
          </p:nvGrpSpPr>
          <p:grpSpPr>
            <a:xfrm>
              <a:off x="451328" y="2948835"/>
              <a:ext cx="2825010" cy="1149132"/>
              <a:chOff x="603728" y="2282085"/>
              <a:chExt cx="2825010" cy="1149132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1A226F0-C7DB-3A9F-6CF8-77A7ADFA56DB}"/>
                  </a:ext>
                </a:extLst>
              </p:cNvPr>
              <p:cNvSpPr/>
              <p:nvPr/>
            </p:nvSpPr>
            <p:spPr>
              <a:xfrm>
                <a:off x="603728" y="2282085"/>
                <a:ext cx="129435" cy="1149132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36DD9F1-A02C-D0CD-3C9C-C297E14E18BD}"/>
                  </a:ext>
                </a:extLst>
              </p:cNvPr>
              <p:cNvSpPr/>
              <p:nvPr/>
            </p:nvSpPr>
            <p:spPr>
              <a:xfrm>
                <a:off x="679928" y="2282085"/>
                <a:ext cx="2748810" cy="1149132"/>
              </a:xfrm>
              <a:prstGeom prst="rect">
                <a:avLst/>
              </a:prstGeom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AC48466-68A2-D1AF-486F-41CED05029B2}"/>
                </a:ext>
              </a:extLst>
            </p:cNvPr>
            <p:cNvSpPr txBox="1">
              <a:spLocks/>
            </p:cNvSpPr>
            <p:nvPr/>
          </p:nvSpPr>
          <p:spPr>
            <a:xfrm>
              <a:off x="639839" y="2950140"/>
              <a:ext cx="2327073" cy="1145322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2400" b="1">
                  <a:solidFill>
                    <a:srgbClr val="16253E"/>
                  </a:solidFill>
                  <a:latin typeface="Aptos"/>
                </a:rPr>
                <a:t>30 FPS</a:t>
              </a:r>
            </a:p>
            <a:p>
              <a:br>
                <a:rPr lang="en-US" sz="1600" i="1" dirty="0">
                  <a:solidFill>
                    <a:srgbClr val="000000"/>
                  </a:solidFill>
                </a:rPr>
              </a:br>
              <a:r>
                <a:rPr lang="en-US" sz="1600" i="1">
                  <a:solidFill>
                    <a:srgbClr val="000000"/>
                  </a:solidFill>
                </a:rPr>
                <a:t>dt ≈ 1 / 30 = 0,0333 s </a:t>
              </a:r>
              <a:endParaRPr lang="en-US" sz="1600"/>
            </a:p>
            <a:p>
              <a:r>
                <a:rPr lang="en-US" sz="1600" i="1">
                  <a:solidFill>
                    <a:srgbClr val="000000"/>
                  </a:solidFill>
                </a:rPr>
                <a:t>≈ 33,3 ms </a:t>
              </a:r>
              <a:r>
                <a:rPr lang="en-US" sz="1200" i="1" dirty="0">
                  <a:solidFill>
                    <a:srgbClr val="000000"/>
                  </a:solidFill>
                </a:rPr>
                <a:t> </a:t>
              </a:r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1D8216D-2FEB-CC8B-4E24-B003943D5BAF}"/>
              </a:ext>
            </a:extLst>
          </p:cNvPr>
          <p:cNvGrpSpPr/>
          <p:nvPr/>
        </p:nvGrpSpPr>
        <p:grpSpPr>
          <a:xfrm>
            <a:off x="1965960" y="4754880"/>
            <a:ext cx="8229600" cy="685800"/>
            <a:chOff x="1965960" y="4754880"/>
            <a:chExt cx="8229600" cy="685800"/>
          </a:xfrm>
        </p:grpSpPr>
        <p:sp>
          <p:nvSpPr>
            <p:cNvPr id="30" name="Rounded Rectangle 19">
              <a:extLst>
                <a:ext uri="{FF2B5EF4-FFF2-40B4-BE49-F238E27FC236}">
                  <a16:creationId xmlns:a16="http://schemas.microsoft.com/office/drawing/2014/main" id="{19B16FB6-8CF6-8E68-36FB-048B6335AA3C}"/>
                </a:ext>
              </a:extLst>
            </p:cNvPr>
            <p:cNvSpPr/>
            <p:nvPr/>
          </p:nvSpPr>
          <p:spPr>
            <a:xfrm>
              <a:off x="1965960" y="4754880"/>
              <a:ext cx="8229600" cy="685800"/>
            </a:xfrm>
            <a:prstGeom prst="roundRect">
              <a:avLst/>
            </a:prstGeom>
            <a:solidFill>
              <a:srgbClr val="16253E"/>
            </a:solidFill>
            <a:ln>
              <a:solidFill>
                <a:schemeClr val="accent6">
                  <a:lumMod val="90000"/>
                  <a:lumOff val="1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1" name="TextBox 20">
              <a:extLst>
                <a:ext uri="{FF2B5EF4-FFF2-40B4-BE49-F238E27FC236}">
                  <a16:creationId xmlns:a16="http://schemas.microsoft.com/office/drawing/2014/main" id="{6785C0DE-9356-F75F-53C6-CF21BBC1D5CD}"/>
                </a:ext>
              </a:extLst>
            </p:cNvPr>
            <p:cNvSpPr txBox="1"/>
            <p:nvPr/>
          </p:nvSpPr>
          <p:spPr>
            <a:xfrm>
              <a:off x="2148840" y="4920764"/>
              <a:ext cx="7863840" cy="3631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45720" tIns="27432" rIns="45720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2000" b="0">
                  <a:solidFill>
                    <a:srgbClr val="FFFFFF"/>
                  </a:solidFill>
                  <a:latin typeface="Consolas"/>
                </a:defRPr>
              </a:pPr>
              <a:r>
                <a:rPr lang="en-US"/>
                <a:t>förflyttning = hastighet × dt </a:t>
              </a:r>
            </a:p>
          </p:txBody>
        </p:sp>
      </p:grpSp>
      <p:sp>
        <p:nvSpPr>
          <p:cNvPr id="5" name="TextBox 19">
            <a:extLst>
              <a:ext uri="{FF2B5EF4-FFF2-40B4-BE49-F238E27FC236}">
                <a16:creationId xmlns:a16="http://schemas.microsoft.com/office/drawing/2014/main" id="{2F2687F0-6019-702B-B9BB-31650B83F5A1}"/>
              </a:ext>
            </a:extLst>
          </p:cNvPr>
          <p:cNvSpPr txBox="1"/>
          <p:nvPr/>
        </p:nvSpPr>
        <p:spPr>
          <a:xfrm>
            <a:off x="930965" y="5602579"/>
            <a:ext cx="10332720" cy="301621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800" b="1">
                <a:solidFill>
                  <a:srgbClr val="16253E"/>
                </a:solidFill>
                <a:latin typeface="Aptos"/>
              </a:defRPr>
            </a:pPr>
            <a:r>
              <a:rPr lang="en-US" sz="1600" b="1">
                <a:solidFill>
                  <a:srgbClr val="A5A5A5"/>
                </a:solidFill>
                <a:latin typeface="Montserrat Light"/>
              </a:rPr>
              <a:t>Om hastigheten anges i enheter per sekund blir förflyttningen tidsbaserad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654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57C96-6118-582F-DDB5-756889BB1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30DE73CE-8A5E-2267-8480-A555D724D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122" y="452476"/>
            <a:ext cx="10334625" cy="697254"/>
          </a:xfrm>
        </p:spPr>
        <p:txBody>
          <a:bodyPr/>
          <a:lstStyle/>
          <a:p>
            <a:r>
              <a:rPr lang="sv-SE">
                <a:latin typeface="Barlow Semi Condensed Medium"/>
              </a:rPr>
              <a:t>TIMER – ALTERNATIVE: FIXED FRAME RATE </a:t>
            </a:r>
            <a:endParaRPr lang="sv-SE"/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F4EEDF47-379C-A642-B5A4-5E7D4BB3D8AA}"/>
              </a:ext>
            </a:extLst>
          </p:cNvPr>
          <p:cNvSpPr txBox="1"/>
          <p:nvPr/>
        </p:nvSpPr>
        <p:spPr>
          <a:xfrm>
            <a:off x="449601" y="1151559"/>
            <a:ext cx="1097280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800" b="1">
                <a:solidFill>
                  <a:srgbClr val="16253E"/>
                </a:solidFill>
                <a:latin typeface="Aptos"/>
              </a:defRPr>
            </a:pPr>
            <a:r>
              <a:rPr lang="en-US" sz="1600" i="1">
                <a:solidFill>
                  <a:srgbClr val="A5A5A5"/>
                </a:solidFill>
                <a:latin typeface="Montserrat Light"/>
              </a:rPr>
              <a:t>I praktiken kombineras ofta fast uppdatering med rendering som får gå i annan takt. 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8A64D1-AB7E-3D91-57AB-BC61EC6AE929}"/>
              </a:ext>
            </a:extLst>
          </p:cNvPr>
          <p:cNvSpPr/>
          <p:nvPr/>
        </p:nvSpPr>
        <p:spPr>
          <a:xfrm>
            <a:off x="450021" y="1716078"/>
            <a:ext cx="1723571" cy="8164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E922A18A-26A0-6CA9-9570-5888DDE7D585}"/>
              </a:ext>
            </a:extLst>
          </p:cNvPr>
          <p:cNvSpPr txBox="1"/>
          <p:nvPr/>
        </p:nvSpPr>
        <p:spPr>
          <a:xfrm>
            <a:off x="867465" y="5375793"/>
            <a:ext cx="10332720" cy="301621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800" b="1">
                <a:solidFill>
                  <a:srgbClr val="16253E"/>
                </a:solidFill>
                <a:latin typeface="Aptos"/>
              </a:defRPr>
            </a:pPr>
            <a:r>
              <a:rPr lang="en-US" sz="1600" b="1">
                <a:solidFill>
                  <a:srgbClr val="A5A5A5"/>
                </a:solidFill>
                <a:latin typeface="Montserrat Light"/>
              </a:rPr>
              <a:t>Även med fixed frame rate är delta time användbart för beräkningar och flexibilitet </a:t>
            </a:r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AA6F44-08A8-23D9-ACCE-56F03F94662E}"/>
              </a:ext>
            </a:extLst>
          </p:cNvPr>
          <p:cNvGrpSpPr/>
          <p:nvPr/>
        </p:nvGrpSpPr>
        <p:grpSpPr>
          <a:xfrm>
            <a:off x="451328" y="2238188"/>
            <a:ext cx="4965582" cy="2706261"/>
            <a:chOff x="451328" y="2948835"/>
            <a:chExt cx="2827881" cy="114913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C6BF388-106E-5B2D-9AAA-FA3302A17640}"/>
                </a:ext>
              </a:extLst>
            </p:cNvPr>
            <p:cNvGrpSpPr/>
            <p:nvPr/>
          </p:nvGrpSpPr>
          <p:grpSpPr>
            <a:xfrm>
              <a:off x="451328" y="2948835"/>
              <a:ext cx="2825010" cy="1149132"/>
              <a:chOff x="603728" y="2282085"/>
              <a:chExt cx="2825010" cy="11491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8A4F785-9073-BAE8-D04C-CE1A655D3FDD}"/>
                  </a:ext>
                </a:extLst>
              </p:cNvPr>
              <p:cNvSpPr/>
              <p:nvPr/>
            </p:nvSpPr>
            <p:spPr>
              <a:xfrm>
                <a:off x="603728" y="2282085"/>
                <a:ext cx="129435" cy="1149132"/>
              </a:xfrm>
              <a:prstGeom prst="rect">
                <a:avLst/>
              </a:prstGeom>
              <a:solidFill>
                <a:srgbClr val="00B0F0"/>
              </a:solidFill>
              <a:ln w="127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C561629-11EF-A81D-52AB-AEF61BAFEE3E}"/>
                  </a:ext>
                </a:extLst>
              </p:cNvPr>
              <p:cNvSpPr/>
              <p:nvPr/>
            </p:nvSpPr>
            <p:spPr>
              <a:xfrm>
                <a:off x="679928" y="2282085"/>
                <a:ext cx="2748810" cy="1149132"/>
              </a:xfrm>
              <a:prstGeom prst="rect">
                <a:avLst/>
              </a:prstGeom>
              <a:ln w="127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2370E94-31D4-62CF-4090-1AC8EAE86EDE}"/>
                </a:ext>
              </a:extLst>
            </p:cNvPr>
            <p:cNvSpPr txBox="1">
              <a:spLocks/>
            </p:cNvSpPr>
            <p:nvPr/>
          </p:nvSpPr>
          <p:spPr>
            <a:xfrm>
              <a:off x="639839" y="2950140"/>
              <a:ext cx="2639370" cy="114532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b="1">
                  <a:solidFill>
                    <a:srgbClr val="16253E"/>
                  </a:solidFill>
                  <a:latin typeface="Aptos"/>
                </a:rPr>
                <a:t>Fast uppdatering </a:t>
              </a:r>
              <a:endParaRPr lang="en-US"/>
            </a:p>
            <a:p>
              <a:endParaRPr lang="en-US" sz="1400" i="1" dirty="0">
                <a:solidFill>
                  <a:srgbClr val="000000"/>
                </a:solidFill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400">
                  <a:solidFill>
                    <a:srgbClr val="000000"/>
                  </a:solidFill>
                </a:rPr>
                <a:t>Gameplaylogik körs med bestämd takt </a:t>
              </a:r>
              <a:endParaRPr lang="en-US" sz="1400">
                <a:solidFill>
                  <a:srgbClr val="FFFFFF"/>
                </a:solidFill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400">
                  <a:solidFill>
                    <a:srgbClr val="000000"/>
                  </a:solidFill>
                </a:rPr>
                <a:t>Kan ge mer konsekvent simulering </a:t>
              </a:r>
              <a:endParaRPr lang="en-US" sz="1400">
                <a:solidFill>
                  <a:srgbClr val="FFFFFF"/>
                </a:solidFill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400">
                  <a:solidFill>
                    <a:srgbClr val="000000"/>
                  </a:solidFill>
                </a:rPr>
                <a:t>Långa frames måste hanteras </a:t>
              </a:r>
              <a:endParaRPr lang="en-US" sz="140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3AB2153-68E2-08A4-6F49-D221A6F809B8}"/>
              </a:ext>
            </a:extLst>
          </p:cNvPr>
          <p:cNvGrpSpPr/>
          <p:nvPr/>
        </p:nvGrpSpPr>
        <p:grpSpPr>
          <a:xfrm>
            <a:off x="5934416" y="2238186"/>
            <a:ext cx="5080159" cy="2709434"/>
            <a:chOff x="451328" y="2948835"/>
            <a:chExt cx="2825010" cy="1150479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4DA22ED-4928-7E30-72C7-DED7587F07B2}"/>
                </a:ext>
              </a:extLst>
            </p:cNvPr>
            <p:cNvGrpSpPr/>
            <p:nvPr/>
          </p:nvGrpSpPr>
          <p:grpSpPr>
            <a:xfrm>
              <a:off x="451328" y="2948835"/>
              <a:ext cx="2825010" cy="1149132"/>
              <a:chOff x="603728" y="2282085"/>
              <a:chExt cx="2825010" cy="1149132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9EDF3D2-4CA6-FDE9-D0CF-74107D9601E8}"/>
                  </a:ext>
                </a:extLst>
              </p:cNvPr>
              <p:cNvSpPr/>
              <p:nvPr/>
            </p:nvSpPr>
            <p:spPr>
              <a:xfrm>
                <a:off x="603728" y="2282085"/>
                <a:ext cx="129435" cy="1149132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DF9462F-1E16-0981-3731-F75E99B1F372}"/>
                  </a:ext>
                </a:extLst>
              </p:cNvPr>
              <p:cNvSpPr/>
              <p:nvPr/>
            </p:nvSpPr>
            <p:spPr>
              <a:xfrm>
                <a:off x="679928" y="2282085"/>
                <a:ext cx="2748810" cy="1149132"/>
              </a:xfrm>
              <a:prstGeom prst="rect">
                <a:avLst/>
              </a:prstGeom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B18EFEB-91E5-3CFD-4F10-62A852CC9E77}"/>
                </a:ext>
              </a:extLst>
            </p:cNvPr>
            <p:cNvSpPr txBox="1">
              <a:spLocks/>
            </p:cNvSpPr>
            <p:nvPr/>
          </p:nvSpPr>
          <p:spPr>
            <a:xfrm>
              <a:off x="639839" y="2950140"/>
              <a:ext cx="2635346" cy="1149174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b="1">
                  <a:solidFill>
                    <a:srgbClr val="16253E"/>
                  </a:solidFill>
                  <a:latin typeface="Aptos"/>
                </a:rPr>
                <a:t>Rendering separat </a:t>
              </a:r>
            </a:p>
            <a:p>
              <a:endParaRPr lang="en-US" b="1" dirty="0">
                <a:solidFill>
                  <a:srgbClr val="000000"/>
                </a:solidFill>
              </a:endParaRPr>
            </a:p>
            <a:p>
              <a:pPr marL="171450" indent="-171450">
                <a:buFont typeface="Arial,Sans-Serif"/>
                <a:buChar char="•"/>
              </a:pPr>
              <a:r>
                <a:rPr lang="en-US" sz="1400">
                  <a:solidFill>
                    <a:srgbClr val="000000"/>
                  </a:solidFill>
                </a:rPr>
                <a:t>Bilden kan ritas oftare om hårdvaran klarar det </a:t>
              </a:r>
              <a:endParaRPr lang="en-US" sz="1400">
                <a:solidFill>
                  <a:srgbClr val="FFFFFF"/>
                </a:solidFill>
              </a:endParaRPr>
            </a:p>
            <a:p>
              <a:pPr marL="171450" indent="-171450">
                <a:buFont typeface="Arial,Sans-Serif"/>
                <a:buChar char="•"/>
              </a:pPr>
              <a:r>
                <a:rPr lang="en-US" sz="1400">
                  <a:solidFill>
                    <a:srgbClr val="000000"/>
                  </a:solidFill>
                </a:rPr>
                <a:t>Rendering kan anpassas till skärmen </a:t>
              </a:r>
              <a:endParaRPr lang="en-US"/>
            </a:p>
            <a:p>
              <a:pPr marL="171450" indent="-171450">
                <a:buFont typeface="Arial,Sans-Serif"/>
                <a:buChar char="•"/>
              </a:pPr>
              <a:r>
                <a:rPr lang="en-US" sz="1400">
                  <a:solidFill>
                    <a:srgbClr val="000000"/>
                  </a:solidFill>
                </a:rPr>
                <a:t>Uppdateringstakten kan påverka fysik och spelkänsla </a:t>
              </a:r>
              <a:r>
                <a:rPr lang="en-US" sz="1400" dirty="0">
                  <a:solidFill>
                    <a:srgbClr val="000000"/>
                  </a:solidFill>
                </a:rPr>
                <a:t> </a:t>
              </a:r>
              <a:endParaRPr lang="en-US" sz="1400">
                <a:solidFill>
                  <a:srgbClr val="FFFFFF"/>
                </a:solidFill>
              </a:endParaRPr>
            </a:p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01354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5E897-06D9-9DCE-165E-B6288BDAC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5FD92539-6627-8B00-B98F-FB32E9AD2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122" y="452476"/>
            <a:ext cx="10334625" cy="697254"/>
          </a:xfrm>
        </p:spPr>
        <p:txBody>
          <a:bodyPr/>
          <a:lstStyle/>
          <a:p>
            <a:r>
              <a:rPr lang="sv-SE">
                <a:latin typeface="Barlow Semi Condensed Medium"/>
              </a:rPr>
              <a:t>SAMMANFATTNING</a:t>
            </a:r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0B23AA0-B218-8183-2341-B4AA70EFB669}"/>
              </a:ext>
            </a:extLst>
          </p:cNvPr>
          <p:cNvGrpSpPr/>
          <p:nvPr/>
        </p:nvGrpSpPr>
        <p:grpSpPr>
          <a:xfrm>
            <a:off x="449060" y="1331046"/>
            <a:ext cx="10546779" cy="4611259"/>
            <a:chOff x="527528" y="2948835"/>
            <a:chExt cx="2751681" cy="114913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EA70795-4444-1DBA-25D5-8B6C168DC484}"/>
                </a:ext>
              </a:extLst>
            </p:cNvPr>
            <p:cNvSpPr/>
            <p:nvPr/>
          </p:nvSpPr>
          <p:spPr>
            <a:xfrm>
              <a:off x="527528" y="2948835"/>
              <a:ext cx="2748810" cy="1149132"/>
            </a:xfrm>
            <a:prstGeom prst="rect">
              <a:avLst/>
            </a:prstGeom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61BD985-2328-5321-FCB2-B19E2849E01A}"/>
                </a:ext>
              </a:extLst>
            </p:cNvPr>
            <p:cNvSpPr txBox="1">
              <a:spLocks/>
            </p:cNvSpPr>
            <p:nvPr/>
          </p:nvSpPr>
          <p:spPr>
            <a:xfrm>
              <a:off x="639839" y="2950140"/>
              <a:ext cx="2639370" cy="114532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 dirty="0">
                <a:solidFill>
                  <a:srgbClr val="16253E"/>
                </a:solidFill>
                <a:latin typeface="Aptos"/>
              </a:endParaRPr>
            </a:p>
            <a:p>
              <a:r>
                <a:rPr lang="en-US" b="1">
                  <a:solidFill>
                    <a:srgbClr val="16253E"/>
                  </a:solidFill>
                  <a:latin typeface="Aptos"/>
                </a:rPr>
                <a:t>Det viktigaste att ta med sig</a:t>
              </a:r>
              <a:endParaRPr lang="en-US"/>
            </a:p>
            <a:p>
              <a:endParaRPr lang="en-US" sz="1400" i="1" dirty="0">
                <a:solidFill>
                  <a:srgbClr val="000000"/>
                </a:solidFill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400">
                  <a:solidFill>
                    <a:srgbClr val="000000"/>
                  </a:solidFill>
                </a:rPr>
                <a:t>Bibliotek gör kod återanvändbar mellan projekt</a:t>
              </a:r>
              <a:endParaRPr lang="en-US" sz="1400">
                <a:solidFill>
                  <a:srgbClr val="FFFFFF"/>
                </a:solidFill>
              </a:endParaRPr>
            </a:p>
            <a:p>
              <a:pPr marL="171450" indent="-171450">
                <a:buFont typeface="Arial"/>
                <a:buChar char="•"/>
              </a:pPr>
              <a:endParaRPr lang="en-US"/>
            </a:p>
            <a:p>
              <a:pPr marL="171450" indent="-171450">
                <a:buFont typeface="Arial"/>
                <a:buChar char="•"/>
              </a:pPr>
              <a:r>
                <a:rPr lang="en-US" sz="1400">
                  <a:solidFill>
                    <a:srgbClr val="000000"/>
                  </a:solidFill>
                </a:rPr>
                <a:t>Header-filer beskriver gränssnittet; binärfiler innehåller kompilerad funktionalitet</a:t>
              </a:r>
              <a:endParaRPr lang="en-US"/>
            </a:p>
            <a:p>
              <a:pPr marL="171450" indent="-171450">
                <a:buFont typeface="Arial"/>
                <a:buChar char="•"/>
              </a:pPr>
              <a:endParaRPr lang="en-US"/>
            </a:p>
            <a:p>
              <a:pPr marL="171450" indent="-171450">
                <a:buFont typeface="Arial"/>
                <a:buChar char="•"/>
              </a:pPr>
              <a:r>
                <a:rPr lang="en-US" sz="1400">
                  <a:solidFill>
                    <a:srgbClr val="000000"/>
                  </a:solidFill>
                </a:rPr>
                <a:t>Länkning kräver rätt headers, bibliotekssökvägar och biblioteksfiler</a:t>
              </a:r>
              <a:endParaRPr lang="en-US"/>
            </a:p>
            <a:p>
              <a:pPr marL="171450" indent="-171450">
                <a:buFont typeface="Arial"/>
                <a:buChar char="•"/>
              </a:pPr>
              <a:endParaRPr lang="en-US"/>
            </a:p>
            <a:p>
              <a:pPr marL="171450" indent="-171450">
                <a:buFont typeface="Arial"/>
                <a:buChar char="•"/>
              </a:pPr>
              <a:r>
                <a:rPr lang="en-US" sz="1400">
                  <a:solidFill>
                    <a:srgbClr val="000000"/>
                  </a:solidFill>
                </a:rPr>
                <a:t>Dynamiska bibliotek kräver att nödvändiga DLL-filer hittas vid körning</a:t>
              </a:r>
              <a:endParaRPr lang="en-US"/>
            </a:p>
            <a:p>
              <a:pPr marL="171450" indent="-171450">
                <a:buFont typeface="Arial"/>
                <a:buChar char="•"/>
              </a:pPr>
              <a:endParaRPr lang="en-US"/>
            </a:p>
            <a:p>
              <a:pPr marL="171450" indent="-171450">
                <a:buFont typeface="Arial"/>
                <a:buChar char="•"/>
              </a:pPr>
              <a:r>
                <a:rPr lang="en-US" sz="1400">
                  <a:solidFill>
                    <a:srgbClr val="000000"/>
                  </a:solidFill>
                </a:rPr>
                <a:t>Delta time gör rörelse mindre beroende av frame rate</a:t>
              </a:r>
            </a:p>
            <a:p>
              <a:pPr marL="171450" indent="-171450">
                <a:buFont typeface="Arial"/>
                <a:buChar char="•"/>
              </a:pPr>
              <a:endParaRPr lang="en-US" sz="1400" dirty="0">
                <a:solidFill>
                  <a:srgbClr val="000000"/>
                </a:solidFill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400">
                  <a:solidFill>
                    <a:srgbClr val="000000"/>
                  </a:solidFill>
                  <a:latin typeface="Montserrat"/>
                </a:rPr>
                <a:t>För mer detaljer och guide finns slides att följa på omniway</a:t>
              </a:r>
              <a:endParaRPr lang="en-US" sz="1400" dirty="0">
                <a:solidFill>
                  <a:srgbClr val="000000"/>
                </a:solidFill>
                <a:latin typeface="Montserrat"/>
              </a:endParaRPr>
            </a:p>
            <a:p>
              <a:pPr marL="171450" indent="-171450">
                <a:buFont typeface="Arial"/>
                <a:buChar char="•"/>
              </a:pPr>
              <a:endParaRPr lang="en-US" sz="1400" dirty="0">
                <a:solidFill>
                  <a:srgbClr val="000000"/>
                </a:solidFill>
                <a:latin typeface="Montserrat"/>
              </a:endParaRPr>
            </a:p>
            <a:p>
              <a:endParaRPr lang="en-US" b="1" dirty="0">
                <a:solidFill>
                  <a:srgbClr val="16253E"/>
                </a:solidFill>
                <a:latin typeface="Aptos"/>
              </a:endParaRPr>
            </a:p>
            <a:p>
              <a:r>
                <a:rPr lang="en-US" b="1">
                  <a:solidFill>
                    <a:srgbClr val="16253E"/>
                  </a:solidFill>
                  <a:latin typeface="Aptos"/>
                </a:rPr>
                <a:t>Uppgift 8 – Eget bibliotek och Timer</a:t>
              </a:r>
            </a:p>
            <a:p>
              <a:endParaRPr lang="en-US" b="1" dirty="0">
                <a:solidFill>
                  <a:srgbClr val="16253E"/>
                </a:solidFill>
                <a:latin typeface="Apto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1568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87E666-E43A-48A0-B54F-ECFC9D740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629" y="1505666"/>
            <a:ext cx="5682371" cy="4191871"/>
          </a:xfrm>
        </p:spPr>
        <p:txBody>
          <a:bodyPr>
            <a:normAutofit/>
          </a:bodyPr>
          <a:lstStyle/>
          <a:p>
            <a:r>
              <a:rPr lang="sv-SE" b="1"/>
              <a:t>Fönstret är uppdelat främst i två delar:</a:t>
            </a:r>
          </a:p>
          <a:p>
            <a:pPr lvl="1"/>
            <a:r>
              <a:rPr lang="sv-SE"/>
              <a:t>Till vänster kategorier av inställningar</a:t>
            </a:r>
          </a:p>
          <a:p>
            <a:pPr lvl="1"/>
            <a:r>
              <a:rPr lang="sv-SE"/>
              <a:t>Till höger de faktiska inställningarna och deras värden</a:t>
            </a:r>
            <a:br>
              <a:rPr lang="sv-SE"/>
            </a:br>
            <a:endParaRPr lang="sv-SE"/>
          </a:p>
          <a:p>
            <a:r>
              <a:rPr lang="sv-SE" b="1"/>
              <a:t>Ovanför dessa två delar kan vi ställa in vilken – eller </a:t>
            </a:r>
            <a:r>
              <a:rPr lang="sv-SE" b="1" i="1"/>
              <a:t>vilka</a:t>
            </a:r>
            <a:r>
              <a:rPr lang="sv-SE" b="1"/>
              <a:t> – konfigurationer inställningarna vi gör ska gälla för:</a:t>
            </a:r>
          </a:p>
          <a:p>
            <a:pPr lvl="1"/>
            <a:r>
              <a:rPr lang="sv-SE"/>
              <a:t>Active</a:t>
            </a:r>
          </a:p>
          <a:p>
            <a:pPr lvl="1"/>
            <a:r>
              <a:rPr lang="sv-SE" err="1"/>
              <a:t>Debug</a:t>
            </a:r>
            <a:r>
              <a:rPr lang="sv-SE"/>
              <a:t> / Release / All </a:t>
            </a:r>
            <a:r>
              <a:rPr lang="sv-SE" err="1"/>
              <a:t>Configurations</a:t>
            </a:r>
            <a:endParaRPr lang="sv-SE"/>
          </a:p>
          <a:p>
            <a:pPr lvl="1"/>
            <a:r>
              <a:rPr lang="sv-SE"/>
              <a:t>Win32 / x64 / All Platforms</a:t>
            </a:r>
          </a:p>
          <a:p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PROJEKTINSTÄLLNINGAR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87E5F77E-EB20-4AF6-8242-1F167AF12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390" y="1505666"/>
            <a:ext cx="5563981" cy="3877927"/>
          </a:xfrm>
          <a:prstGeom prst="rect">
            <a:avLst/>
          </a:prstGeom>
        </p:spPr>
      </p:pic>
      <p:pic>
        <p:nvPicPr>
          <p:cNvPr id="3" name="Bildobjekt 4" descr="En bild som visar text&#10;&#10;Automatiskt genererad beskrivning">
            <a:extLst>
              <a:ext uri="{FF2B5EF4-FFF2-40B4-BE49-F238E27FC236}">
                <a16:creationId xmlns:a16="http://schemas.microsoft.com/office/drawing/2014/main" id="{128B15D6-D8A6-6C73-BBE3-0C6E83434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6377" y="5576095"/>
            <a:ext cx="4000005" cy="55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583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87E666-E43A-48A0-B54F-ECFC9D740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629" y="1505666"/>
            <a:ext cx="6883283" cy="4191871"/>
          </a:xfrm>
        </p:spPr>
        <p:txBody>
          <a:bodyPr>
            <a:normAutofit/>
          </a:bodyPr>
          <a:lstStyle/>
          <a:p>
            <a:r>
              <a:rPr lang="sv-SE" b="1"/>
              <a:t>För att ändra en inställning klickar vi på dess värde och därefter nedåtpilen längst till höger i rutan med värdet</a:t>
            </a:r>
          </a:p>
          <a:p>
            <a:pPr lvl="1"/>
            <a:r>
              <a:rPr lang="sv-SE"/>
              <a:t>Om det finns alternativ ser vi dem i en lista.</a:t>
            </a:r>
          </a:p>
          <a:p>
            <a:pPr lvl="1"/>
            <a:r>
              <a:rPr lang="sv-SE"/>
              <a:t>Även om det inte finns några alternativ</a:t>
            </a:r>
            <a:br>
              <a:rPr lang="sv-SE"/>
            </a:br>
            <a:r>
              <a:rPr lang="sv-SE"/>
              <a:t>för värden så ser vi listat &lt;Edit…&gt;</a:t>
            </a:r>
            <a:br>
              <a:rPr lang="sv-SE"/>
            </a:br>
            <a:endParaRPr lang="sv-SE"/>
          </a:p>
          <a:p>
            <a:r>
              <a:rPr lang="sv-SE" b="1"/>
              <a:t>Ändra värden genom att välja dem i listan eller klicka på &lt;Edit…&gt;</a:t>
            </a:r>
          </a:p>
          <a:p>
            <a:pPr lvl="1"/>
            <a:r>
              <a:rPr lang="sv-SE"/>
              <a:t>Det </a:t>
            </a:r>
            <a:r>
              <a:rPr lang="sv-SE" i="1"/>
              <a:t>går</a:t>
            </a:r>
            <a:r>
              <a:rPr lang="sv-SE"/>
              <a:t> att skriva i rutan direkt, men det</a:t>
            </a:r>
            <a:br>
              <a:rPr lang="sv-SE"/>
            </a:br>
            <a:r>
              <a:rPr lang="sv-SE"/>
              <a:t>behövs ofta speciell formatering som är</a:t>
            </a:r>
            <a:br>
              <a:rPr lang="sv-SE"/>
            </a:br>
            <a:r>
              <a:rPr lang="sv-SE"/>
              <a:t>lätt att göra fel på.</a:t>
            </a:r>
          </a:p>
          <a:p>
            <a:pPr lvl="1"/>
            <a:r>
              <a:rPr lang="sv-SE"/>
              <a:t>Använder vi oss av fönstret som öppnas</a:t>
            </a:r>
            <a:br>
              <a:rPr lang="sv-SE"/>
            </a:br>
            <a:r>
              <a:rPr lang="sv-SE"/>
              <a:t>av &lt;Edit…&gt; får vi automatiskt rätt formatering</a:t>
            </a:r>
          </a:p>
          <a:p>
            <a:pPr lvl="1"/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PROJEKTINSTÄLLNINGAR</a:t>
            </a:r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11044AC3-DB97-4EB9-98DC-3D4DA9761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054" y="1505666"/>
            <a:ext cx="3295046" cy="1329819"/>
          </a:xfrm>
          <a:prstGeom prst="rect">
            <a:avLst/>
          </a:prstGeom>
        </p:spPr>
      </p:pic>
      <p:pic>
        <p:nvPicPr>
          <p:cNvPr id="4" name="Bildobjekt 3">
            <a:extLst>
              <a:ext uri="{FF2B5EF4-FFF2-40B4-BE49-F238E27FC236}">
                <a16:creationId xmlns:a16="http://schemas.microsoft.com/office/drawing/2014/main" id="{AAE69FA7-2F75-48C6-8D5E-5EFEEACBB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054" y="3084149"/>
            <a:ext cx="3295046" cy="573435"/>
          </a:xfrm>
          <a:prstGeom prst="rect">
            <a:avLst/>
          </a:prstGeom>
        </p:spPr>
      </p:pic>
      <p:pic>
        <p:nvPicPr>
          <p:cNvPr id="6" name="Bildobjekt 5">
            <a:extLst>
              <a:ext uri="{FF2B5EF4-FFF2-40B4-BE49-F238E27FC236}">
                <a16:creationId xmlns:a16="http://schemas.microsoft.com/office/drawing/2014/main" id="{EF4B8306-7B2C-4918-8E5B-41EC38C127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9460" y="4096787"/>
            <a:ext cx="3306640" cy="194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876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87E666-E43A-48A0-B54F-ECFC9D740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De första inställningarna vi ska titta på ligger under den första kategorin, </a:t>
            </a:r>
            <a:r>
              <a:rPr lang="sv-SE" b="1" i="1"/>
              <a:t>General</a:t>
            </a:r>
            <a:br>
              <a:rPr lang="sv-SE" b="1" i="1"/>
            </a:br>
            <a:endParaRPr lang="sv-SE" b="1" i="1"/>
          </a:p>
          <a:p>
            <a:r>
              <a:rPr lang="sv-SE" b="1"/>
              <a:t>Här är vi intresserade av:</a:t>
            </a:r>
          </a:p>
          <a:p>
            <a:pPr lvl="1"/>
            <a:r>
              <a:rPr lang="sv-SE"/>
              <a:t>Output Directory</a:t>
            </a:r>
          </a:p>
          <a:p>
            <a:pPr lvl="1"/>
            <a:r>
              <a:rPr lang="sv-SE" err="1"/>
              <a:t>Intermediate</a:t>
            </a:r>
            <a:r>
              <a:rPr lang="sv-SE"/>
              <a:t> Directory</a:t>
            </a:r>
          </a:p>
          <a:p>
            <a:pPr lvl="1"/>
            <a:r>
              <a:rPr lang="sv-SE"/>
              <a:t>Target </a:t>
            </a:r>
            <a:r>
              <a:rPr lang="sv-SE" err="1"/>
              <a:t>Name</a:t>
            </a:r>
            <a:endParaRPr lang="sv-SE"/>
          </a:p>
          <a:p>
            <a:pPr lvl="1"/>
            <a:endParaRPr lang="sv-SE"/>
          </a:p>
          <a:p>
            <a:r>
              <a:rPr lang="sv-SE" b="1"/>
              <a:t>Nu blir det intressant med Visual Studios </a:t>
            </a:r>
            <a:r>
              <a:rPr lang="sv-SE" b="1" i="1"/>
              <a:t>Makron</a:t>
            </a:r>
          </a:p>
          <a:p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PROJEKTINSTÄLLNINGAR</a:t>
            </a:r>
          </a:p>
        </p:txBody>
      </p:sp>
    </p:spTree>
    <p:extLst>
      <p:ext uri="{BB962C8B-B14F-4D97-AF65-F5344CB8AC3E}">
        <p14:creationId xmlns:p14="http://schemas.microsoft.com/office/powerpoint/2010/main" val="372810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87E666-E43A-48A0-B54F-ECFC9D740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Om vi tittar på värdet för </a:t>
            </a:r>
            <a:r>
              <a:rPr lang="sv-SE" b="1" i="1"/>
              <a:t>Output Directory</a:t>
            </a:r>
            <a:r>
              <a:rPr lang="sv-SE" b="1"/>
              <a:t> ser vi makron:</a:t>
            </a:r>
          </a:p>
          <a:p>
            <a:pPr lvl="1"/>
            <a:r>
              <a:rPr lang="sv-SE"/>
              <a:t>$(</a:t>
            </a:r>
            <a:r>
              <a:rPr lang="sv-SE" err="1"/>
              <a:t>SolutionDir</a:t>
            </a:r>
            <a:r>
              <a:rPr lang="sv-SE"/>
              <a:t>)</a:t>
            </a:r>
          </a:p>
          <a:p>
            <a:pPr lvl="1"/>
            <a:r>
              <a:rPr lang="sv-SE"/>
              <a:t>$(</a:t>
            </a:r>
            <a:r>
              <a:rPr lang="sv-SE" err="1"/>
              <a:t>Configuration</a:t>
            </a:r>
            <a:r>
              <a:rPr lang="sv-SE"/>
              <a:t>)</a:t>
            </a:r>
            <a:br>
              <a:rPr lang="sv-SE"/>
            </a:br>
            <a:endParaRPr lang="sv-SE"/>
          </a:p>
          <a:p>
            <a:r>
              <a:rPr lang="sv-SE" b="1"/>
              <a:t>Ett makro fungerar som ett variabelnamn</a:t>
            </a:r>
          </a:p>
          <a:p>
            <a:pPr lvl="1"/>
            <a:r>
              <a:rPr lang="sv-SE"/>
              <a:t>Vi skriver namnet på makrot</a:t>
            </a:r>
          </a:p>
          <a:p>
            <a:pPr lvl="1"/>
            <a:r>
              <a:rPr lang="sv-SE"/>
              <a:t>Makrot ersätts med det värde det representerar</a:t>
            </a:r>
            <a:br>
              <a:rPr lang="sv-SE"/>
            </a:br>
            <a:endParaRPr lang="sv-SE"/>
          </a:p>
          <a:p>
            <a:r>
              <a:rPr lang="sv-SE" b="1"/>
              <a:t>Makron ändras med projektet</a:t>
            </a:r>
          </a:p>
          <a:p>
            <a:pPr lvl="1"/>
            <a:r>
              <a:rPr lang="sv-SE"/>
              <a:t>Om vi flyttar en projektmapp så kommer de makron som har med mappens sökväg att göra att uppdateras så att de alltid stämmer!</a:t>
            </a:r>
          </a:p>
          <a:p>
            <a:pPr lvl="1"/>
            <a:endParaRPr lang="sv-SE"/>
          </a:p>
          <a:p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MAKRON</a:t>
            </a:r>
          </a:p>
        </p:txBody>
      </p:sp>
    </p:spTree>
    <p:extLst>
      <p:ext uri="{BB962C8B-B14F-4D97-AF65-F5344CB8AC3E}">
        <p14:creationId xmlns:p14="http://schemas.microsoft.com/office/powerpoint/2010/main" val="531593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87E666-E43A-48A0-B54F-ECFC9D740F5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r>
              <a:rPr lang="sv-SE" b="1"/>
              <a:t>Makron i Visual Studio börjar alltid med ett dollartecken följt av en parantes i vilken vi skriver makrots namn</a:t>
            </a:r>
            <a:br>
              <a:rPr lang="sv-SE" b="1"/>
            </a:br>
            <a:endParaRPr lang="sv-SE" b="1"/>
          </a:p>
          <a:p>
            <a:r>
              <a:rPr lang="sv-SE" b="1"/>
              <a:t>I redigeringsfönstret kan vi se vad våra makron utvärderas till</a:t>
            </a:r>
          </a:p>
          <a:p>
            <a:pPr lvl="1"/>
            <a:r>
              <a:rPr lang="sv-SE"/>
              <a:t>Se den grå rutan under textrutan vi</a:t>
            </a:r>
            <a:br>
              <a:rPr lang="sv-SE"/>
            </a:br>
            <a:r>
              <a:rPr lang="sv-SE"/>
              <a:t>kan skriva i</a:t>
            </a:r>
            <a:br>
              <a:rPr lang="sv-SE"/>
            </a:br>
            <a:endParaRPr lang="sv-SE"/>
          </a:p>
          <a:p>
            <a:r>
              <a:rPr lang="sv-SE" b="1"/>
              <a:t>Vi kan även få upp vilka makron som finns genom att klicka på knappen </a:t>
            </a:r>
            <a:r>
              <a:rPr lang="sv-SE" b="1" u="sng" err="1"/>
              <a:t>M</a:t>
            </a:r>
            <a:r>
              <a:rPr lang="sv-SE" b="1" err="1"/>
              <a:t>acros</a:t>
            </a:r>
            <a:r>
              <a:rPr lang="sv-SE" b="1"/>
              <a:t>&gt;&gt;</a:t>
            </a:r>
          </a:p>
          <a:p>
            <a:endParaRPr lang="sv-SE"/>
          </a:p>
          <a:p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MAKRON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3FFD8358-6715-416F-BF16-3E7868ABE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550" y="2366962"/>
            <a:ext cx="4152900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412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87E666-E43A-48A0-B54F-ECFC9D740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629" y="1505666"/>
            <a:ext cx="6626268" cy="4191871"/>
          </a:xfrm>
        </p:spPr>
        <p:txBody>
          <a:bodyPr>
            <a:normAutofit fontScale="92500" lnSpcReduction="10000"/>
          </a:bodyPr>
          <a:lstStyle/>
          <a:p>
            <a:r>
              <a:rPr lang="sv-SE" b="1"/>
              <a:t>Här kan vi söka på makron samt se vad värdet är på olika makron</a:t>
            </a:r>
          </a:p>
          <a:p>
            <a:pPr lvl="1"/>
            <a:r>
              <a:rPr lang="sv-SE"/>
              <a:t>I bilden har jag sökt på makron som innehåller ”Solution”</a:t>
            </a:r>
          </a:p>
          <a:p>
            <a:pPr lvl="1"/>
            <a:r>
              <a:rPr lang="sv-SE"/>
              <a:t>Notera att makron med sökväg kan innehålla en avslutande backslash   \</a:t>
            </a:r>
            <a:br>
              <a:rPr lang="sv-SE"/>
            </a:br>
            <a:endParaRPr lang="sv-SE"/>
          </a:p>
          <a:p>
            <a:r>
              <a:rPr lang="sv-SE" b="1"/>
              <a:t>Användbara makron:</a:t>
            </a:r>
          </a:p>
          <a:p>
            <a:pPr lvl="1"/>
            <a:r>
              <a:rPr lang="sv-SE"/>
              <a:t>$(</a:t>
            </a:r>
            <a:r>
              <a:rPr lang="sv-SE" err="1"/>
              <a:t>SolutionDir</a:t>
            </a:r>
            <a:r>
              <a:rPr lang="sv-SE"/>
              <a:t>)</a:t>
            </a:r>
          </a:p>
          <a:p>
            <a:pPr lvl="1"/>
            <a:r>
              <a:rPr lang="sv-SE"/>
              <a:t>$(</a:t>
            </a:r>
            <a:r>
              <a:rPr lang="sv-SE" err="1"/>
              <a:t>SolutionName</a:t>
            </a:r>
            <a:r>
              <a:rPr lang="sv-SE"/>
              <a:t>)</a:t>
            </a:r>
          </a:p>
          <a:p>
            <a:pPr lvl="1"/>
            <a:r>
              <a:rPr lang="sv-SE"/>
              <a:t>$(</a:t>
            </a:r>
            <a:r>
              <a:rPr lang="sv-SE" err="1"/>
              <a:t>ProjectDir</a:t>
            </a:r>
            <a:r>
              <a:rPr lang="sv-SE"/>
              <a:t>)</a:t>
            </a:r>
          </a:p>
          <a:p>
            <a:pPr lvl="1"/>
            <a:r>
              <a:rPr lang="sv-SE"/>
              <a:t>$(</a:t>
            </a:r>
            <a:r>
              <a:rPr lang="sv-SE" err="1"/>
              <a:t>TargetName</a:t>
            </a:r>
            <a:r>
              <a:rPr lang="sv-SE"/>
              <a:t>)</a:t>
            </a:r>
          </a:p>
          <a:p>
            <a:pPr lvl="1"/>
            <a:r>
              <a:rPr lang="sv-SE"/>
              <a:t>$(</a:t>
            </a:r>
            <a:r>
              <a:rPr lang="sv-SE" err="1"/>
              <a:t>PlatformTarget</a:t>
            </a:r>
            <a:r>
              <a:rPr lang="sv-SE"/>
              <a:t>)</a:t>
            </a:r>
          </a:p>
          <a:p>
            <a:pPr lvl="1"/>
            <a:r>
              <a:rPr lang="sv-SE"/>
              <a:t>$(</a:t>
            </a:r>
            <a:r>
              <a:rPr lang="sv-SE" err="1"/>
              <a:t>PlatformName</a:t>
            </a:r>
            <a:r>
              <a:rPr lang="sv-SE"/>
              <a:t>)</a:t>
            </a:r>
          </a:p>
          <a:p>
            <a:pPr lvl="1"/>
            <a:r>
              <a:rPr lang="sv-SE"/>
              <a:t>$(</a:t>
            </a:r>
            <a:r>
              <a:rPr lang="sv-SE" err="1"/>
              <a:t>Configuration</a:t>
            </a:r>
            <a:r>
              <a:rPr lang="sv-SE"/>
              <a:t>)</a:t>
            </a:r>
          </a:p>
          <a:p>
            <a:pPr lvl="1"/>
            <a:endParaRPr lang="sv-SE"/>
          </a:p>
          <a:p>
            <a:pPr lvl="1"/>
            <a:endParaRPr lang="sv-SE"/>
          </a:p>
          <a:p>
            <a:endParaRPr lang="sv-SE"/>
          </a:p>
          <a:p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MAKRON</a:t>
            </a:r>
          </a:p>
        </p:txBody>
      </p:sp>
      <p:pic>
        <p:nvPicPr>
          <p:cNvPr id="4" name="Bildobjekt 4" descr="En bild som visar text&#10;&#10;Automatiskt genererad beskrivning">
            <a:extLst>
              <a:ext uri="{FF2B5EF4-FFF2-40B4-BE49-F238E27FC236}">
                <a16:creationId xmlns:a16="http://schemas.microsoft.com/office/drawing/2014/main" id="{D4BF7879-44FF-1A88-4968-E201F5804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436" y="1638882"/>
            <a:ext cx="4415642" cy="392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091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87E666-E43A-48A0-B54F-ECFC9D740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v-SE" b="1"/>
              <a:t>Tillbaka till </a:t>
            </a:r>
            <a:r>
              <a:rPr lang="sv-SE" b="1" err="1"/>
              <a:t>projektinställningarna</a:t>
            </a:r>
            <a:r>
              <a:rPr lang="sv-SE" b="1"/>
              <a:t>…</a:t>
            </a:r>
            <a:br>
              <a:rPr lang="sv-SE" b="1"/>
            </a:br>
            <a:endParaRPr lang="sv-SE" b="1"/>
          </a:p>
          <a:p>
            <a:r>
              <a:rPr lang="sv-SE" b="1" i="1"/>
              <a:t>Output Directory</a:t>
            </a:r>
          </a:p>
          <a:p>
            <a:pPr lvl="1"/>
            <a:r>
              <a:rPr lang="sv-SE"/>
              <a:t>Där .</a:t>
            </a:r>
            <a:r>
              <a:rPr lang="sv-SE" err="1"/>
              <a:t>exe</a:t>
            </a:r>
            <a:r>
              <a:rPr lang="sv-SE"/>
              <a:t>-filen hamnar</a:t>
            </a:r>
          </a:p>
          <a:p>
            <a:pPr lvl="1"/>
            <a:r>
              <a:rPr lang="sv-SE"/>
              <a:t>Kan vara intressant att ha olika mappar för Plattform-Konfiguration</a:t>
            </a:r>
          </a:p>
          <a:p>
            <a:pPr lvl="2"/>
            <a:r>
              <a:rPr lang="sv-SE"/>
              <a:t>Ex. som på bilden</a:t>
            </a:r>
            <a:br>
              <a:rPr lang="sv-SE"/>
            </a:br>
            <a:endParaRPr lang="sv-SE"/>
          </a:p>
          <a:p>
            <a:r>
              <a:rPr lang="sv-SE" b="1"/>
              <a:t>En sådan mappstruktur kan man uppnå på två sätt: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/>
              <a:t>Skriv in den manuellt för varje konfiguration + plattform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/>
              <a:t>Använd makron</a:t>
            </a:r>
          </a:p>
          <a:p>
            <a:pPr lvl="2"/>
            <a:r>
              <a:rPr lang="sv-SE"/>
              <a:t>Skriv in den en gång för alla konfigurationer + plattformar</a:t>
            </a:r>
          </a:p>
          <a:p>
            <a:pPr lvl="2"/>
            <a:r>
              <a:rPr lang="sv-SE"/>
              <a:t>Ex. För att skapa en mapp, Output, som ligger i samma mapp som vår solution (.</a:t>
            </a:r>
            <a:r>
              <a:rPr lang="sv-SE" err="1"/>
              <a:t>sln</a:t>
            </a:r>
            <a:r>
              <a:rPr lang="sv-SE"/>
              <a:t>-fil) som har undermappar med formatet Plattform-Konfiguration blir inställningen:</a:t>
            </a:r>
            <a:br>
              <a:rPr lang="sv-SE"/>
            </a:br>
            <a:r>
              <a:rPr lang="sv-SE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$(</a:t>
            </a:r>
            <a:r>
              <a:rPr lang="sv-SE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SolutionDir</a:t>
            </a:r>
            <a:r>
              <a:rPr lang="sv-SE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)</a:t>
            </a:r>
            <a:r>
              <a:rPr lang="sv-SE">
                <a:solidFill>
                  <a:schemeClr val="accent2">
                    <a:lumMod val="60000"/>
                    <a:lumOff val="40000"/>
                  </a:schemeClr>
                </a:solidFill>
              </a:rPr>
              <a:t>\</a:t>
            </a:r>
            <a:r>
              <a:rPr lang="sv-SE">
                <a:solidFill>
                  <a:schemeClr val="tx1"/>
                </a:solidFill>
              </a:rPr>
              <a:t>Output</a:t>
            </a:r>
            <a:r>
              <a:rPr lang="sv-SE">
                <a:solidFill>
                  <a:schemeClr val="accent2">
                    <a:lumMod val="60000"/>
                    <a:lumOff val="40000"/>
                  </a:schemeClr>
                </a:solidFill>
              </a:rPr>
              <a:t>\</a:t>
            </a:r>
            <a:r>
              <a:rPr lang="sv-SE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$(</a:t>
            </a:r>
            <a:r>
              <a:rPr lang="sv-SE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PlatformTarget</a:t>
            </a:r>
            <a:r>
              <a:rPr lang="sv-SE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)</a:t>
            </a:r>
            <a:r>
              <a:rPr lang="sv-SE">
                <a:solidFill>
                  <a:schemeClr val="accent2">
                    <a:lumMod val="60000"/>
                    <a:lumOff val="40000"/>
                  </a:schemeClr>
                </a:solidFill>
              </a:rPr>
              <a:t>-</a:t>
            </a:r>
            <a:r>
              <a:rPr lang="sv-SE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$(</a:t>
            </a:r>
            <a:r>
              <a:rPr lang="sv-SE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Configuration</a:t>
            </a:r>
            <a:r>
              <a:rPr lang="sv-SE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)</a:t>
            </a:r>
            <a:r>
              <a:rPr lang="sv-SE">
                <a:solidFill>
                  <a:schemeClr val="accent2">
                    <a:lumMod val="60000"/>
                    <a:lumOff val="40000"/>
                  </a:schemeClr>
                </a:solidFill>
              </a:rPr>
              <a:t>\</a:t>
            </a:r>
          </a:p>
          <a:p>
            <a:pPr lvl="2"/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PROJEKTINSTÄLLNINGAR</a:t>
            </a:r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2EDB5803-BA9B-4AC4-A025-045BCE760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282" y="1505665"/>
            <a:ext cx="2821093" cy="1652054"/>
          </a:xfrm>
          <a:prstGeom prst="rect">
            <a:avLst/>
          </a:prstGeom>
        </p:spPr>
      </p:pic>
      <p:grpSp>
        <p:nvGrpSpPr>
          <p:cNvPr id="5" name="Grupp 4">
            <a:extLst>
              <a:ext uri="{FF2B5EF4-FFF2-40B4-BE49-F238E27FC236}">
                <a16:creationId xmlns:a16="http://schemas.microsoft.com/office/drawing/2014/main" id="{34383DA7-6743-40BA-ADB4-C98986AB84BD}"/>
              </a:ext>
            </a:extLst>
          </p:cNvPr>
          <p:cNvGrpSpPr/>
          <p:nvPr/>
        </p:nvGrpSpPr>
        <p:grpSpPr>
          <a:xfrm>
            <a:off x="2986087" y="5841306"/>
            <a:ext cx="6219825" cy="276226"/>
            <a:chOff x="2477337" y="6442968"/>
            <a:chExt cx="6219825" cy="276226"/>
          </a:xfrm>
        </p:grpSpPr>
        <p:pic>
          <p:nvPicPr>
            <p:cNvPr id="6" name="Bildobjekt 5">
              <a:extLst>
                <a:ext uri="{FF2B5EF4-FFF2-40B4-BE49-F238E27FC236}">
                  <a16:creationId xmlns:a16="http://schemas.microsoft.com/office/drawing/2014/main" id="{5126ABCC-F161-4922-B621-6F091E9535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77337" y="6442969"/>
              <a:ext cx="2514600" cy="276225"/>
            </a:xfrm>
            <a:prstGeom prst="rect">
              <a:avLst/>
            </a:prstGeom>
          </p:spPr>
        </p:pic>
        <p:pic>
          <p:nvPicPr>
            <p:cNvPr id="8" name="Bildobjekt 7">
              <a:extLst>
                <a:ext uri="{FF2B5EF4-FFF2-40B4-BE49-F238E27FC236}">
                  <a16:creationId xmlns:a16="http://schemas.microsoft.com/office/drawing/2014/main" id="{80795ADF-857C-4E6E-9401-AC5CA4471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91937" y="6442968"/>
              <a:ext cx="3705225" cy="2762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56168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87E666-E43A-48A0-B54F-ECFC9D740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sv-SE" sz="1800" b="1" i="1" err="1"/>
              <a:t>Intermediate</a:t>
            </a:r>
            <a:r>
              <a:rPr lang="sv-SE" sz="1800" b="1" i="1"/>
              <a:t> Directory</a:t>
            </a:r>
            <a:endParaRPr lang="sv-SE" sz="1800" b="1"/>
          </a:p>
          <a:p>
            <a:pPr lvl="1"/>
            <a:r>
              <a:rPr lang="sv-SE" sz="1600">
                <a:latin typeface="Montserrat Light"/>
              </a:rPr>
              <a:t>Där</a:t>
            </a:r>
            <a:r>
              <a:rPr lang="sv-SE" sz="1600" i="1">
                <a:latin typeface="Montserrat Light"/>
              </a:rPr>
              <a:t> </a:t>
            </a:r>
            <a:r>
              <a:rPr lang="sv-SE" sz="1600">
                <a:latin typeface="Montserrat Light"/>
              </a:rPr>
              <a:t>alla filer som skapas under kompileringen, ex. loggfiler, objektfiler etc. läggs</a:t>
            </a:r>
          </a:p>
          <a:p>
            <a:pPr lvl="1"/>
            <a:r>
              <a:rPr lang="sv-SE" sz="1600">
                <a:latin typeface="Montserrat Light"/>
              </a:rPr>
              <a:t>Ett förslag är att ha samma mappstruktur som för </a:t>
            </a:r>
            <a:r>
              <a:rPr lang="sv-SE" sz="1600" i="1">
                <a:latin typeface="Montserrat Light"/>
              </a:rPr>
              <a:t>Output Directory</a:t>
            </a:r>
            <a:r>
              <a:rPr lang="sv-SE" sz="1600">
                <a:latin typeface="Montserrat Light"/>
              </a:rPr>
              <a:t> men för </a:t>
            </a:r>
            <a:r>
              <a:rPr lang="sv-SE" sz="1600" i="1" err="1">
                <a:latin typeface="Montserrat Light"/>
              </a:rPr>
              <a:t>Intermediate</a:t>
            </a:r>
            <a:r>
              <a:rPr lang="sv-SE" sz="1600">
                <a:latin typeface="Montserrat Light"/>
              </a:rPr>
              <a:t> istället för </a:t>
            </a:r>
            <a:r>
              <a:rPr lang="sv-SE" sz="1600" i="1">
                <a:latin typeface="Montserrat Light"/>
              </a:rPr>
              <a:t>Output</a:t>
            </a:r>
          </a:p>
          <a:p>
            <a:pPr lvl="1"/>
            <a:r>
              <a:rPr lang="sv-SE" sz="1600"/>
              <a:t>Denna kan vi ställa in en gång för alla</a:t>
            </a:r>
            <a:br>
              <a:rPr lang="sv-SE" sz="1600"/>
            </a:br>
            <a:r>
              <a:rPr lang="sv-SE" sz="1600"/>
              <a:t>konfigurationer + plattformar med hjälp av makron:</a:t>
            </a:r>
          </a:p>
          <a:p>
            <a:pPr lvl="2">
              <a:buClr>
                <a:schemeClr val="tx1"/>
              </a:buClr>
            </a:pPr>
            <a:r>
              <a:rPr lang="sv-SE" sz="180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sv-SE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$(</a:t>
            </a:r>
            <a:r>
              <a:rPr lang="sv-SE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SolutionDir</a:t>
            </a:r>
            <a:r>
              <a:rPr lang="sv-SE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)</a:t>
            </a:r>
            <a:r>
              <a:rPr lang="sv-SE">
                <a:solidFill>
                  <a:schemeClr val="accent2">
                    <a:lumMod val="60000"/>
                    <a:lumOff val="40000"/>
                  </a:schemeClr>
                </a:solidFill>
              </a:rPr>
              <a:t>\</a:t>
            </a:r>
            <a:r>
              <a:rPr lang="sv-SE" err="1">
                <a:solidFill>
                  <a:schemeClr val="tx1"/>
                </a:solidFill>
              </a:rPr>
              <a:t>Intermediate</a:t>
            </a:r>
            <a:r>
              <a:rPr lang="sv-SE">
                <a:solidFill>
                  <a:schemeClr val="accent2">
                    <a:lumMod val="60000"/>
                    <a:lumOff val="40000"/>
                  </a:schemeClr>
                </a:solidFill>
              </a:rPr>
              <a:t>\</a:t>
            </a:r>
            <a:r>
              <a:rPr lang="sv-SE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$(</a:t>
            </a:r>
            <a:r>
              <a:rPr lang="sv-SE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PlatformTarget</a:t>
            </a:r>
            <a:r>
              <a:rPr lang="sv-SE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)</a:t>
            </a:r>
            <a:r>
              <a:rPr lang="sv-SE">
                <a:solidFill>
                  <a:schemeClr val="accent2">
                    <a:lumMod val="60000"/>
                    <a:lumOff val="40000"/>
                  </a:schemeClr>
                </a:solidFill>
              </a:rPr>
              <a:t>-</a:t>
            </a:r>
            <a:r>
              <a:rPr lang="sv-SE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$(</a:t>
            </a:r>
            <a:r>
              <a:rPr lang="sv-SE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Configuration</a:t>
            </a:r>
            <a:r>
              <a:rPr lang="sv-SE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)</a:t>
            </a:r>
            <a:r>
              <a:rPr lang="sv-SE">
                <a:solidFill>
                  <a:schemeClr val="accent2">
                    <a:lumMod val="60000"/>
                    <a:lumOff val="40000"/>
                  </a:schemeClr>
                </a:solidFill>
              </a:rPr>
              <a:t>\</a:t>
            </a:r>
          </a:p>
          <a:p>
            <a:pPr lvl="2"/>
            <a:endParaRPr lang="sv-SE"/>
          </a:p>
          <a:p>
            <a:pPr lvl="1"/>
            <a:endParaRPr lang="sv-SE" i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PROJEKTINSTÄLLNINGAR</a:t>
            </a:r>
          </a:p>
        </p:txBody>
      </p:sp>
      <p:grpSp>
        <p:nvGrpSpPr>
          <p:cNvPr id="5" name="Grupp 4">
            <a:extLst>
              <a:ext uri="{FF2B5EF4-FFF2-40B4-BE49-F238E27FC236}">
                <a16:creationId xmlns:a16="http://schemas.microsoft.com/office/drawing/2014/main" id="{7037A9D4-DD04-4A2B-B6F2-6637C65C67F6}"/>
              </a:ext>
            </a:extLst>
          </p:cNvPr>
          <p:cNvGrpSpPr/>
          <p:nvPr/>
        </p:nvGrpSpPr>
        <p:grpSpPr>
          <a:xfrm>
            <a:off x="2986087" y="4738521"/>
            <a:ext cx="6219825" cy="276226"/>
            <a:chOff x="2477337" y="6442968"/>
            <a:chExt cx="6219825" cy="276226"/>
          </a:xfrm>
        </p:grpSpPr>
        <p:pic>
          <p:nvPicPr>
            <p:cNvPr id="6" name="Bildobjekt 5">
              <a:extLst>
                <a:ext uri="{FF2B5EF4-FFF2-40B4-BE49-F238E27FC236}">
                  <a16:creationId xmlns:a16="http://schemas.microsoft.com/office/drawing/2014/main" id="{01311EA9-9659-48D5-B972-8687F9953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77337" y="6442969"/>
              <a:ext cx="2514600" cy="276225"/>
            </a:xfrm>
            <a:prstGeom prst="rect">
              <a:avLst/>
            </a:prstGeom>
          </p:spPr>
        </p:pic>
        <p:pic>
          <p:nvPicPr>
            <p:cNvPr id="8" name="Bildobjekt 7">
              <a:extLst>
                <a:ext uri="{FF2B5EF4-FFF2-40B4-BE49-F238E27FC236}">
                  <a16:creationId xmlns:a16="http://schemas.microsoft.com/office/drawing/2014/main" id="{E6FAAB20-3B9E-4BBA-BA3D-1256BBEB29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91937" y="6442968"/>
              <a:ext cx="3705225" cy="2762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0836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87E666-E43A-48A0-B54F-ECFC9D740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sv-SE" b="1" i="1"/>
              <a:t>Target </a:t>
            </a:r>
            <a:r>
              <a:rPr lang="sv-SE" b="1" i="1" err="1"/>
              <a:t>Name</a:t>
            </a:r>
            <a:endParaRPr lang="sv-SE" i="1">
              <a:latin typeface="Montserrat Light"/>
            </a:endParaRPr>
          </a:p>
          <a:p>
            <a:pPr lvl="1"/>
            <a:r>
              <a:rPr lang="sv-SE"/>
              <a:t>Namnet på den .</a:t>
            </a:r>
            <a:r>
              <a:rPr lang="sv-SE" err="1"/>
              <a:t>exe</a:t>
            </a:r>
            <a:r>
              <a:rPr lang="sv-SE"/>
              <a:t>-fil som genereras</a:t>
            </a:r>
          </a:p>
          <a:p>
            <a:pPr lvl="1"/>
            <a:r>
              <a:rPr lang="sv-SE">
                <a:latin typeface="Montserrat Light"/>
              </a:rPr>
              <a:t>Default är projektnamnet</a:t>
            </a:r>
          </a:p>
          <a:p>
            <a:pPr lvl="1"/>
            <a:r>
              <a:rPr lang="sv-SE"/>
              <a:t>Det vi väljer här kan vi senare hämta med makrot $(</a:t>
            </a:r>
            <a:r>
              <a:rPr lang="sv-SE" err="1"/>
              <a:t>TargetName</a:t>
            </a:r>
            <a:r>
              <a:rPr lang="sv-SE"/>
              <a:t>)</a:t>
            </a:r>
          </a:p>
          <a:p>
            <a:pPr lvl="1"/>
            <a:r>
              <a:rPr lang="sv-SE"/>
              <a:t>Denna ställer vi ofta in till olika för olika konfigurationer</a:t>
            </a:r>
          </a:p>
          <a:p>
            <a:pPr lvl="2"/>
            <a:r>
              <a:rPr lang="sv-SE"/>
              <a:t>Vanligt att lägga till –d eller liknande i </a:t>
            </a:r>
            <a:r>
              <a:rPr lang="sv-SE" err="1"/>
              <a:t>Debug</a:t>
            </a:r>
            <a:endParaRPr lang="sv-SE"/>
          </a:p>
          <a:p>
            <a:pPr lvl="1"/>
            <a:r>
              <a:rPr lang="sv-SE"/>
              <a:t>Ibland vill vi ha olika namn för 64-bitarsversioner</a:t>
            </a:r>
          </a:p>
          <a:p>
            <a:pPr lvl="2"/>
            <a:r>
              <a:rPr lang="sv-SE"/>
              <a:t>Ex. lägga till ”64” sist i namnet</a:t>
            </a:r>
            <a:endParaRPr lang="sv-SE">
              <a:latin typeface="Consolas" panose="020B0609020204030204" pitchFamily="49" charset="0"/>
            </a:endParaRPr>
          </a:p>
          <a:p>
            <a:pPr lvl="2"/>
            <a:endParaRPr lang="sv-SE"/>
          </a:p>
          <a:p>
            <a:pPr lvl="2"/>
            <a:endParaRPr lang="sv-SE" i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PROJEKTINSTÄLLNINGAR</a:t>
            </a:r>
          </a:p>
        </p:txBody>
      </p:sp>
      <p:pic>
        <p:nvPicPr>
          <p:cNvPr id="3" name="Bildobjekt 3" descr="En bild som visar text&#10;&#10;Automatiskt genererad beskrivning">
            <a:extLst>
              <a:ext uri="{FF2B5EF4-FFF2-40B4-BE49-F238E27FC236}">
                <a16:creationId xmlns:a16="http://schemas.microsoft.com/office/drawing/2014/main" id="{B51785B1-0FDF-4741-ED24-81BE60297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27" y="4266622"/>
            <a:ext cx="6339945" cy="182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254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87E666-E43A-48A0-B54F-ECFC9D740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629" y="1505666"/>
            <a:ext cx="5806355" cy="4191871"/>
          </a:xfrm>
        </p:spPr>
        <p:txBody>
          <a:bodyPr>
            <a:normAutofit lnSpcReduction="10000"/>
          </a:bodyPr>
          <a:lstStyle/>
          <a:p>
            <a:r>
              <a:rPr lang="sv-SE" b="1"/>
              <a:t>Nästa intressanta kategori är </a:t>
            </a:r>
            <a:r>
              <a:rPr lang="sv-SE" b="1" i="1"/>
              <a:t>C/C++</a:t>
            </a:r>
            <a:r>
              <a:rPr lang="sv-SE" b="1"/>
              <a:t> som har två intressanta underkategorier:</a:t>
            </a:r>
            <a:br>
              <a:rPr lang="sv-SE" b="1"/>
            </a:br>
            <a:br>
              <a:rPr lang="sv-SE" b="1"/>
            </a:br>
            <a:r>
              <a:rPr lang="sv-SE" b="1" i="1"/>
              <a:t>General</a:t>
            </a:r>
            <a:r>
              <a:rPr lang="sv-SE" b="1"/>
              <a:t> och </a:t>
            </a:r>
            <a:r>
              <a:rPr lang="sv-SE" b="1" i="1"/>
              <a:t>Preprocessor</a:t>
            </a:r>
            <a:br>
              <a:rPr lang="sv-SE" b="1" i="1"/>
            </a:br>
            <a:endParaRPr lang="sv-SE" i="1"/>
          </a:p>
          <a:p>
            <a:r>
              <a:rPr lang="sv-SE" b="1"/>
              <a:t>Under </a:t>
            </a:r>
            <a:r>
              <a:rPr lang="sv-SE" b="1" i="1"/>
              <a:t>General </a:t>
            </a:r>
            <a:r>
              <a:rPr lang="sv-SE" b="1"/>
              <a:t>har vi </a:t>
            </a:r>
            <a:r>
              <a:rPr lang="sv-SE" b="1" i="1" err="1"/>
              <a:t>Additional</a:t>
            </a:r>
            <a:r>
              <a:rPr lang="sv-SE" b="1" i="1"/>
              <a:t> </a:t>
            </a:r>
            <a:r>
              <a:rPr lang="sv-SE" b="1" i="1" err="1"/>
              <a:t>Include</a:t>
            </a:r>
            <a:r>
              <a:rPr lang="sv-SE" b="1" i="1"/>
              <a:t> </a:t>
            </a:r>
            <a:r>
              <a:rPr lang="sv-SE" b="1" i="1" err="1"/>
              <a:t>Directories</a:t>
            </a:r>
            <a:endParaRPr lang="sv-SE" b="1" i="1"/>
          </a:p>
          <a:p>
            <a:pPr lvl="1"/>
            <a:r>
              <a:rPr lang="sv-SE"/>
              <a:t>Här anger vi de mappar vi vill leta efter </a:t>
            </a:r>
            <a:r>
              <a:rPr lang="sv-SE" err="1"/>
              <a:t>header</a:t>
            </a:r>
            <a:r>
              <a:rPr lang="sv-SE"/>
              <a:t>-filer i</a:t>
            </a:r>
          </a:p>
          <a:p>
            <a:pPr lvl="1"/>
            <a:r>
              <a:rPr lang="sv-SE"/>
              <a:t>Ange en mapp på varje rad!</a:t>
            </a:r>
          </a:p>
          <a:p>
            <a:pPr lvl="1"/>
            <a:r>
              <a:rPr lang="sv-SE"/>
              <a:t>Används ofta när vi ska inkludera bibliotek</a:t>
            </a:r>
          </a:p>
          <a:p>
            <a:pPr lvl="1"/>
            <a:r>
              <a:rPr lang="sv-SE"/>
              <a:t>Denna ställer vi ofta in till olika beroende på plattform</a:t>
            </a:r>
          </a:p>
          <a:p>
            <a:pPr lvl="2"/>
            <a:r>
              <a:rPr lang="sv-SE"/>
              <a:t>Vi har ofta 32- och 64-bitarsverisonerna av biblioteket i olika mappar</a:t>
            </a:r>
          </a:p>
          <a:p>
            <a:pPr lvl="2"/>
            <a:endParaRPr lang="sv-SE"/>
          </a:p>
          <a:p>
            <a:pPr lvl="1"/>
            <a:endParaRPr lang="sv-SE"/>
          </a:p>
          <a:p>
            <a:pPr lvl="2"/>
            <a:endParaRPr lang="sv-SE"/>
          </a:p>
          <a:p>
            <a:pPr lvl="2"/>
            <a:endParaRPr lang="sv-SE" i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PROJEKTINSTÄLLNINGAR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3236A720-73C8-4586-A09E-34C213769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984" y="1613613"/>
            <a:ext cx="5238254" cy="363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313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87E666-E43A-48A0-B54F-ECFC9D740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Under </a:t>
            </a:r>
            <a:r>
              <a:rPr lang="sv-SE" b="1" i="1"/>
              <a:t>Preprocessor</a:t>
            </a:r>
            <a:r>
              <a:rPr lang="sv-SE" b="1"/>
              <a:t> har vi </a:t>
            </a:r>
            <a:r>
              <a:rPr lang="sv-SE" b="1" i="1"/>
              <a:t>Preprocessor Definitions</a:t>
            </a:r>
            <a:endParaRPr lang="sv-SE" b="1"/>
          </a:p>
          <a:p>
            <a:pPr lvl="1"/>
            <a:r>
              <a:rPr lang="sv-SE"/>
              <a:t>Här kan vi lägga till </a:t>
            </a:r>
            <a:r>
              <a:rPr lang="sv-SE" i="1" err="1"/>
              <a:t>Defines</a:t>
            </a:r>
            <a:br>
              <a:rPr lang="sv-SE" i="1"/>
            </a:br>
            <a:endParaRPr lang="sv-SE"/>
          </a:p>
          <a:p>
            <a:pPr lvl="1"/>
            <a:r>
              <a:rPr lang="sv-SE"/>
              <a:t>Vi får vissa gratis, ex</a:t>
            </a:r>
          </a:p>
          <a:p>
            <a:pPr lvl="2"/>
            <a:r>
              <a:rPr lang="sv-SE"/>
              <a:t>WIN32	om vi kompilerar 32-bitar</a:t>
            </a:r>
          </a:p>
          <a:p>
            <a:pPr lvl="2"/>
            <a:r>
              <a:rPr lang="sv-SE"/>
              <a:t>_DEBUG	om vi kompilerar </a:t>
            </a:r>
            <a:r>
              <a:rPr lang="sv-SE" err="1"/>
              <a:t>Debug</a:t>
            </a:r>
            <a:endParaRPr lang="sv-SE"/>
          </a:p>
          <a:p>
            <a:pPr lvl="2"/>
            <a:r>
              <a:rPr lang="sv-SE"/>
              <a:t>NDEBUG	om vi kompilerar Release</a:t>
            </a:r>
          </a:p>
          <a:p>
            <a:pPr lvl="2"/>
            <a:r>
              <a:rPr lang="sv-SE"/>
              <a:t>_CONSOLE	om vi kör ett konsol-projekt</a:t>
            </a:r>
          </a:p>
          <a:p>
            <a:pPr lvl="1"/>
            <a:endParaRPr lang="sv-SE"/>
          </a:p>
          <a:p>
            <a:pPr lvl="1"/>
            <a:r>
              <a:rPr lang="sv-SE"/>
              <a:t>Är främst intressant när vi ska kompilera egna bibliotek då vi</a:t>
            </a:r>
            <a:br>
              <a:rPr lang="sv-SE"/>
            </a:br>
            <a:r>
              <a:rPr lang="sv-SE"/>
              <a:t>lägger till </a:t>
            </a:r>
            <a:r>
              <a:rPr lang="sv-SE">
                <a:latin typeface="Consolas" panose="020B0609020204030204" pitchFamily="49" charset="0"/>
              </a:rPr>
              <a:t>COMMON_UTILITIES_EXPORTS</a:t>
            </a:r>
          </a:p>
          <a:p>
            <a:pPr lvl="1"/>
            <a:endParaRPr lang="sv-SE" sz="2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PROJEKTINSTÄLLNINGAR</a:t>
            </a:r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F286D2EC-51FC-4FC0-98BA-6A5153CFD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560" y="1783552"/>
            <a:ext cx="4732907" cy="329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325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87E666-E43A-48A0-B54F-ECFC9D740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629" y="1505666"/>
            <a:ext cx="6362075" cy="4191871"/>
          </a:xfrm>
        </p:spPr>
        <p:txBody>
          <a:bodyPr>
            <a:normAutofit/>
          </a:bodyPr>
          <a:lstStyle/>
          <a:p>
            <a:r>
              <a:rPr lang="sv-SE" b="1"/>
              <a:t>Slutligen har vi ett par intressanta inställningar i kategorin </a:t>
            </a:r>
            <a:r>
              <a:rPr lang="sv-SE" b="1" i="1" err="1"/>
              <a:t>Linker</a:t>
            </a:r>
            <a:br>
              <a:rPr lang="sv-SE" b="1" i="1"/>
            </a:br>
            <a:endParaRPr lang="sv-SE" b="1" i="1"/>
          </a:p>
          <a:p>
            <a:r>
              <a:rPr lang="sv-SE" b="1" i="1" err="1"/>
              <a:t>Additional</a:t>
            </a:r>
            <a:r>
              <a:rPr lang="sv-SE" b="1" i="1"/>
              <a:t> </a:t>
            </a:r>
            <a:r>
              <a:rPr lang="sv-SE" b="1" i="1" err="1"/>
              <a:t>Library</a:t>
            </a:r>
            <a:r>
              <a:rPr lang="sv-SE" b="1" i="1"/>
              <a:t> </a:t>
            </a:r>
            <a:r>
              <a:rPr lang="sv-SE" b="1" i="1" err="1"/>
              <a:t>Directories</a:t>
            </a:r>
            <a:r>
              <a:rPr lang="sv-SE" b="1"/>
              <a:t> kan </a:t>
            </a:r>
            <a:r>
              <a:rPr lang="sv-SE"/>
              <a:t>vi använda när vi ska inkludera bibliotek</a:t>
            </a:r>
          </a:p>
          <a:p>
            <a:pPr lvl="1"/>
            <a:r>
              <a:rPr lang="sv-SE"/>
              <a:t>Fungerar likt </a:t>
            </a:r>
            <a:r>
              <a:rPr lang="sv-SE" i="1" err="1"/>
              <a:t>Additional</a:t>
            </a:r>
            <a:r>
              <a:rPr lang="sv-SE" i="1"/>
              <a:t> </a:t>
            </a:r>
            <a:r>
              <a:rPr lang="sv-SE" i="1" err="1"/>
              <a:t>Include</a:t>
            </a:r>
            <a:r>
              <a:rPr lang="sv-SE" i="1"/>
              <a:t> </a:t>
            </a:r>
            <a:r>
              <a:rPr lang="sv-SE" i="1" err="1"/>
              <a:t>Directories</a:t>
            </a:r>
            <a:r>
              <a:rPr lang="sv-SE"/>
              <a:t> under </a:t>
            </a:r>
            <a:r>
              <a:rPr lang="sv-SE" i="1"/>
              <a:t>C/C++</a:t>
            </a:r>
            <a:r>
              <a:rPr lang="sv-SE"/>
              <a:t> -&gt; </a:t>
            </a:r>
            <a:r>
              <a:rPr lang="sv-SE" i="1"/>
              <a:t>General</a:t>
            </a:r>
            <a:endParaRPr lang="sv-SE"/>
          </a:p>
          <a:p>
            <a:pPr lvl="1"/>
            <a:r>
              <a:rPr lang="sv-SE"/>
              <a:t>Ange de mappar vi vill leta efter .</a:t>
            </a:r>
            <a:r>
              <a:rPr lang="sv-SE" err="1"/>
              <a:t>lib</a:t>
            </a:r>
            <a:r>
              <a:rPr lang="sv-SE"/>
              <a:t>-filer i</a:t>
            </a:r>
          </a:p>
          <a:p>
            <a:pPr lvl="1"/>
            <a:r>
              <a:rPr lang="sv-SE"/>
              <a:t>En mapp per rad!</a:t>
            </a:r>
          </a:p>
          <a:p>
            <a:pPr lvl="1"/>
            <a:r>
              <a:rPr lang="sv-SE"/>
              <a:t>Denna ställer vi ofta in till </a:t>
            </a:r>
            <a:r>
              <a:rPr lang="sv-SE" err="1"/>
              <a:t>olikaberoende</a:t>
            </a:r>
            <a:r>
              <a:rPr lang="sv-SE"/>
              <a:t> på plattform</a:t>
            </a:r>
          </a:p>
          <a:p>
            <a:pPr lvl="2"/>
            <a:r>
              <a:rPr lang="sv-SE"/>
              <a:t>Vi har ofta 32- och 64-bitarsverisonerna av biblioteket i olika mappar.</a:t>
            </a:r>
          </a:p>
          <a:p>
            <a:pPr lvl="1"/>
            <a:endParaRPr lang="sv-SE" sz="2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PROJEKTINSTÄLLNINGAR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F4BFC0E1-8829-47CF-A493-229D94C3F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668" y="1953960"/>
            <a:ext cx="4732907" cy="3295281"/>
          </a:xfrm>
          <a:prstGeom prst="rect">
            <a:avLst/>
          </a:prstGeom>
        </p:spPr>
      </p:pic>
      <p:pic>
        <p:nvPicPr>
          <p:cNvPr id="5" name="Bildobjekt 4">
            <a:extLst>
              <a:ext uri="{FF2B5EF4-FFF2-40B4-BE49-F238E27FC236}">
                <a16:creationId xmlns:a16="http://schemas.microsoft.com/office/drawing/2014/main" id="{913B4835-BD97-4E06-A39C-4F08B9BC6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6853" y="5502274"/>
            <a:ext cx="3095625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020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87E666-E43A-48A0-B54F-ECFC9D740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629" y="1505666"/>
            <a:ext cx="6069467" cy="4191871"/>
          </a:xfrm>
        </p:spPr>
        <p:txBody>
          <a:bodyPr>
            <a:normAutofit/>
          </a:bodyPr>
          <a:lstStyle/>
          <a:p>
            <a:r>
              <a:rPr lang="sv-SE" b="1"/>
              <a:t>Under </a:t>
            </a:r>
            <a:r>
              <a:rPr lang="sv-SE" b="1" i="1"/>
              <a:t>Input</a:t>
            </a:r>
            <a:r>
              <a:rPr lang="sv-SE" b="1"/>
              <a:t> hittar vi </a:t>
            </a:r>
            <a:r>
              <a:rPr lang="sv-SE" b="1" err="1"/>
              <a:t>Additional</a:t>
            </a:r>
            <a:r>
              <a:rPr lang="sv-SE" b="1"/>
              <a:t> </a:t>
            </a:r>
            <a:r>
              <a:rPr lang="sv-SE" b="1" err="1"/>
              <a:t>Dependencies</a:t>
            </a:r>
            <a:endParaRPr lang="sv-SE" b="1"/>
          </a:p>
          <a:p>
            <a:pPr lvl="1"/>
            <a:r>
              <a:rPr lang="sv-SE"/>
              <a:t>Här listar vi de .</a:t>
            </a:r>
            <a:r>
              <a:rPr lang="sv-SE" err="1"/>
              <a:t>lib</a:t>
            </a:r>
            <a:r>
              <a:rPr lang="sv-SE"/>
              <a:t>-filer vi vill använda</a:t>
            </a:r>
          </a:p>
          <a:p>
            <a:pPr lvl="1"/>
            <a:r>
              <a:rPr lang="sv-SE"/>
              <a:t>Ett filnamn per rad!</a:t>
            </a:r>
          </a:p>
          <a:p>
            <a:pPr lvl="1"/>
            <a:r>
              <a:rPr lang="sv-SE"/>
              <a:t>Denna ställer vi ofta in olika beroende på konfiguration</a:t>
            </a:r>
          </a:p>
          <a:p>
            <a:pPr lvl="2"/>
            <a:r>
              <a:rPr lang="sv-SE" err="1"/>
              <a:t>Debug</a:t>
            </a:r>
            <a:r>
              <a:rPr lang="sv-SE"/>
              <a:t>-versioner har ofta ett –d eller liknande i namnet på .</a:t>
            </a:r>
            <a:r>
              <a:rPr lang="sv-SE" err="1"/>
              <a:t>lib</a:t>
            </a:r>
            <a:r>
              <a:rPr lang="sv-SE"/>
              <a:t>-filerna</a:t>
            </a:r>
          </a:p>
          <a:p>
            <a:pPr lvl="2"/>
            <a:r>
              <a:rPr lang="sv-SE"/>
              <a:t>Ofta heter .</a:t>
            </a:r>
            <a:r>
              <a:rPr lang="sv-SE" err="1"/>
              <a:t>lib</a:t>
            </a:r>
            <a:r>
              <a:rPr lang="sv-SE"/>
              <a:t>-filerna samma sak oberoende av plattform, så vi behöver inte ställa in olika namn för 32- och 64-bitarsplattformarna</a:t>
            </a:r>
          </a:p>
          <a:p>
            <a:pPr lvl="1"/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PROJEKTINSTÄLLNINGAR</a:t>
            </a:r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EFAC5826-27DE-4949-BBF1-EFB7510D0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549" y="4961809"/>
            <a:ext cx="3095625" cy="390525"/>
          </a:xfrm>
          <a:prstGeom prst="rect">
            <a:avLst/>
          </a:prstGeom>
        </p:spPr>
      </p:pic>
      <p:pic>
        <p:nvPicPr>
          <p:cNvPr id="3" name="Bildobjekt 2">
            <a:extLst>
              <a:ext uri="{FF2B5EF4-FFF2-40B4-BE49-F238E27FC236}">
                <a16:creationId xmlns:a16="http://schemas.microsoft.com/office/drawing/2014/main" id="{16FCD6B0-C22B-4C43-AEAA-D5434DF690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907" y="1781359"/>
            <a:ext cx="4753848" cy="329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859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6AF83-AE25-9045-96A5-E784B21F6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derrubrik 2">
            <a:extLst>
              <a:ext uri="{FF2B5EF4-FFF2-40B4-BE49-F238E27FC236}">
                <a16:creationId xmlns:a16="http://schemas.microsoft.com/office/drawing/2014/main" id="{A7D23263-3D10-A405-FE84-E773FF3C80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/>
              <a:t>Introduktion till C++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DEDF7A5-8D2B-9602-2374-DD0A6D8FDB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/>
              <a:t>KONFIGURATIONER</a:t>
            </a:r>
          </a:p>
        </p:txBody>
      </p:sp>
    </p:spTree>
    <p:extLst>
      <p:ext uri="{BB962C8B-B14F-4D97-AF65-F5344CB8AC3E}">
        <p14:creationId xmlns:p14="http://schemas.microsoft.com/office/powerpoint/2010/main" val="286322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När vi skapar ett nytt projekt får vi automatiskt konfigurationer för både 32- och 64-bitarsplattform</a:t>
            </a:r>
            <a:br>
              <a:rPr lang="sv-SE" b="1"/>
            </a:br>
            <a:endParaRPr lang="sv-SE" b="1"/>
          </a:p>
          <a:p>
            <a:r>
              <a:rPr lang="sv-SE" b="1"/>
              <a:t>Detta kan vi sedan ändra för vårt projekt</a:t>
            </a:r>
            <a:br>
              <a:rPr lang="sv-SE" b="1"/>
            </a:br>
            <a:endParaRPr lang="sv-SE" b="1"/>
          </a:p>
          <a:p>
            <a:r>
              <a:rPr lang="sv-SE" b="1"/>
              <a:t>Klicka på </a:t>
            </a:r>
            <a:r>
              <a:rPr lang="sv-SE" b="1" i="1" err="1"/>
              <a:t>Build</a:t>
            </a:r>
            <a:r>
              <a:rPr lang="sv-SE" b="1"/>
              <a:t> -&gt; </a:t>
            </a:r>
            <a:r>
              <a:rPr lang="sv-SE" b="1" i="1" err="1"/>
              <a:t>Configuration</a:t>
            </a:r>
            <a:r>
              <a:rPr lang="sv-SE" b="1" i="1"/>
              <a:t> Manager</a:t>
            </a:r>
            <a:endParaRPr lang="sv-SE" b="1"/>
          </a:p>
          <a:p>
            <a:pPr lvl="1"/>
            <a:r>
              <a:rPr lang="sv-SE"/>
              <a:t>Den går även att hitta i listrutorna för konfiguration </a:t>
            </a:r>
            <a:br>
              <a:rPr lang="sv-SE"/>
            </a:br>
            <a:r>
              <a:rPr lang="sv-SE"/>
              <a:t>(</a:t>
            </a:r>
            <a:r>
              <a:rPr lang="sv-SE" err="1"/>
              <a:t>Debug</a:t>
            </a:r>
            <a:r>
              <a:rPr lang="sv-SE"/>
              <a:t>/Release) och plattform (x86/x64)</a:t>
            </a:r>
          </a:p>
          <a:p>
            <a:pPr lvl="1"/>
            <a:endParaRPr lang="sv-SE" i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KONFIGURATIONER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10C6D76C-9265-429C-9C94-849C19E38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7137" y="2566417"/>
            <a:ext cx="4133659" cy="313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653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629" y="2240280"/>
            <a:ext cx="5820023" cy="3457257"/>
          </a:xfrm>
        </p:spPr>
        <p:txBody>
          <a:bodyPr>
            <a:normAutofit/>
          </a:bodyPr>
          <a:lstStyle/>
          <a:p>
            <a:r>
              <a:rPr lang="sv-SE" b="1"/>
              <a:t>Här kan vi se vilka inställningar som är gjorda för våra olika konfigurationer och plattformar</a:t>
            </a:r>
          </a:p>
          <a:p>
            <a:pPr lvl="1"/>
            <a:r>
              <a:rPr lang="sv-SE"/>
              <a:t>Vi kan även ändra inställningarna</a:t>
            </a:r>
          </a:p>
          <a:p>
            <a:pPr lvl="1"/>
            <a:r>
              <a:rPr lang="sv-SE"/>
              <a:t>Ändra inte de befintliga konfigurationerna/plattformarna</a:t>
            </a:r>
            <a:br>
              <a:rPr lang="sv-SE"/>
            </a:br>
            <a:r>
              <a:rPr lang="sv-SE"/>
              <a:t>om du inte vet vad du gör!</a:t>
            </a:r>
          </a:p>
          <a:p>
            <a:pPr lvl="2"/>
            <a:r>
              <a:rPr lang="sv-SE"/>
              <a:t>Skapa istället nya att leka med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KONFIGURATIONER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91F24C35-7CA4-4330-B2E9-DDAB3A649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6734" y="2240280"/>
            <a:ext cx="5045841" cy="319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744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629" y="2240280"/>
            <a:ext cx="5682371" cy="3457257"/>
          </a:xfrm>
        </p:spPr>
        <p:txBody>
          <a:bodyPr>
            <a:normAutofit/>
          </a:bodyPr>
          <a:lstStyle/>
          <a:p>
            <a:r>
              <a:rPr lang="sv-SE" b="1"/>
              <a:t>Vi kan skapa nya genom att klicka på listrutan för konfiguration/plattform och välja &lt;New…&gt;</a:t>
            </a:r>
          </a:p>
          <a:p>
            <a:pPr lvl="1"/>
            <a:r>
              <a:rPr lang="sv-SE"/>
              <a:t>Välj ett namn</a:t>
            </a:r>
          </a:p>
          <a:p>
            <a:pPr lvl="1"/>
            <a:r>
              <a:rPr lang="sv-SE"/>
              <a:t>Välj en befintlig konfiguration/</a:t>
            </a:r>
            <a:br>
              <a:rPr lang="sv-SE"/>
            </a:br>
            <a:r>
              <a:rPr lang="sv-SE"/>
              <a:t>plattform att kopiera</a:t>
            </a:r>
          </a:p>
          <a:p>
            <a:pPr lvl="1"/>
            <a:r>
              <a:rPr lang="sv-SE"/>
              <a:t>Sedan kan du ändra inställningarna</a:t>
            </a:r>
          </a:p>
          <a:p>
            <a:pPr lvl="1"/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KONFIGURATIONER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0CD32232-2A34-4A9D-BE2E-1948CD090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863" y="1833886"/>
            <a:ext cx="5060360" cy="3190227"/>
          </a:xfrm>
          <a:prstGeom prst="rect">
            <a:avLst/>
          </a:prstGeom>
        </p:spPr>
      </p:pic>
      <p:pic>
        <p:nvPicPr>
          <p:cNvPr id="6" name="Bildobjekt 5">
            <a:extLst>
              <a:ext uri="{FF2B5EF4-FFF2-40B4-BE49-F238E27FC236}">
                <a16:creationId xmlns:a16="http://schemas.microsoft.com/office/drawing/2014/main" id="{64D77873-E21F-4BB3-A8AE-CE02B8B2EF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475" y="3776776"/>
            <a:ext cx="4124325" cy="2181225"/>
          </a:xfrm>
          <a:prstGeom prst="rect">
            <a:avLst/>
          </a:prstGeom>
        </p:spPr>
      </p:pic>
      <p:sp>
        <p:nvSpPr>
          <p:cNvPr id="7" name="Rektangel 6">
            <a:extLst>
              <a:ext uri="{FF2B5EF4-FFF2-40B4-BE49-F238E27FC236}">
                <a16:creationId xmlns:a16="http://schemas.microsoft.com/office/drawing/2014/main" id="{7FCBE189-5A19-4AF9-BF13-E4A05F65A244}"/>
              </a:ext>
            </a:extLst>
          </p:cNvPr>
          <p:cNvSpPr/>
          <p:nvPr/>
        </p:nvSpPr>
        <p:spPr>
          <a:xfrm>
            <a:off x="8123802" y="3226850"/>
            <a:ext cx="982413" cy="2021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62123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objekt 8">
            <a:extLst>
              <a:ext uri="{FF2B5EF4-FFF2-40B4-BE49-F238E27FC236}">
                <a16:creationId xmlns:a16="http://schemas.microsoft.com/office/drawing/2014/main" id="{72BAA7E4-4F6F-469D-916D-945004C56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862" y="1833885"/>
            <a:ext cx="5051189" cy="319022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629" y="2240280"/>
            <a:ext cx="6078709" cy="3457257"/>
          </a:xfrm>
        </p:spPr>
        <p:txBody>
          <a:bodyPr>
            <a:normAutofit/>
          </a:bodyPr>
          <a:lstStyle/>
          <a:p>
            <a:r>
              <a:rPr lang="sv-SE" b="1"/>
              <a:t>Om vi vill ta bort en konfiguration klickar vi i listrutan och väljer alternativet &lt;Edit…&gt;</a:t>
            </a:r>
          </a:p>
          <a:p>
            <a:pPr lvl="1"/>
            <a:r>
              <a:rPr lang="sv-SE"/>
              <a:t>Då får vi en lista över de vi har</a:t>
            </a:r>
          </a:p>
          <a:p>
            <a:pPr lvl="1"/>
            <a:r>
              <a:rPr lang="sv-SE"/>
              <a:t>Välj den du vill ta bort och klicka på </a:t>
            </a:r>
            <a:r>
              <a:rPr lang="sv-SE" i="1" err="1"/>
              <a:t>Remove</a:t>
            </a:r>
            <a:br>
              <a:rPr lang="sv-SE" i="1"/>
            </a:br>
            <a:endParaRPr lang="sv-SE" i="1"/>
          </a:p>
          <a:p>
            <a:r>
              <a:rPr lang="sv-SE" b="1"/>
              <a:t>Att</a:t>
            </a:r>
            <a:r>
              <a:rPr lang="sv-SE" b="1" i="1"/>
              <a:t> </a:t>
            </a:r>
            <a:r>
              <a:rPr lang="sv-SE" b="1"/>
              <a:t>ta bort en plattform fungerar precis likadant</a:t>
            </a:r>
          </a:p>
          <a:p>
            <a:pPr lvl="1"/>
            <a:r>
              <a:rPr lang="sv-SE"/>
              <a:t>Ofta vill vi ta bort 32-bitarsplattformen då vi mest</a:t>
            </a:r>
            <a:br>
              <a:rPr lang="sv-SE"/>
            </a:br>
            <a:r>
              <a:rPr lang="sv-SE"/>
              <a:t>kommer att använda 64-bitar</a:t>
            </a:r>
          </a:p>
          <a:p>
            <a:endParaRPr lang="sv-SE"/>
          </a:p>
          <a:p>
            <a:pPr lvl="1"/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KONFIGURATIONER</a:t>
            </a: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7FCBE189-5A19-4AF9-BF13-E4A05F65A244}"/>
              </a:ext>
            </a:extLst>
          </p:cNvPr>
          <p:cNvSpPr/>
          <p:nvPr/>
        </p:nvSpPr>
        <p:spPr>
          <a:xfrm>
            <a:off x="9091098" y="3219293"/>
            <a:ext cx="982413" cy="2021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F88C2110-A19B-4BC9-BB29-4C3A3ADA6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676846"/>
            <a:ext cx="3841488" cy="2937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46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69AEF-0470-D7E0-53B0-9C6A5181D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derrubrik 2">
            <a:extLst>
              <a:ext uri="{FF2B5EF4-FFF2-40B4-BE49-F238E27FC236}">
                <a16:creationId xmlns:a16="http://schemas.microsoft.com/office/drawing/2014/main" id="{841C3325-30C9-8214-19EC-C793848C86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/>
              <a:t>Introduktion till C++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A2CC3EEB-4595-B270-3A28-1BAFC3F83C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/>
              <a:t>LÄNKA IN BIBLIOTEK</a:t>
            </a:r>
          </a:p>
        </p:txBody>
      </p:sp>
    </p:spTree>
    <p:extLst>
      <p:ext uri="{BB962C8B-B14F-4D97-AF65-F5344CB8AC3E}">
        <p14:creationId xmlns:p14="http://schemas.microsoft.com/office/powerpoint/2010/main" val="2442088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8F1B2DA-8EF5-ABBF-BC22-6CC3A1C4A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När vi använder kod från andra projekt har vi två alternativ:</a:t>
            </a:r>
          </a:p>
          <a:p>
            <a:pPr lvl="1"/>
            <a:r>
              <a:rPr lang="sv-SE"/>
              <a:t>Använda ett färdigbyggt bibliotek</a:t>
            </a:r>
          </a:p>
          <a:p>
            <a:pPr lvl="1"/>
            <a:r>
              <a:rPr lang="sv-SE"/>
              <a:t>Sätta upp koden som ett projekt i vår solution och kompilera själv</a:t>
            </a:r>
          </a:p>
          <a:p>
            <a:pPr lvl="1"/>
            <a:endParaRPr lang="sv-SE"/>
          </a:p>
          <a:p>
            <a:r>
              <a:rPr lang="sv-SE" b="1"/>
              <a:t>Vissa saker kan vi inte bygga själva:</a:t>
            </a:r>
          </a:p>
          <a:p>
            <a:pPr lvl="1"/>
            <a:r>
              <a:rPr lang="sv-SE"/>
              <a:t>Stängd källkod, delar av operativsystem mm</a:t>
            </a:r>
          </a:p>
          <a:p>
            <a:pPr lvl="1"/>
            <a:endParaRPr lang="sv-SE"/>
          </a:p>
          <a:p>
            <a:r>
              <a:rPr lang="sv-SE" b="1"/>
              <a:t>Men annars är det att föredra</a:t>
            </a:r>
          </a:p>
          <a:p>
            <a:pPr lvl="1"/>
            <a:r>
              <a:rPr lang="sv-SE"/>
              <a:t>Gör det lättare att stödja flera plattformar, ändra hur kod kompileras och </a:t>
            </a:r>
            <a:r>
              <a:rPr lang="sv-SE" err="1"/>
              <a:t>debugga</a:t>
            </a:r>
            <a:r>
              <a:rPr lang="sv-SE"/>
              <a:t>!</a:t>
            </a:r>
          </a:p>
          <a:p>
            <a:pPr lvl="1"/>
            <a:endParaRPr lang="sv-SE"/>
          </a:p>
          <a:p>
            <a:r>
              <a:rPr lang="sv-SE" b="1"/>
              <a:t>Men nu tittar vi på hur vi använder </a:t>
            </a:r>
            <a:r>
              <a:rPr lang="sv-SE" b="1" err="1"/>
              <a:t>färdigabyggda</a:t>
            </a:r>
            <a:r>
              <a:rPr lang="sv-SE" b="1"/>
              <a:t> bibliotek</a:t>
            </a:r>
            <a:r>
              <a:rPr lang="sv-SE"/>
              <a:t>! 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655716FD-0A42-60F2-DB9F-8EAE35D92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LÄNKA IN BIBLIOTEK</a:t>
            </a:r>
          </a:p>
        </p:txBody>
      </p:sp>
    </p:spTree>
    <p:extLst>
      <p:ext uri="{BB962C8B-B14F-4D97-AF65-F5344CB8AC3E}">
        <p14:creationId xmlns:p14="http://schemas.microsoft.com/office/powerpoint/2010/main" val="291478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87E666-E43A-48A0-B54F-ECFC9D740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För att använda ett bibliotek i vårt projekt behöver vi gå igenom följande steg: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/>
              <a:t>Ladda ner biblioteket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/>
              <a:t>Installera/packa upp biblioteket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/>
              <a:t>Ställa in vår IDE (Visual Studio) så att den hittar </a:t>
            </a:r>
            <a:r>
              <a:rPr lang="sv-SE" err="1"/>
              <a:t>header</a:t>
            </a:r>
            <a:r>
              <a:rPr lang="sv-SE"/>
              <a:t>-filer och .</a:t>
            </a:r>
            <a:r>
              <a:rPr lang="sv-SE" err="1"/>
              <a:t>lib</a:t>
            </a:r>
            <a:r>
              <a:rPr lang="sv-SE"/>
              <a:t>-filer för projektet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/>
              <a:t>Ange vilka biblioteksfiler som ska länkas in</a:t>
            </a:r>
            <a:br>
              <a:rPr lang="sv-SE"/>
            </a:br>
            <a:r>
              <a:rPr lang="sv-SE"/>
              <a:t>[Statiska bibliotek/Importbibliotek]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/>
              <a:t>Inkludera de </a:t>
            </a:r>
            <a:r>
              <a:rPr lang="sv-SE" err="1"/>
              <a:t>header</a:t>
            </a:r>
            <a:r>
              <a:rPr lang="sv-SE"/>
              <a:t>-filer du behöver använda i de filer där de behövs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/>
              <a:t>Se till att </a:t>
            </a:r>
            <a:r>
              <a:rPr lang="sv-SE" err="1"/>
              <a:t>IDE:n</a:t>
            </a:r>
            <a:r>
              <a:rPr lang="sv-SE"/>
              <a:t> kan hitta de .</a:t>
            </a:r>
            <a:r>
              <a:rPr lang="sv-SE" err="1"/>
              <a:t>dll-filer</a:t>
            </a:r>
            <a:r>
              <a:rPr lang="sv-SE"/>
              <a:t> som behövs [Dynamiska bibliotek]</a:t>
            </a:r>
          </a:p>
          <a:p>
            <a:pPr lvl="1"/>
            <a:endParaRPr lang="sv-SE"/>
          </a:p>
          <a:p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LÄNKA IN BIBLIOTEK</a:t>
            </a:r>
          </a:p>
        </p:txBody>
      </p:sp>
    </p:spTree>
    <p:extLst>
      <p:ext uri="{BB962C8B-B14F-4D97-AF65-F5344CB8AC3E}">
        <p14:creationId xmlns:p14="http://schemas.microsoft.com/office/powerpoint/2010/main" val="2433820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87E666-E43A-48A0-B54F-ECFC9D740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Vi behöver hitta en version av biblioteket som:</a:t>
            </a:r>
          </a:p>
          <a:p>
            <a:pPr lvl="1"/>
            <a:r>
              <a:rPr lang="sv-SE"/>
              <a:t>Stämmer överens med det operativsystem vi använder</a:t>
            </a:r>
          </a:p>
          <a:p>
            <a:pPr lvl="1"/>
            <a:r>
              <a:rPr lang="sv-SE"/>
              <a:t>Stämmer överens med den plattform vi vill </a:t>
            </a:r>
            <a:r>
              <a:rPr lang="sv-SE" i="1"/>
              <a:t>kompilera </a:t>
            </a:r>
            <a:r>
              <a:rPr lang="sv-SE" b="1" i="1"/>
              <a:t>för</a:t>
            </a:r>
            <a:r>
              <a:rPr lang="sv-SE"/>
              <a:t> (32-bit eller 64-bit)</a:t>
            </a:r>
          </a:p>
          <a:p>
            <a:pPr lvl="2"/>
            <a:r>
              <a:rPr lang="sv-SE"/>
              <a:t>Om man vill använda båda plattformarna krävs en version för var plattform</a:t>
            </a:r>
          </a:p>
          <a:p>
            <a:pPr lvl="1"/>
            <a:r>
              <a:rPr lang="sv-SE"/>
              <a:t>Stämmer överens med den kompilator vi använder</a:t>
            </a:r>
          </a:p>
          <a:p>
            <a:r>
              <a:rPr lang="sv-SE" b="1"/>
              <a:t>Ofta finns förkompilerade versioner som passar in</a:t>
            </a:r>
          </a:p>
          <a:p>
            <a:r>
              <a:rPr lang="sv-SE" b="1"/>
              <a:t>Om det inte finns förkompilerade versioner måste vi ladda ner källkoden och kompilera biblioteket själva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1 – LADDA NER BIBLIOTEKET</a:t>
            </a:r>
          </a:p>
        </p:txBody>
      </p:sp>
    </p:spTree>
    <p:extLst>
      <p:ext uri="{BB962C8B-B14F-4D97-AF65-F5344CB8AC3E}">
        <p14:creationId xmlns:p14="http://schemas.microsoft.com/office/powerpoint/2010/main" val="383128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87E666-E43A-48A0-B54F-ECFC9D740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Ett bibliotek med en </a:t>
            </a:r>
            <a:r>
              <a:rPr lang="sv-SE" b="1" i="1"/>
              <a:t>mycket</a:t>
            </a:r>
            <a:r>
              <a:rPr lang="sv-SE" b="1"/>
              <a:t> bra </a:t>
            </a:r>
            <a:r>
              <a:rPr lang="sv-SE" b="1" err="1"/>
              <a:t>tutorial</a:t>
            </a:r>
            <a:r>
              <a:rPr lang="sv-SE" b="1"/>
              <a:t> är SFML för 2D-grafik</a:t>
            </a:r>
          </a:p>
          <a:p>
            <a:pPr lvl="1"/>
            <a:r>
              <a:rPr lang="sv-SE">
                <a:hlinkClick r:id="rId3"/>
              </a:rPr>
              <a:t>https://www.sfml-dev.org/tutorials/2.5/start-vc.php</a:t>
            </a:r>
            <a:endParaRPr lang="sv-SE"/>
          </a:p>
          <a:p>
            <a:pPr lvl="1"/>
            <a:r>
              <a:rPr lang="sv-SE"/>
              <a:t>Gå gärna genom den för att träna på att länka in bibliotek</a:t>
            </a:r>
          </a:p>
          <a:p>
            <a:pPr lvl="1"/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1 – LADDA NER BIBLIOTEKET</a:t>
            </a:r>
          </a:p>
        </p:txBody>
      </p:sp>
    </p:spTree>
    <p:extLst>
      <p:ext uri="{BB962C8B-B14F-4D97-AF65-F5344CB8AC3E}">
        <p14:creationId xmlns:p14="http://schemas.microsoft.com/office/powerpoint/2010/main" val="1027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87E666-E43A-48A0-B54F-ECFC9D740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Det finns tre filosofier: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/>
              <a:t>Installera alla bibliotek på ett och samma ställe på hårddisken så att de är lätta att hitta</a:t>
            </a:r>
          </a:p>
          <a:p>
            <a:pPr lvl="2"/>
            <a:r>
              <a:rPr lang="sv-SE"/>
              <a:t>Tar mindre plats</a:t>
            </a:r>
          </a:p>
          <a:p>
            <a:pPr lvl="2"/>
            <a:r>
              <a:rPr lang="sv-SE"/>
              <a:t>Lätt att hitta projekten</a:t>
            </a:r>
          </a:p>
          <a:p>
            <a:pPr lvl="2"/>
            <a:r>
              <a:rPr lang="sv-SE"/>
              <a:t>Behöver system för att hantera beroenden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/>
              <a:t>Lägg biblioteken i projektmappen så att det är lättare att jobba på projektet på olika datorer</a:t>
            </a:r>
          </a:p>
          <a:p>
            <a:pPr lvl="2"/>
            <a:r>
              <a:rPr lang="sv-SE"/>
              <a:t>En person med flera arbetsstationer eller en grupp med flera personer</a:t>
            </a:r>
          </a:p>
          <a:p>
            <a:pPr lvl="2"/>
            <a:r>
              <a:rPr lang="sv-SE"/>
              <a:t>Man slipper ställa in projektet olika på olika datorer (alternativt se till att filerna ligger på </a:t>
            </a:r>
            <a:r>
              <a:rPr lang="sv-SE" i="1"/>
              <a:t>exakt</a:t>
            </a:r>
            <a:r>
              <a:rPr lang="sv-SE"/>
              <a:t> samma ställe på alla datorer vilket inte alltid är möjligt)</a:t>
            </a:r>
          </a:p>
          <a:p>
            <a:pPr lvl="2"/>
            <a:r>
              <a:rPr lang="sv-SE"/>
              <a:t>Lättare att hitta alla bibliotek som hör till ett specifikt projekt</a:t>
            </a:r>
          </a:p>
          <a:p>
            <a:pPr lvl="2">
              <a:buClr>
                <a:schemeClr val="tx1"/>
              </a:buClr>
            </a:pPr>
            <a:r>
              <a:rPr lang="sv-SE">
                <a:solidFill>
                  <a:srgbClr val="FFC000"/>
                </a:solidFill>
              </a:rPr>
              <a:t>Gör en separat mapp för biblioteksfilerna! </a:t>
            </a:r>
            <a:r>
              <a:rPr lang="sv-SE"/>
              <a:t>Ex. </a:t>
            </a:r>
            <a:r>
              <a:rPr lang="sv-SE" err="1"/>
              <a:t>External</a:t>
            </a:r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2 – INSTALLERA BIBLIOTEKET</a:t>
            </a:r>
          </a:p>
        </p:txBody>
      </p:sp>
    </p:spTree>
    <p:extLst>
      <p:ext uri="{BB962C8B-B14F-4D97-AF65-F5344CB8AC3E}">
        <p14:creationId xmlns:p14="http://schemas.microsoft.com/office/powerpoint/2010/main" val="614243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87E666-E43A-48A0-B54F-ECFC9D740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Här ändrar vi två inställningar:</a:t>
            </a:r>
          </a:p>
          <a:p>
            <a:pPr lvl="1"/>
            <a:r>
              <a:rPr lang="sv-SE"/>
              <a:t>Under </a:t>
            </a:r>
            <a:r>
              <a:rPr lang="sv-SE" i="1" err="1"/>
              <a:t>Properties</a:t>
            </a:r>
            <a:r>
              <a:rPr lang="sv-SE"/>
              <a:t> -&gt; </a:t>
            </a:r>
            <a:r>
              <a:rPr lang="sv-SE" i="1"/>
              <a:t>C/C++ </a:t>
            </a:r>
            <a:r>
              <a:rPr lang="sv-SE"/>
              <a:t>-&gt; </a:t>
            </a:r>
            <a:r>
              <a:rPr lang="sv-SE" i="1"/>
              <a:t>General</a:t>
            </a:r>
            <a:r>
              <a:rPr lang="sv-SE"/>
              <a:t> hittar vi </a:t>
            </a:r>
            <a:r>
              <a:rPr lang="sv-SE" i="1" err="1"/>
              <a:t>Additional</a:t>
            </a:r>
            <a:r>
              <a:rPr lang="sv-SE" i="1"/>
              <a:t> </a:t>
            </a:r>
            <a:r>
              <a:rPr lang="sv-SE" i="1" err="1"/>
              <a:t>Include</a:t>
            </a:r>
            <a:r>
              <a:rPr lang="sv-SE" i="1"/>
              <a:t> </a:t>
            </a:r>
            <a:r>
              <a:rPr lang="sv-SE" i="1" err="1"/>
              <a:t>Directories</a:t>
            </a:r>
            <a:endParaRPr lang="sv-SE" i="1"/>
          </a:p>
          <a:p>
            <a:pPr lvl="2"/>
            <a:r>
              <a:rPr lang="sv-SE"/>
              <a:t>Här</a:t>
            </a:r>
            <a:r>
              <a:rPr lang="sv-SE" i="1"/>
              <a:t> </a:t>
            </a:r>
            <a:r>
              <a:rPr lang="sv-SE"/>
              <a:t>anger vi sökvägen till den mapp där bibliotekets </a:t>
            </a:r>
            <a:r>
              <a:rPr lang="sv-SE" err="1"/>
              <a:t>header</a:t>
            </a:r>
            <a:r>
              <a:rPr lang="sv-SE"/>
              <a:t>-filer ligger</a:t>
            </a:r>
          </a:p>
          <a:p>
            <a:pPr lvl="2"/>
            <a:r>
              <a:rPr lang="sv-SE"/>
              <a:t>Ofta heter denna mapp just </a:t>
            </a:r>
            <a:r>
              <a:rPr lang="sv-SE" i="1" err="1"/>
              <a:t>include</a:t>
            </a:r>
            <a:endParaRPr lang="sv-SE" i="1"/>
          </a:p>
          <a:p>
            <a:pPr lvl="2"/>
            <a:r>
              <a:rPr lang="sv-SE"/>
              <a:t>Om vi har lagt biblioteksfilerna i projektmappen använder vi makron för att ange en relativ sökväg så att vi inte behöver ändra inställningen när vi flyttar projektet</a:t>
            </a:r>
          </a:p>
          <a:p>
            <a:pPr lvl="1"/>
            <a:r>
              <a:rPr lang="sv-SE"/>
              <a:t>Under </a:t>
            </a:r>
            <a:r>
              <a:rPr lang="sv-SE" i="1" err="1"/>
              <a:t>Properties</a:t>
            </a:r>
            <a:r>
              <a:rPr lang="sv-SE"/>
              <a:t> -&gt; </a:t>
            </a:r>
            <a:r>
              <a:rPr lang="sv-SE" i="1" err="1"/>
              <a:t>Linker</a:t>
            </a:r>
            <a:r>
              <a:rPr lang="sv-SE"/>
              <a:t> -&gt; </a:t>
            </a:r>
            <a:r>
              <a:rPr lang="sv-SE" i="1"/>
              <a:t>General</a:t>
            </a:r>
            <a:r>
              <a:rPr lang="sv-SE"/>
              <a:t> hittar vi </a:t>
            </a:r>
            <a:r>
              <a:rPr lang="sv-SE" i="1" err="1"/>
              <a:t>Additional</a:t>
            </a:r>
            <a:r>
              <a:rPr lang="sv-SE" i="1"/>
              <a:t> </a:t>
            </a:r>
            <a:r>
              <a:rPr lang="sv-SE" i="1" err="1"/>
              <a:t>Library</a:t>
            </a:r>
            <a:r>
              <a:rPr lang="sv-SE" i="1"/>
              <a:t> </a:t>
            </a:r>
            <a:r>
              <a:rPr lang="sv-SE" i="1" err="1"/>
              <a:t>Directories</a:t>
            </a:r>
            <a:endParaRPr lang="sv-SE" i="1"/>
          </a:p>
          <a:p>
            <a:pPr lvl="2"/>
            <a:r>
              <a:rPr lang="sv-SE"/>
              <a:t>Här</a:t>
            </a:r>
            <a:r>
              <a:rPr lang="sv-SE" i="1"/>
              <a:t> </a:t>
            </a:r>
            <a:r>
              <a:rPr lang="sv-SE"/>
              <a:t>anger vi sökvägen till mappen där bibliotekets .</a:t>
            </a:r>
            <a:r>
              <a:rPr lang="sv-SE" err="1"/>
              <a:t>lib</a:t>
            </a:r>
            <a:r>
              <a:rPr lang="sv-SE"/>
              <a:t>-filer ligger</a:t>
            </a:r>
          </a:p>
          <a:p>
            <a:pPr lvl="2"/>
            <a:r>
              <a:rPr lang="sv-SE"/>
              <a:t>Ofta heter denna mapp </a:t>
            </a:r>
            <a:r>
              <a:rPr lang="sv-SE" i="1" err="1"/>
              <a:t>lib</a:t>
            </a:r>
            <a:endParaRPr lang="sv-SE"/>
          </a:p>
          <a:p>
            <a:pPr lvl="2"/>
            <a:r>
              <a:rPr lang="sv-SE"/>
              <a:t>Endast om vi har .</a:t>
            </a:r>
            <a:r>
              <a:rPr lang="sv-SE" err="1"/>
              <a:t>lib</a:t>
            </a:r>
            <a:r>
              <a:rPr lang="sv-SE"/>
              <a:t>-filer, dvs. det är ett statiskt bibliotek eller ett dynamiskt bibliotek som har ett importbibliotek</a:t>
            </a:r>
            <a:endParaRPr lang="sv-SE" i="1"/>
          </a:p>
          <a:p>
            <a:pPr lvl="1"/>
            <a:r>
              <a:rPr lang="sv-SE"/>
              <a:t>32-bitar och 64-bitar ligger oftast i olika mappar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3 – STÄLL IN </a:t>
            </a:r>
            <a:r>
              <a:rPr lang="sv-SE" err="1"/>
              <a:t>IDE:n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94457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87E666-E43A-48A0-B54F-ECFC9D740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Om vi har .</a:t>
            </a:r>
            <a:r>
              <a:rPr lang="sv-SE" b="1" err="1"/>
              <a:t>lib</a:t>
            </a:r>
            <a:r>
              <a:rPr lang="sv-SE" b="1"/>
              <a:t>-filer så behöver vi ange vilka av dem som vi använder</a:t>
            </a:r>
            <a:br>
              <a:rPr lang="sv-SE" b="1"/>
            </a:br>
            <a:endParaRPr lang="sv-SE" b="1"/>
          </a:p>
          <a:p>
            <a:r>
              <a:rPr lang="sv-SE" b="1"/>
              <a:t>Detta kan vi göra på två sätt:</a:t>
            </a:r>
          </a:p>
          <a:p>
            <a:pPr lvl="1"/>
            <a:r>
              <a:rPr lang="sv-SE"/>
              <a:t>Under </a:t>
            </a:r>
            <a:r>
              <a:rPr lang="sv-SE" i="1" err="1"/>
              <a:t>Properties</a:t>
            </a:r>
            <a:r>
              <a:rPr lang="sv-SE"/>
              <a:t> -&gt; </a:t>
            </a:r>
            <a:r>
              <a:rPr lang="sv-SE" i="1" err="1"/>
              <a:t>Linker</a:t>
            </a:r>
            <a:r>
              <a:rPr lang="sv-SE"/>
              <a:t> -&gt; </a:t>
            </a:r>
            <a:r>
              <a:rPr lang="sv-SE" i="1"/>
              <a:t>Input</a:t>
            </a:r>
            <a:r>
              <a:rPr lang="sv-SE"/>
              <a:t> ändrar vi inställningen </a:t>
            </a:r>
            <a:r>
              <a:rPr lang="sv-SE" i="1" err="1"/>
              <a:t>Additional</a:t>
            </a:r>
            <a:r>
              <a:rPr lang="sv-SE" i="1"/>
              <a:t> </a:t>
            </a:r>
            <a:r>
              <a:rPr lang="sv-SE" i="1" err="1"/>
              <a:t>Dependencies</a:t>
            </a:r>
            <a:endParaRPr lang="sv-SE" i="1"/>
          </a:p>
          <a:p>
            <a:pPr lvl="2"/>
            <a:r>
              <a:rPr lang="sv-SE"/>
              <a:t>Lista</a:t>
            </a:r>
            <a:r>
              <a:rPr lang="sv-SE" i="1"/>
              <a:t> </a:t>
            </a:r>
            <a:r>
              <a:rPr lang="sv-SE"/>
              <a:t>alla .</a:t>
            </a:r>
            <a:r>
              <a:rPr lang="sv-SE" err="1"/>
              <a:t>lib</a:t>
            </a:r>
            <a:r>
              <a:rPr lang="sv-SE"/>
              <a:t>-filer vi behöver på vars en rad</a:t>
            </a:r>
          </a:p>
          <a:p>
            <a:pPr lvl="1"/>
            <a:r>
              <a:rPr lang="sv-SE"/>
              <a:t>Vi skriver kod för att ange vilka bibliotek vi behöver:</a:t>
            </a:r>
            <a:br>
              <a:rPr lang="sv-SE"/>
            </a:br>
            <a:r>
              <a:rPr lang="sv-SE">
                <a:latin typeface="Consolas" panose="020B0609020204030204" pitchFamily="49" charset="0"/>
                <a:ea typeface="Calibri"/>
                <a:cs typeface="Courier New" panose="02070309020205020404" pitchFamily="49" charset="0"/>
              </a:rPr>
              <a:t>#pragma </a:t>
            </a:r>
            <a:r>
              <a:rPr lang="sv-SE" err="1">
                <a:latin typeface="Consolas" panose="020B0609020204030204" pitchFamily="49" charset="0"/>
                <a:ea typeface="Calibri"/>
                <a:cs typeface="Courier New" panose="02070309020205020404" pitchFamily="49" charset="0"/>
              </a:rPr>
              <a:t>comment</a:t>
            </a:r>
            <a:r>
              <a:rPr lang="sv-SE">
                <a:latin typeface="Consolas" panose="020B0609020204030204" pitchFamily="49" charset="0"/>
                <a:ea typeface="Calibri"/>
                <a:cs typeface="Courier New" panose="02070309020205020404" pitchFamily="49" charset="0"/>
              </a:rPr>
              <a:t>(</a:t>
            </a:r>
            <a:r>
              <a:rPr lang="sv-SE" err="1">
                <a:latin typeface="Consolas" panose="020B0609020204030204" pitchFamily="49" charset="0"/>
                <a:ea typeface="Calibri"/>
                <a:cs typeface="Courier New" panose="02070309020205020404" pitchFamily="49" charset="0"/>
              </a:rPr>
              <a:t>lib</a:t>
            </a:r>
            <a:r>
              <a:rPr lang="sv-SE">
                <a:latin typeface="Consolas" panose="020B0609020204030204" pitchFamily="49" charset="0"/>
                <a:ea typeface="Calibri"/>
                <a:cs typeface="Courier New" panose="02070309020205020404" pitchFamily="49" charset="0"/>
              </a:rPr>
              <a:t>, ”</a:t>
            </a:r>
            <a:r>
              <a:rPr lang="sv-SE" err="1">
                <a:latin typeface="Consolas" panose="020B0609020204030204" pitchFamily="49" charset="0"/>
                <a:ea typeface="Calibri"/>
                <a:cs typeface="Courier New" panose="02070309020205020404" pitchFamily="49" charset="0"/>
              </a:rPr>
              <a:t>libFilnamn</a:t>
            </a:r>
            <a:r>
              <a:rPr lang="sv-SE">
                <a:latin typeface="Consolas" panose="020B0609020204030204" pitchFamily="49" charset="0"/>
                <a:ea typeface="Calibri"/>
                <a:cs typeface="Courier New" panose="02070309020205020404" pitchFamily="49" charset="0"/>
              </a:rPr>
              <a:t>”)</a:t>
            </a:r>
            <a:endParaRPr lang="sv-SE">
              <a:latin typeface="Consolas" panose="020B0609020204030204" pitchFamily="49" charset="0"/>
            </a:endParaRPr>
          </a:p>
          <a:p>
            <a:pPr lvl="2"/>
            <a:r>
              <a:rPr lang="sv-SE"/>
              <a:t>Samla alla på ett ställe, ex i main.cpp</a:t>
            </a:r>
          </a:p>
          <a:p>
            <a:pPr lvl="2"/>
            <a:r>
              <a:rPr lang="sv-SE"/>
              <a:t>Eller lägg in dem där du behöver dem</a:t>
            </a:r>
          </a:p>
          <a:p>
            <a:pPr lvl="2"/>
            <a:endParaRPr lang="sv-SE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 lvl="2"/>
            <a:endParaRPr lang="sv-SE"/>
          </a:p>
          <a:p>
            <a:pPr lvl="1"/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4 – ANGE FILER SOM SKA LÄNKAS IN</a:t>
            </a:r>
          </a:p>
        </p:txBody>
      </p:sp>
    </p:spTree>
    <p:extLst>
      <p:ext uri="{BB962C8B-B14F-4D97-AF65-F5344CB8AC3E}">
        <p14:creationId xmlns:p14="http://schemas.microsoft.com/office/powerpoint/2010/main" val="2336627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87E666-E43A-48A0-B54F-ECFC9D740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Med egna klasser eller flera filer i projektet måste de inkluderas för att kunna användas</a:t>
            </a:r>
          </a:p>
          <a:p>
            <a:pPr lvl="1"/>
            <a:r>
              <a:rPr lang="sv-SE"/>
              <a:t>Annars känner programmet inte till att funktionaliteten finns</a:t>
            </a:r>
            <a:br>
              <a:rPr lang="sv-SE"/>
            </a:br>
            <a:endParaRPr lang="sv-SE"/>
          </a:p>
          <a:p>
            <a:r>
              <a:rPr lang="sv-SE" b="1"/>
              <a:t>På samma sätt måste vi inkludera de biblioteksfiler vars funktionalitet vi vill använda</a:t>
            </a:r>
          </a:p>
          <a:p>
            <a:pPr lvl="1"/>
            <a:r>
              <a:rPr lang="sv-SE"/>
              <a:t>Exempel:</a:t>
            </a:r>
            <a:br>
              <a:rPr lang="sv-SE"/>
            </a:br>
            <a:r>
              <a:rPr lang="sv-SE">
                <a:latin typeface="Consolas" panose="020B0609020204030204" pitchFamily="49" charset="0"/>
                <a:ea typeface="Calibri"/>
                <a:cs typeface="Courier New" panose="02070309020205020404" pitchFamily="49" charset="0"/>
              </a:rPr>
              <a:t>#include &lt;</a:t>
            </a:r>
            <a:r>
              <a:rPr lang="sv-SE" err="1">
                <a:latin typeface="Consolas" panose="020B0609020204030204" pitchFamily="49" charset="0"/>
                <a:ea typeface="Calibri"/>
                <a:cs typeface="Courier New" panose="02070309020205020404" pitchFamily="49" charset="0"/>
              </a:rPr>
              <a:t>vector</a:t>
            </a:r>
            <a:r>
              <a:rPr lang="sv-SE">
                <a:latin typeface="Consolas" panose="020B0609020204030204" pitchFamily="49" charset="0"/>
                <a:ea typeface="Calibri"/>
                <a:cs typeface="Courier New" panose="02070309020205020404" pitchFamily="49" charset="0"/>
              </a:rPr>
              <a:t>&gt; </a:t>
            </a:r>
            <a:r>
              <a:rPr lang="sv-SE"/>
              <a:t>för att inkludera    </a:t>
            </a:r>
            <a:r>
              <a:rPr lang="sv-SE" err="1">
                <a:latin typeface="Consolas" panose="020B0609020204030204" pitchFamily="49" charset="0"/>
                <a:ea typeface="Calibri"/>
                <a:cs typeface="Courier New" panose="02070309020205020404" pitchFamily="49" charset="0"/>
              </a:rPr>
              <a:t>std</a:t>
            </a:r>
            <a:r>
              <a:rPr lang="sv-SE">
                <a:latin typeface="Consolas" panose="020B0609020204030204" pitchFamily="49" charset="0"/>
                <a:ea typeface="Calibri"/>
                <a:cs typeface="Courier New" panose="02070309020205020404" pitchFamily="49" charset="0"/>
              </a:rPr>
              <a:t>::</a:t>
            </a:r>
            <a:r>
              <a:rPr lang="sv-SE" err="1">
                <a:solidFill>
                  <a:schemeClr val="accent6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Calibri"/>
                <a:cs typeface="Courier New" panose="02070309020205020404" pitchFamily="49" charset="0"/>
              </a:rPr>
              <a:t>vector</a:t>
            </a:r>
            <a:br>
              <a:rPr lang="sv-SE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</a:br>
            <a:r>
              <a:rPr lang="sv-SE">
                <a:latin typeface="Consolas" panose="020B0609020204030204" pitchFamily="49" charset="0"/>
                <a:ea typeface="Calibri"/>
                <a:cs typeface="Courier New" panose="02070309020205020404" pitchFamily="49" charset="0"/>
              </a:rPr>
              <a:t>#include &lt;string&gt; </a:t>
            </a:r>
            <a:r>
              <a:rPr lang="sv-SE"/>
              <a:t>för att inkludera    </a:t>
            </a:r>
            <a:r>
              <a:rPr lang="sv-SE" err="1">
                <a:latin typeface="Consolas" panose="020B0609020204030204" pitchFamily="49" charset="0"/>
                <a:ea typeface="Calibri"/>
                <a:cs typeface="Courier New" panose="02070309020205020404" pitchFamily="49" charset="0"/>
              </a:rPr>
              <a:t>std</a:t>
            </a:r>
            <a:r>
              <a:rPr lang="sv-SE">
                <a:latin typeface="Consolas" panose="020B0609020204030204" pitchFamily="49" charset="0"/>
                <a:ea typeface="Calibri"/>
                <a:cs typeface="Courier New" panose="02070309020205020404" pitchFamily="49" charset="0"/>
              </a:rPr>
              <a:t>::</a:t>
            </a:r>
            <a:r>
              <a:rPr lang="sv-SE">
                <a:solidFill>
                  <a:schemeClr val="accent6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Calibri"/>
                <a:cs typeface="Courier New" panose="02070309020205020404" pitchFamily="49" charset="0"/>
              </a:rPr>
              <a:t>string</a:t>
            </a:r>
          </a:p>
          <a:p>
            <a:pPr lvl="2"/>
            <a:endParaRPr lang="sv-SE"/>
          </a:p>
          <a:p>
            <a:pPr lvl="1"/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5 – INKLUDERA HEADER-FILER</a:t>
            </a:r>
          </a:p>
        </p:txBody>
      </p:sp>
    </p:spTree>
    <p:extLst>
      <p:ext uri="{BB962C8B-B14F-4D97-AF65-F5344CB8AC3E}">
        <p14:creationId xmlns:p14="http://schemas.microsoft.com/office/powerpoint/2010/main" val="2639555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87E666-E43A-48A0-B54F-ECFC9D740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Citattecken vs taggar</a:t>
            </a:r>
          </a:p>
          <a:p>
            <a:pPr lvl="1"/>
            <a:r>
              <a:rPr lang="sv-SE"/>
              <a:t>Citattecken (</a:t>
            </a:r>
            <a:r>
              <a:rPr lang="sv-SE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””</a:t>
            </a:r>
            <a:r>
              <a:rPr lang="sv-SE"/>
              <a:t>) används när vi anger filer relativt den mapp vi jobbar i</a:t>
            </a:r>
          </a:p>
          <a:p>
            <a:pPr lvl="2"/>
            <a:r>
              <a:rPr lang="sv-SE"/>
              <a:t>Filer i projektet (egna filer)</a:t>
            </a:r>
          </a:p>
          <a:p>
            <a:pPr lvl="1"/>
            <a:r>
              <a:rPr lang="sv-SE"/>
              <a:t>Taggar (</a:t>
            </a:r>
            <a:r>
              <a:rPr lang="sv-SE">
                <a:latin typeface="Courier New" panose="02070309020205020404" pitchFamily="49" charset="0"/>
                <a:cs typeface="Courier New" panose="02070309020205020404" pitchFamily="49" charset="0"/>
              </a:rPr>
              <a:t>&lt;&gt;</a:t>
            </a:r>
            <a:r>
              <a:rPr lang="sv-SE"/>
              <a:t>) används när vi vill leta efter filer i standardmapparna</a:t>
            </a:r>
          </a:p>
          <a:p>
            <a:pPr lvl="2"/>
            <a:r>
              <a:rPr lang="sv-SE"/>
              <a:t>Även de som lagts till i </a:t>
            </a:r>
            <a:r>
              <a:rPr lang="sv-SE" i="1" err="1"/>
              <a:t>Additional</a:t>
            </a:r>
            <a:r>
              <a:rPr lang="sv-SE" i="1"/>
              <a:t> </a:t>
            </a:r>
            <a:r>
              <a:rPr lang="sv-SE" i="1" err="1"/>
              <a:t>Include</a:t>
            </a:r>
            <a:r>
              <a:rPr lang="sv-SE" i="1"/>
              <a:t> </a:t>
            </a:r>
            <a:r>
              <a:rPr lang="sv-SE" i="1" err="1"/>
              <a:t>Directories</a:t>
            </a:r>
            <a:endParaRPr lang="sv-SE"/>
          </a:p>
          <a:p>
            <a:pPr lvl="2"/>
            <a:r>
              <a:rPr lang="sv-SE"/>
              <a:t>Det är alltså oftast taggar när vi inkluderar biblioteksfiler</a:t>
            </a:r>
            <a:endParaRPr lang="sv-SE">
              <a:latin typeface="Consolas" panose="020B0609020204030204" pitchFamily="49" charset="0"/>
            </a:endParaRPr>
          </a:p>
          <a:p>
            <a:pPr lvl="2"/>
            <a:endParaRPr lang="sv-SE"/>
          </a:p>
          <a:p>
            <a:pPr lvl="1"/>
            <a:endParaRPr lang="sv-SE"/>
          </a:p>
          <a:p>
            <a:pPr lvl="2"/>
            <a:endParaRPr lang="sv-SE"/>
          </a:p>
          <a:p>
            <a:pPr lvl="1"/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5 – INKLUDERA HEADER-FILER</a:t>
            </a:r>
          </a:p>
        </p:txBody>
      </p:sp>
    </p:spTree>
    <p:extLst>
      <p:ext uri="{BB962C8B-B14F-4D97-AF65-F5344CB8AC3E}">
        <p14:creationId xmlns:p14="http://schemas.microsoft.com/office/powerpoint/2010/main" val="3119518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87E666-E43A-48A0-B54F-ECFC9D740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På Windows söks följande mappar genom för att hitta .</a:t>
            </a:r>
            <a:r>
              <a:rPr lang="sv-SE" b="1" err="1"/>
              <a:t>dll-filer</a:t>
            </a:r>
            <a:r>
              <a:rPr lang="sv-SE" b="1"/>
              <a:t>:</a:t>
            </a:r>
          </a:p>
          <a:p>
            <a:pPr lvl="1"/>
            <a:r>
              <a:rPr lang="sv-SE"/>
              <a:t>Där projektets .</a:t>
            </a:r>
            <a:r>
              <a:rPr lang="sv-SE" err="1"/>
              <a:t>exe</a:t>
            </a:r>
            <a:r>
              <a:rPr lang="sv-SE"/>
              <a:t> ligger</a:t>
            </a:r>
          </a:p>
          <a:p>
            <a:pPr lvl="1"/>
            <a:r>
              <a:rPr lang="sv-SE"/>
              <a:t>Mappar satta genom anropet </a:t>
            </a:r>
            <a:r>
              <a:rPr lang="sv-SE" err="1"/>
              <a:t>SetDllDirectory</a:t>
            </a:r>
            <a:r>
              <a:rPr lang="sv-SE"/>
              <a:t>()</a:t>
            </a:r>
          </a:p>
          <a:p>
            <a:pPr lvl="1"/>
            <a:r>
              <a:rPr lang="sv-SE"/>
              <a:t>Windows-, System- och System32-mapparna</a:t>
            </a:r>
          </a:p>
          <a:p>
            <a:pPr lvl="1"/>
            <a:r>
              <a:rPr lang="sv-SE"/>
              <a:t>Mappar satta i miljövariabeln PATH</a:t>
            </a:r>
          </a:p>
          <a:p>
            <a:pPr lvl="1"/>
            <a:endParaRPr lang="sv-SE"/>
          </a:p>
          <a:p>
            <a:r>
              <a:rPr lang="sv-SE" b="1"/>
              <a:t>Det absolut lättaste är att bara lägga .</a:t>
            </a:r>
            <a:r>
              <a:rPr lang="sv-SE" b="1" err="1"/>
              <a:t>dll-filerna</a:t>
            </a:r>
            <a:r>
              <a:rPr lang="sv-SE" b="1"/>
              <a:t> i samma mapp som .</a:t>
            </a:r>
            <a:r>
              <a:rPr lang="sv-SE" b="1" err="1"/>
              <a:t>exe</a:t>
            </a:r>
            <a:r>
              <a:rPr lang="sv-SE" b="1"/>
              <a:t>-filen</a:t>
            </a:r>
          </a:p>
          <a:p>
            <a:pPr lvl="1"/>
            <a:r>
              <a:rPr lang="sv-SE"/>
              <a:t>De måste ändå delas ut ihop för att programmet ska gå att köra</a:t>
            </a:r>
          </a:p>
          <a:p>
            <a:endParaRPr lang="sv-SE"/>
          </a:p>
          <a:p>
            <a:pPr lvl="2"/>
            <a:endParaRPr lang="sv-SE"/>
          </a:p>
          <a:p>
            <a:pPr lvl="1"/>
            <a:endParaRPr lang="sv-SE"/>
          </a:p>
          <a:p>
            <a:pPr lvl="2"/>
            <a:endParaRPr lang="sv-SE"/>
          </a:p>
          <a:p>
            <a:pPr lvl="1"/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6 – SE TILL ATT </a:t>
            </a:r>
            <a:r>
              <a:rPr lang="sv-SE" err="1"/>
              <a:t>IDE:n</a:t>
            </a:r>
            <a:r>
              <a:rPr lang="sv-SE"/>
              <a:t> HITTAR .</a:t>
            </a:r>
            <a:r>
              <a:rPr lang="sv-SE" err="1"/>
              <a:t>dll-FILERNA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7255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860F6-13CC-FB1E-5940-19ACBD2D3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derrubrik 2">
            <a:extLst>
              <a:ext uri="{FF2B5EF4-FFF2-40B4-BE49-F238E27FC236}">
                <a16:creationId xmlns:a16="http://schemas.microsoft.com/office/drawing/2014/main" id="{88251B1F-6B40-A28C-3E73-1EEBACB541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/>
              <a:t>Introduktion till C++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CA8ED03-8636-79EE-06D6-4C64DAE342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/>
              <a:t>SKAPA ETT EGET BIBLIOTEK</a:t>
            </a:r>
          </a:p>
        </p:txBody>
      </p:sp>
    </p:spTree>
    <p:extLst>
      <p:ext uri="{BB962C8B-B14F-4D97-AF65-F5344CB8AC3E}">
        <p14:creationId xmlns:p14="http://schemas.microsoft.com/office/powerpoint/2010/main" val="543310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Ett biblioteksprojekt skapar vi med ett par enkla steg: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/>
              <a:t>Skapa ett projekt</a:t>
            </a:r>
          </a:p>
          <a:p>
            <a:pPr lvl="2"/>
            <a:r>
              <a:rPr lang="sv-SE"/>
              <a:t>Ta bort 32-bitarplattform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/>
              <a:t>Ställ in inställningarna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/>
              <a:t>Skapa filer för din första klass (</a:t>
            </a:r>
            <a:r>
              <a:rPr lang="sv-SE" err="1"/>
              <a:t>header</a:t>
            </a:r>
            <a:r>
              <a:rPr lang="sv-SE"/>
              <a:t>- och källfil)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/>
              <a:t>Ställ in preprocessorn [Dynamiskt] 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/>
              <a:t>Skriv DLL-kod [Dynamiskt]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/>
              <a:t>Skriv biblioteket</a:t>
            </a:r>
          </a:p>
          <a:p>
            <a:pPr lvl="1"/>
            <a:endParaRPr lang="sv-SE" i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SKAPA ETT EGET BIBLIOTEK</a:t>
            </a:r>
          </a:p>
        </p:txBody>
      </p:sp>
    </p:spTree>
    <p:extLst>
      <p:ext uri="{BB962C8B-B14F-4D97-AF65-F5344CB8AC3E}">
        <p14:creationId xmlns:p14="http://schemas.microsoft.com/office/powerpoint/2010/main" val="3180786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629" y="2240280"/>
            <a:ext cx="5682371" cy="3457257"/>
          </a:xfrm>
        </p:spPr>
        <p:txBody>
          <a:bodyPr>
            <a:normAutofit/>
          </a:bodyPr>
          <a:lstStyle/>
          <a:p>
            <a:r>
              <a:rPr lang="sv-SE" b="1"/>
              <a:t>Under kategorin </a:t>
            </a:r>
            <a:r>
              <a:rPr lang="sv-SE" b="1" i="1" err="1"/>
              <a:t>Create</a:t>
            </a:r>
            <a:r>
              <a:rPr lang="sv-SE" b="1" i="1"/>
              <a:t> a new </a:t>
            </a:r>
            <a:r>
              <a:rPr lang="sv-SE" b="1" i="1" err="1"/>
              <a:t>project</a:t>
            </a:r>
            <a:r>
              <a:rPr lang="sv-SE" b="1" i="1"/>
              <a:t>  </a:t>
            </a:r>
            <a:r>
              <a:rPr lang="sv-SE" b="1"/>
              <a:t>-&gt;</a:t>
            </a:r>
            <a:br>
              <a:rPr lang="sv-SE" b="1"/>
            </a:br>
            <a:r>
              <a:rPr lang="sv-SE" b="1" i="1"/>
              <a:t>C++  -&gt;  </a:t>
            </a:r>
            <a:r>
              <a:rPr lang="sv-SE" b="1" i="1" err="1"/>
              <a:t>Library</a:t>
            </a:r>
            <a:r>
              <a:rPr lang="sv-SE" b="1" i="1"/>
              <a:t> </a:t>
            </a:r>
            <a:r>
              <a:rPr lang="sv-SE" b="1"/>
              <a:t>hittar ni projekttyper för bibliotek</a:t>
            </a:r>
            <a:br>
              <a:rPr lang="sv-SE" b="1"/>
            </a:br>
            <a:endParaRPr lang="sv-SE" b="1" i="1"/>
          </a:p>
          <a:p>
            <a:r>
              <a:rPr lang="sv-SE" b="1"/>
              <a:t>Beroende på projekt du vill skapa:</a:t>
            </a:r>
          </a:p>
          <a:p>
            <a:pPr lvl="1"/>
            <a:r>
              <a:rPr lang="sv-SE"/>
              <a:t>[Dynamiskt bibliotek]</a:t>
            </a:r>
            <a:br>
              <a:rPr lang="sv-SE"/>
            </a:br>
            <a:r>
              <a:rPr lang="sv-SE"/>
              <a:t>Välj </a:t>
            </a:r>
            <a:r>
              <a:rPr lang="sv-SE" b="1" err="1"/>
              <a:t>Dynamic</a:t>
            </a:r>
            <a:r>
              <a:rPr lang="sv-SE" b="1"/>
              <a:t>-Link </a:t>
            </a:r>
            <a:r>
              <a:rPr lang="sv-SE" b="1" err="1"/>
              <a:t>Library</a:t>
            </a:r>
            <a:r>
              <a:rPr lang="sv-SE" b="1"/>
              <a:t> (DLL)</a:t>
            </a:r>
          </a:p>
          <a:p>
            <a:pPr lvl="1"/>
            <a:r>
              <a:rPr lang="sv-SE"/>
              <a:t>[Statiskt bibliotek]</a:t>
            </a:r>
            <a:br>
              <a:rPr lang="sv-SE"/>
            </a:br>
            <a:r>
              <a:rPr lang="sv-SE"/>
              <a:t>Välj </a:t>
            </a:r>
            <a:r>
              <a:rPr lang="sv-SE" b="1" err="1"/>
              <a:t>Static</a:t>
            </a:r>
            <a:r>
              <a:rPr lang="sv-SE" b="1"/>
              <a:t> </a:t>
            </a:r>
            <a:r>
              <a:rPr lang="sv-SE" b="1" err="1"/>
              <a:t>Library</a:t>
            </a:r>
            <a:endParaRPr lang="sv-SE"/>
          </a:p>
          <a:p>
            <a:pPr lvl="1"/>
            <a:endParaRPr lang="sv-SE"/>
          </a:p>
          <a:p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1 – SKAPA ETT PROJEKT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F5AC757C-CEFA-40AF-AD4F-6F8999841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128" y="2240280"/>
            <a:ext cx="5131642" cy="3411150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9813C92A-24B3-4D0E-8E5D-A46C8B539733}"/>
              </a:ext>
            </a:extLst>
          </p:cNvPr>
          <p:cNvSpPr/>
          <p:nvPr/>
        </p:nvSpPr>
        <p:spPr>
          <a:xfrm>
            <a:off x="8626627" y="2768584"/>
            <a:ext cx="853944" cy="2040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814F22D0-14DA-4D53-8253-CA1947FC4B06}"/>
              </a:ext>
            </a:extLst>
          </p:cNvPr>
          <p:cNvSpPr/>
          <p:nvPr/>
        </p:nvSpPr>
        <p:spPr>
          <a:xfrm>
            <a:off x="10469857" y="2769843"/>
            <a:ext cx="853944" cy="2040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821F83F9-BD9D-422B-A425-67EAB40D8274}"/>
              </a:ext>
            </a:extLst>
          </p:cNvPr>
          <p:cNvSpPr/>
          <p:nvPr/>
        </p:nvSpPr>
        <p:spPr>
          <a:xfrm>
            <a:off x="8626627" y="3909670"/>
            <a:ext cx="2546718" cy="4156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0DDC7BB7-4E29-4A54-BC84-C1A918504C4C}"/>
              </a:ext>
            </a:extLst>
          </p:cNvPr>
          <p:cNvSpPr/>
          <p:nvPr/>
        </p:nvSpPr>
        <p:spPr>
          <a:xfrm>
            <a:off x="8627887" y="4764871"/>
            <a:ext cx="2546718" cy="4156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68850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Gå in i </a:t>
            </a:r>
            <a:r>
              <a:rPr lang="sv-SE" b="1" i="1" err="1"/>
              <a:t>Configuration</a:t>
            </a:r>
            <a:r>
              <a:rPr lang="sv-SE" b="1" i="1"/>
              <a:t> manager…</a:t>
            </a:r>
            <a:endParaRPr lang="sv-SE" b="1"/>
          </a:p>
          <a:p>
            <a:r>
              <a:rPr lang="sv-SE" b="1"/>
              <a:t>Klicka i listrutan för</a:t>
            </a:r>
            <a:br>
              <a:rPr lang="sv-SE" b="1"/>
            </a:br>
            <a:r>
              <a:rPr lang="sv-SE" b="1" i="1"/>
              <a:t>Active solution </a:t>
            </a:r>
            <a:r>
              <a:rPr lang="sv-SE" b="1" i="1" err="1"/>
              <a:t>platform</a:t>
            </a:r>
            <a:endParaRPr lang="sv-SE" b="1"/>
          </a:p>
          <a:p>
            <a:r>
              <a:rPr lang="sv-SE" b="1"/>
              <a:t>Välj alternativet &lt;Edit…&gt;</a:t>
            </a:r>
          </a:p>
          <a:p>
            <a:r>
              <a:rPr lang="sv-SE" b="1"/>
              <a:t>Klicka på x86</a:t>
            </a:r>
          </a:p>
          <a:p>
            <a:r>
              <a:rPr lang="sv-SE" b="1"/>
              <a:t>Klicka på </a:t>
            </a:r>
            <a:r>
              <a:rPr lang="sv-SE" b="1" i="1" err="1"/>
              <a:t>Remove</a:t>
            </a:r>
            <a:endParaRPr lang="sv-SE" b="1" i="1"/>
          </a:p>
          <a:p>
            <a:r>
              <a:rPr lang="sv-SE" b="1"/>
              <a:t>Klicka på </a:t>
            </a:r>
            <a:r>
              <a:rPr lang="sv-SE" b="1" i="1"/>
              <a:t>Yes</a:t>
            </a:r>
            <a:endParaRPr lang="sv-SE" b="1"/>
          </a:p>
          <a:p>
            <a:pPr lvl="1"/>
            <a:endParaRPr lang="sv-SE" i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1 – TA BORT 32BITARSPLATTFORM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47E15746-6440-4E50-87BA-3CFF5B23D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309" y="1359482"/>
            <a:ext cx="2345151" cy="1716183"/>
          </a:xfrm>
          <a:prstGeom prst="rect">
            <a:avLst/>
          </a:prstGeom>
        </p:spPr>
      </p:pic>
      <p:pic>
        <p:nvPicPr>
          <p:cNvPr id="5" name="Bildobjekt 4">
            <a:extLst>
              <a:ext uri="{FF2B5EF4-FFF2-40B4-BE49-F238E27FC236}">
                <a16:creationId xmlns:a16="http://schemas.microsoft.com/office/drawing/2014/main" id="{0A45ECFA-872E-4C37-B778-26E5F76FC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288" y="1621835"/>
            <a:ext cx="2857789" cy="1511262"/>
          </a:xfrm>
          <a:prstGeom prst="rect">
            <a:avLst/>
          </a:prstGeom>
        </p:spPr>
      </p:pic>
      <p:pic>
        <p:nvPicPr>
          <p:cNvPr id="6" name="Bildobjekt 5">
            <a:extLst>
              <a:ext uri="{FF2B5EF4-FFF2-40B4-BE49-F238E27FC236}">
                <a16:creationId xmlns:a16="http://schemas.microsoft.com/office/drawing/2014/main" id="{41C4F0E9-5192-4E01-B0A1-3E262EFB10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278646"/>
            <a:ext cx="4588833" cy="289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955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ildobjekt 11">
            <a:extLst>
              <a:ext uri="{FF2B5EF4-FFF2-40B4-BE49-F238E27FC236}">
                <a16:creationId xmlns:a16="http://schemas.microsoft.com/office/drawing/2014/main" id="{A6C48426-21F5-4688-9BED-D405EBB66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640" y="4299245"/>
            <a:ext cx="6206640" cy="155560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 i="1"/>
              <a:t>Output Directory</a:t>
            </a:r>
          </a:p>
          <a:p>
            <a:pPr lvl="1"/>
            <a:r>
              <a:rPr lang="sv-SE"/>
              <a:t>Till exempel en mapp </a:t>
            </a:r>
            <a:r>
              <a:rPr lang="sv-SE" i="1"/>
              <a:t>Output</a:t>
            </a:r>
            <a:r>
              <a:rPr lang="sv-SE"/>
              <a:t> i samma mapp som er .</a:t>
            </a:r>
            <a:r>
              <a:rPr lang="sv-SE" err="1"/>
              <a:t>sln</a:t>
            </a:r>
            <a:r>
              <a:rPr lang="sv-SE"/>
              <a:t>-fil, vilket är:</a:t>
            </a:r>
            <a:br>
              <a:rPr lang="sv-SE"/>
            </a:br>
            <a:r>
              <a:rPr lang="sv-SE">
                <a:latin typeface="Consolas" panose="020B0609020204030204" pitchFamily="49" charset="0"/>
              </a:rPr>
              <a:t>$(</a:t>
            </a:r>
            <a:r>
              <a:rPr lang="sv-SE" err="1">
                <a:latin typeface="Consolas" panose="020B0609020204030204" pitchFamily="49" charset="0"/>
              </a:rPr>
              <a:t>SolutionDir</a:t>
            </a:r>
            <a:r>
              <a:rPr lang="sv-SE">
                <a:latin typeface="Consolas" panose="020B0609020204030204" pitchFamily="49" charset="0"/>
              </a:rPr>
              <a:t>)Output\</a:t>
            </a:r>
          </a:p>
          <a:p>
            <a:pPr lvl="1"/>
            <a:r>
              <a:rPr lang="sv-SE"/>
              <a:t>Om ni vill kan ni även separera 32- och 64-bitarsversionerna i olika mappar:</a:t>
            </a:r>
            <a:br>
              <a:rPr lang="sv-SE"/>
            </a:br>
            <a:r>
              <a:rPr lang="sv-SE">
                <a:latin typeface="Consolas" panose="020B0609020204030204" pitchFamily="49" charset="0"/>
              </a:rPr>
              <a:t>$(</a:t>
            </a:r>
            <a:r>
              <a:rPr lang="sv-SE" err="1">
                <a:latin typeface="Consolas" panose="020B0609020204030204" pitchFamily="49" charset="0"/>
              </a:rPr>
              <a:t>SolutionDir</a:t>
            </a:r>
            <a:r>
              <a:rPr lang="sv-SE">
                <a:latin typeface="Consolas" panose="020B0609020204030204" pitchFamily="49" charset="0"/>
              </a:rPr>
              <a:t>)Output\$(</a:t>
            </a:r>
            <a:r>
              <a:rPr lang="sv-SE" err="1">
                <a:latin typeface="Consolas" panose="020B0609020204030204" pitchFamily="49" charset="0"/>
              </a:rPr>
              <a:t>PlatformTarget</a:t>
            </a:r>
            <a:r>
              <a:rPr lang="sv-SE">
                <a:latin typeface="Consolas" panose="020B0609020204030204" pitchFamily="49" charset="0"/>
              </a:rPr>
              <a:t>)\</a:t>
            </a:r>
          </a:p>
          <a:p>
            <a:r>
              <a:rPr lang="sv-SE" b="1"/>
              <a:t>Vi kan ange inställningarna för </a:t>
            </a:r>
            <a:r>
              <a:rPr lang="sv-SE" b="1" i="1"/>
              <a:t>All </a:t>
            </a:r>
            <a:r>
              <a:rPr lang="sv-SE" b="1" i="1" err="1"/>
              <a:t>Configurations</a:t>
            </a:r>
            <a:r>
              <a:rPr lang="sv-SE" b="1"/>
              <a:t> och </a:t>
            </a:r>
            <a:r>
              <a:rPr lang="sv-SE" b="1" i="1"/>
              <a:t>All Platforms</a:t>
            </a:r>
          </a:p>
          <a:p>
            <a:pPr lvl="1"/>
            <a:r>
              <a:rPr lang="sv-SE"/>
              <a:t>Då behöver vi bara ange inställningarna en gång!</a:t>
            </a:r>
          </a:p>
          <a:p>
            <a:endParaRPr lang="sv-SE">
              <a:latin typeface="Consolas" panose="020B0609020204030204" pitchFamily="49" charset="0"/>
            </a:endParaRPr>
          </a:p>
          <a:p>
            <a:endParaRPr lang="sv-SE" i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2 – STÄLL IN INSTÄLLNINGARNA</a:t>
            </a: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6F079FD5-5CAB-4460-9E4E-F4E991F3D70A}"/>
              </a:ext>
            </a:extLst>
          </p:cNvPr>
          <p:cNvSpPr/>
          <p:nvPr/>
        </p:nvSpPr>
        <p:spPr>
          <a:xfrm>
            <a:off x="786417" y="4615264"/>
            <a:ext cx="4776039" cy="2493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CF26AA9C-0ADA-47FF-B7E1-335AF4974FF0}"/>
              </a:ext>
            </a:extLst>
          </p:cNvPr>
          <p:cNvSpPr/>
          <p:nvPr/>
        </p:nvSpPr>
        <p:spPr>
          <a:xfrm>
            <a:off x="2548464" y="5067932"/>
            <a:ext cx="4283573" cy="1631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8324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  <p:bldP spid="1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objekt 4">
            <a:extLst>
              <a:ext uri="{FF2B5EF4-FFF2-40B4-BE49-F238E27FC236}">
                <a16:creationId xmlns:a16="http://schemas.microsoft.com/office/drawing/2014/main" id="{00EEF1B7-2732-4C5B-B2FF-859643206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16" y="4334278"/>
            <a:ext cx="7058921" cy="17692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 i="1" err="1"/>
              <a:t>Intermediate</a:t>
            </a:r>
            <a:r>
              <a:rPr lang="sv-SE" b="1" i="1"/>
              <a:t> Directory</a:t>
            </a:r>
          </a:p>
          <a:p>
            <a:pPr lvl="1"/>
            <a:r>
              <a:rPr lang="sv-SE"/>
              <a:t>Till exempel en mapp </a:t>
            </a:r>
            <a:r>
              <a:rPr lang="sv-SE" i="1" err="1"/>
              <a:t>Intermediate</a:t>
            </a:r>
            <a:r>
              <a:rPr lang="sv-SE"/>
              <a:t> i samma mapp som er .</a:t>
            </a:r>
            <a:r>
              <a:rPr lang="sv-SE" err="1"/>
              <a:t>sln</a:t>
            </a:r>
            <a:r>
              <a:rPr lang="sv-SE"/>
              <a:t>-fil</a:t>
            </a:r>
          </a:p>
          <a:p>
            <a:pPr lvl="1"/>
            <a:r>
              <a:rPr lang="sv-SE"/>
              <a:t>Samma som innan, bara byt ut </a:t>
            </a:r>
            <a:r>
              <a:rPr lang="sv-SE" i="1"/>
              <a:t>Output</a:t>
            </a:r>
            <a:r>
              <a:rPr lang="sv-SE"/>
              <a:t> mot </a:t>
            </a:r>
            <a:r>
              <a:rPr lang="sv-SE" i="1" err="1"/>
              <a:t>Intermediate</a:t>
            </a:r>
            <a:br>
              <a:rPr lang="sv-SE" i="1"/>
            </a:br>
            <a:r>
              <a:rPr lang="sv-SE">
                <a:latin typeface="Consolas" panose="020B0609020204030204" pitchFamily="49" charset="0"/>
              </a:rPr>
              <a:t>$(</a:t>
            </a:r>
            <a:r>
              <a:rPr lang="sv-SE" err="1">
                <a:latin typeface="Consolas" panose="020B0609020204030204" pitchFamily="49" charset="0"/>
              </a:rPr>
              <a:t>SolutionDir</a:t>
            </a:r>
            <a:r>
              <a:rPr lang="sv-SE">
                <a:latin typeface="Consolas" panose="020B0609020204030204" pitchFamily="49" charset="0"/>
              </a:rPr>
              <a:t>)</a:t>
            </a:r>
            <a:r>
              <a:rPr lang="sv-SE" err="1">
                <a:latin typeface="Consolas" panose="020B0609020204030204" pitchFamily="49" charset="0"/>
              </a:rPr>
              <a:t>Intermediate</a:t>
            </a:r>
            <a:r>
              <a:rPr lang="sv-SE">
                <a:latin typeface="Consolas" panose="020B0609020204030204" pitchFamily="49" charset="0"/>
              </a:rPr>
              <a:t>\</a:t>
            </a:r>
            <a:br>
              <a:rPr lang="sv-SE">
                <a:latin typeface="Consolas" panose="020B0609020204030204" pitchFamily="49" charset="0"/>
              </a:rPr>
            </a:br>
            <a:r>
              <a:rPr lang="sv-SE">
                <a:latin typeface="Consolas" panose="020B0609020204030204" pitchFamily="49" charset="0"/>
              </a:rPr>
              <a:t>$(</a:t>
            </a:r>
            <a:r>
              <a:rPr lang="sv-SE" err="1">
                <a:latin typeface="Consolas" panose="020B0609020204030204" pitchFamily="49" charset="0"/>
              </a:rPr>
              <a:t>SolutionDir</a:t>
            </a:r>
            <a:r>
              <a:rPr lang="sv-SE">
                <a:latin typeface="Consolas" panose="020B0609020204030204" pitchFamily="49" charset="0"/>
              </a:rPr>
              <a:t>)</a:t>
            </a:r>
            <a:r>
              <a:rPr lang="sv-SE" err="1">
                <a:latin typeface="Consolas" panose="020B0609020204030204" pitchFamily="49" charset="0"/>
              </a:rPr>
              <a:t>Intermediate</a:t>
            </a:r>
            <a:r>
              <a:rPr lang="sv-SE">
                <a:latin typeface="Consolas" panose="020B0609020204030204" pitchFamily="49" charset="0"/>
              </a:rPr>
              <a:t>\$(</a:t>
            </a:r>
            <a:r>
              <a:rPr lang="sv-SE" err="1">
                <a:latin typeface="Consolas" panose="020B0609020204030204" pitchFamily="49" charset="0"/>
              </a:rPr>
              <a:t>PlatformTarget</a:t>
            </a:r>
            <a:r>
              <a:rPr lang="sv-SE">
                <a:latin typeface="Consolas" panose="020B0609020204030204" pitchFamily="49" charset="0"/>
              </a:rPr>
              <a:t>)\</a:t>
            </a:r>
            <a:endParaRPr lang="sv-SE"/>
          </a:p>
          <a:p>
            <a:r>
              <a:rPr lang="sv-SE" b="1">
                <a:latin typeface="Consolas" panose="020B0609020204030204" pitchFamily="49" charset="0"/>
              </a:rPr>
              <a:t>$(</a:t>
            </a:r>
            <a:r>
              <a:rPr lang="sv-SE" b="1" err="1">
                <a:latin typeface="Consolas" panose="020B0609020204030204" pitchFamily="49" charset="0"/>
              </a:rPr>
              <a:t>SolutionDir</a:t>
            </a:r>
            <a:r>
              <a:rPr lang="sv-SE" b="1">
                <a:latin typeface="Consolas" panose="020B0609020204030204" pitchFamily="49" charset="0"/>
              </a:rPr>
              <a:t>)</a:t>
            </a:r>
            <a:r>
              <a:rPr lang="sv-SE" b="1"/>
              <a:t> innehåller en avslutande slash, så vi behöver inte ange den igen</a:t>
            </a:r>
          </a:p>
          <a:p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2 – STÄLL IN INSTÄLLNINGARNA</a:t>
            </a: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CF26AA9C-0ADA-47FF-B7E1-335AF4974FF0}"/>
              </a:ext>
            </a:extLst>
          </p:cNvPr>
          <p:cNvSpPr/>
          <p:nvPr/>
        </p:nvSpPr>
        <p:spPr>
          <a:xfrm>
            <a:off x="2708057" y="5385539"/>
            <a:ext cx="4574721" cy="1707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01673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 i="1"/>
              <a:t>Target </a:t>
            </a:r>
            <a:r>
              <a:rPr lang="sv-SE" b="1" i="1" err="1"/>
              <a:t>Name</a:t>
            </a:r>
            <a:endParaRPr lang="sv-SE" b="1" i="1"/>
          </a:p>
          <a:p>
            <a:pPr lvl="1"/>
            <a:r>
              <a:rPr lang="sv-SE"/>
              <a:t>Här kan ni ändra namnet på de filer som genereras, default är </a:t>
            </a:r>
            <a:r>
              <a:rPr lang="sv-SE">
                <a:latin typeface="Consolas" panose="020B0609020204030204" pitchFamily="49" charset="0"/>
              </a:rPr>
              <a:t>$(</a:t>
            </a:r>
            <a:r>
              <a:rPr lang="sv-SE" err="1">
                <a:latin typeface="Consolas" panose="020B0609020204030204" pitchFamily="49" charset="0"/>
              </a:rPr>
              <a:t>ProjectName</a:t>
            </a:r>
            <a:r>
              <a:rPr lang="sv-SE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sv-SE"/>
              <a:t>Ofta vill man särskilja </a:t>
            </a:r>
            <a:r>
              <a:rPr lang="sv-SE" err="1"/>
              <a:t>debug</a:t>
            </a:r>
            <a:r>
              <a:rPr lang="sv-SE"/>
              <a:t>-versionen, t.ex. lägga till –d i filnamnet</a:t>
            </a:r>
          </a:p>
          <a:p>
            <a:pPr lvl="2"/>
            <a:r>
              <a:rPr lang="sv-SE"/>
              <a:t>Välj </a:t>
            </a:r>
            <a:r>
              <a:rPr lang="sv-SE" i="1" err="1"/>
              <a:t>Debug</a:t>
            </a:r>
            <a:r>
              <a:rPr lang="sv-SE"/>
              <a:t> i listrutan </a:t>
            </a:r>
            <a:r>
              <a:rPr lang="sv-SE" i="1" err="1"/>
              <a:t>Configuration</a:t>
            </a:r>
            <a:endParaRPr lang="sv-SE" i="1"/>
          </a:p>
          <a:p>
            <a:pPr lvl="2"/>
            <a:r>
              <a:rPr lang="sv-SE"/>
              <a:t>Ändra så att det märks att det är en </a:t>
            </a:r>
            <a:r>
              <a:rPr lang="sv-SE" err="1"/>
              <a:t>debug</a:t>
            </a:r>
            <a:r>
              <a:rPr lang="sv-SE"/>
              <a:t>-version</a:t>
            </a:r>
          </a:p>
          <a:p>
            <a:pPr lvl="2"/>
            <a:r>
              <a:rPr lang="sv-SE"/>
              <a:t>Om vi har standardnamnet och väljer –d för att särskilja </a:t>
            </a:r>
            <a:r>
              <a:rPr lang="sv-SE" err="1"/>
              <a:t>debug</a:t>
            </a:r>
            <a:r>
              <a:rPr lang="sv-SE"/>
              <a:t>-versionen blir det:</a:t>
            </a:r>
            <a:br>
              <a:rPr lang="sv-SE"/>
            </a:br>
            <a:r>
              <a:rPr lang="sv-SE">
                <a:latin typeface="Consolas" panose="020B0609020204030204" pitchFamily="49" charset="0"/>
              </a:rPr>
              <a:t>$(</a:t>
            </a:r>
            <a:r>
              <a:rPr lang="sv-SE" err="1">
                <a:latin typeface="Consolas" panose="020B0609020204030204" pitchFamily="49" charset="0"/>
              </a:rPr>
              <a:t>ProjectName</a:t>
            </a:r>
            <a:r>
              <a:rPr lang="sv-SE">
                <a:latin typeface="Consolas" panose="020B0609020204030204" pitchFamily="49" charset="0"/>
              </a:rPr>
              <a:t>)-d</a:t>
            </a:r>
          </a:p>
          <a:p>
            <a:pPr lvl="1"/>
            <a:endParaRPr lang="sv-SE">
              <a:latin typeface="Consolas" panose="020B0609020204030204" pitchFamily="49" charset="0"/>
            </a:endParaRPr>
          </a:p>
          <a:p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2 – STÄLL IN INSTÄLLNINGARNA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6F8A8703-CFBA-4B6D-8DB9-99459AB1F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081" y="4458287"/>
            <a:ext cx="4846572" cy="1239250"/>
          </a:xfrm>
          <a:prstGeom prst="rect">
            <a:avLst/>
          </a:prstGeom>
        </p:spPr>
      </p:pic>
      <p:sp>
        <p:nvSpPr>
          <p:cNvPr id="11" name="Rektangel 10">
            <a:extLst>
              <a:ext uri="{FF2B5EF4-FFF2-40B4-BE49-F238E27FC236}">
                <a16:creationId xmlns:a16="http://schemas.microsoft.com/office/drawing/2014/main" id="{CF26AA9C-0ADA-47FF-B7E1-335AF4974FF0}"/>
              </a:ext>
            </a:extLst>
          </p:cNvPr>
          <p:cNvSpPr/>
          <p:nvPr/>
        </p:nvSpPr>
        <p:spPr>
          <a:xfrm>
            <a:off x="1097685" y="4725897"/>
            <a:ext cx="1926832" cy="201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F9AA3CCF-1A53-4084-AA56-EE698C8CBE58}"/>
              </a:ext>
            </a:extLst>
          </p:cNvPr>
          <p:cNvSpPr/>
          <p:nvPr/>
        </p:nvSpPr>
        <p:spPr>
          <a:xfrm>
            <a:off x="2398752" y="5271277"/>
            <a:ext cx="3414305" cy="201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E20322B6-C0D5-4522-BC2F-C8D89BCFF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3457" y="4453563"/>
            <a:ext cx="4846573" cy="1243974"/>
          </a:xfrm>
          <a:prstGeom prst="rect">
            <a:avLst/>
          </a:prstGeom>
        </p:spPr>
      </p:pic>
      <p:sp>
        <p:nvSpPr>
          <p:cNvPr id="9" name="Rektangel 8">
            <a:extLst>
              <a:ext uri="{FF2B5EF4-FFF2-40B4-BE49-F238E27FC236}">
                <a16:creationId xmlns:a16="http://schemas.microsoft.com/office/drawing/2014/main" id="{10D5F83E-E20D-4281-8B43-117013E3D66A}"/>
              </a:ext>
            </a:extLst>
          </p:cNvPr>
          <p:cNvSpPr/>
          <p:nvPr/>
        </p:nvSpPr>
        <p:spPr>
          <a:xfrm>
            <a:off x="7553886" y="5249866"/>
            <a:ext cx="3414305" cy="201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2E8EB442-F4B8-4CC9-8C52-CD737359A11F}"/>
              </a:ext>
            </a:extLst>
          </p:cNvPr>
          <p:cNvSpPr/>
          <p:nvPr/>
        </p:nvSpPr>
        <p:spPr>
          <a:xfrm>
            <a:off x="6230164" y="4688484"/>
            <a:ext cx="1940686" cy="201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55800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 animBg="1"/>
      <p:bldP spid="7" grpId="0" animBg="1"/>
      <p:bldP spid="9" grpId="0" animBg="1"/>
      <p:bldP spid="1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Under filtret </a:t>
            </a:r>
            <a:r>
              <a:rPr lang="sv-SE" b="1" i="1" err="1"/>
              <a:t>Header</a:t>
            </a:r>
            <a:r>
              <a:rPr lang="sv-SE" b="1" i="1"/>
              <a:t> </a:t>
            </a:r>
            <a:r>
              <a:rPr lang="sv-SE" b="1" i="1" err="1"/>
              <a:t>Files</a:t>
            </a:r>
            <a:r>
              <a:rPr lang="sv-SE" b="1"/>
              <a:t> lägger vi till en ny </a:t>
            </a:r>
            <a:r>
              <a:rPr lang="sv-SE" b="1" err="1"/>
              <a:t>header</a:t>
            </a:r>
            <a:r>
              <a:rPr lang="sv-SE" b="1"/>
              <a:t>-fil:</a:t>
            </a:r>
            <a:br>
              <a:rPr lang="sv-SE" b="1"/>
            </a:br>
            <a:r>
              <a:rPr lang="sv-SE" b="1"/>
              <a:t>Ex. </a:t>
            </a:r>
            <a:r>
              <a:rPr lang="sv-SE" b="1" i="1" err="1"/>
              <a:t>MathFunctions.h</a:t>
            </a:r>
            <a:endParaRPr lang="sv-SE" b="1" i="1"/>
          </a:p>
          <a:p>
            <a:endParaRPr lang="sv-SE" b="1"/>
          </a:p>
          <a:p>
            <a:r>
              <a:rPr lang="sv-SE" b="1"/>
              <a:t>Under filtret </a:t>
            </a:r>
            <a:r>
              <a:rPr lang="sv-SE" b="1" i="1"/>
              <a:t>Source </a:t>
            </a:r>
            <a:r>
              <a:rPr lang="sv-SE" b="1" i="1" err="1"/>
              <a:t>Files</a:t>
            </a:r>
            <a:r>
              <a:rPr lang="sv-SE" b="1"/>
              <a:t> lägger vi till motsvarande källfil:</a:t>
            </a:r>
            <a:br>
              <a:rPr lang="sv-SE" b="1"/>
            </a:br>
            <a:r>
              <a:rPr lang="sv-SE" b="1"/>
              <a:t>Ex. </a:t>
            </a:r>
            <a:r>
              <a:rPr lang="sv-SE" b="1" i="1"/>
              <a:t>MathFunctions.cpp</a:t>
            </a:r>
          </a:p>
          <a:p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3 – SKAPA FILER FÖR DIN FÖRSTA KLASS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73769ADB-1EAE-478E-B5C9-DD76FB7F5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2341" y="1973645"/>
            <a:ext cx="3467100" cy="3209925"/>
          </a:xfrm>
          <a:prstGeom prst="rect">
            <a:avLst/>
          </a:prstGeom>
        </p:spPr>
      </p:pic>
      <p:sp>
        <p:nvSpPr>
          <p:cNvPr id="8" name="Rektangel 7">
            <a:extLst>
              <a:ext uri="{FF2B5EF4-FFF2-40B4-BE49-F238E27FC236}">
                <a16:creationId xmlns:a16="http://schemas.microsoft.com/office/drawing/2014/main" id="{DC83AAC1-2ED4-41F1-8B6C-D23832EC7988}"/>
              </a:ext>
            </a:extLst>
          </p:cNvPr>
          <p:cNvSpPr/>
          <p:nvPr/>
        </p:nvSpPr>
        <p:spPr>
          <a:xfrm>
            <a:off x="8583709" y="3736693"/>
            <a:ext cx="2704136" cy="201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D49DC110-D67A-4D03-9CAB-598B96E87875}"/>
              </a:ext>
            </a:extLst>
          </p:cNvPr>
          <p:cNvSpPr/>
          <p:nvPr/>
        </p:nvSpPr>
        <p:spPr>
          <a:xfrm>
            <a:off x="8582429" y="4588337"/>
            <a:ext cx="2704136" cy="201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13629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Vi vill lägga till en ny definition för preprocessorn:</a:t>
            </a:r>
            <a:br>
              <a:rPr lang="sv-SE" b="1"/>
            </a:br>
            <a:r>
              <a:rPr lang="sv-SE" b="1">
                <a:latin typeface="Consolas" panose="020B0609020204030204" pitchFamily="49" charset="0"/>
              </a:rPr>
              <a:t>COMMON_UTILITIES_EXPORTS</a:t>
            </a:r>
          </a:p>
          <a:p>
            <a:pPr lvl="1"/>
            <a:r>
              <a:rPr lang="sv-SE"/>
              <a:t>Kan ställa in den en gång för</a:t>
            </a:r>
            <a:br>
              <a:rPr lang="sv-SE"/>
            </a:br>
            <a:r>
              <a:rPr lang="sv-SE" i="1"/>
              <a:t>All </a:t>
            </a:r>
            <a:r>
              <a:rPr lang="sv-SE" i="1" err="1"/>
              <a:t>Configurations</a:t>
            </a:r>
            <a:r>
              <a:rPr lang="sv-SE" i="1"/>
              <a:t> och All Platforms</a:t>
            </a:r>
            <a:endParaRPr lang="sv-SE"/>
          </a:p>
          <a:p>
            <a:pPr lvl="1"/>
            <a:r>
              <a:rPr lang="sv-SE"/>
              <a:t>Kom ihåg att välja &lt;Edit…&gt; i</a:t>
            </a:r>
            <a:br>
              <a:rPr lang="sv-SE"/>
            </a:br>
            <a:r>
              <a:rPr lang="sv-SE"/>
              <a:t>listrutan så att vi får rätt formatering</a:t>
            </a:r>
          </a:p>
          <a:p>
            <a:pPr lvl="1"/>
            <a:endParaRPr lang="sv-SE"/>
          </a:p>
          <a:p>
            <a:r>
              <a:rPr lang="sv-SE" b="1"/>
              <a:t>Vi gör detta steg </a:t>
            </a:r>
            <a:r>
              <a:rPr lang="sv-SE" b="1" i="1"/>
              <a:t>efter</a:t>
            </a:r>
            <a:r>
              <a:rPr lang="sv-SE" b="1"/>
              <a:t> att vi skapat filer</a:t>
            </a:r>
          </a:p>
          <a:p>
            <a:pPr lvl="1"/>
            <a:r>
              <a:rPr lang="sv-SE"/>
              <a:t>Annars är det inte säkert att kategorin </a:t>
            </a:r>
            <a:r>
              <a:rPr lang="sv-SE" i="1"/>
              <a:t>C/C++</a:t>
            </a:r>
            <a:r>
              <a:rPr lang="sv-SE"/>
              <a:t> finns så att vi kan hitta inställningen</a:t>
            </a:r>
            <a:endParaRPr lang="sv-SE" i="1"/>
          </a:p>
          <a:p>
            <a:endParaRPr lang="sv-SE"/>
          </a:p>
          <a:p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4 – STÄLL IN PREPROCESSORN [DYNAMISKT]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964CC739-5D18-438F-A323-F978A74B9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139" y="2240280"/>
            <a:ext cx="5089951" cy="2050119"/>
          </a:xfrm>
          <a:prstGeom prst="rect">
            <a:avLst/>
          </a:prstGeom>
        </p:spPr>
      </p:pic>
      <p:sp>
        <p:nvSpPr>
          <p:cNvPr id="9" name="Rektangel 8">
            <a:extLst>
              <a:ext uri="{FF2B5EF4-FFF2-40B4-BE49-F238E27FC236}">
                <a16:creationId xmlns:a16="http://schemas.microsoft.com/office/drawing/2014/main" id="{D49DC110-D67A-4D03-9CAB-598B96E87875}"/>
              </a:ext>
            </a:extLst>
          </p:cNvPr>
          <p:cNvSpPr/>
          <p:nvPr/>
        </p:nvSpPr>
        <p:spPr>
          <a:xfrm>
            <a:off x="7725884" y="2709232"/>
            <a:ext cx="3641205" cy="201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08597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Vi behöver lägga in en speciell bit kod i vårt bibliotek:</a:t>
            </a:r>
          </a:p>
          <a:p>
            <a:pPr lvl="1"/>
            <a:endParaRPr lang="sv-SE" b="1"/>
          </a:p>
          <a:p>
            <a:pPr lvl="1"/>
            <a:endParaRPr lang="sv-SE" b="1"/>
          </a:p>
          <a:p>
            <a:pPr lvl="1"/>
            <a:endParaRPr lang="sv-SE" b="1"/>
          </a:p>
          <a:p>
            <a:pPr lvl="1"/>
            <a:endParaRPr lang="sv-SE" b="1"/>
          </a:p>
          <a:p>
            <a:r>
              <a:rPr lang="sv-SE" b="1">
                <a:latin typeface="Consolas" panose="020B0609020204030204" pitchFamily="49" charset="0"/>
              </a:rPr>
              <a:t>COMMON_UTILITIES_EXPORTS</a:t>
            </a:r>
            <a:r>
              <a:rPr lang="sv-SE" b="1"/>
              <a:t> är ju definierat i hela projektet</a:t>
            </a:r>
          </a:p>
          <a:p>
            <a:pPr lvl="1"/>
            <a:r>
              <a:rPr lang="sv-SE"/>
              <a:t>Det ställde vi in i föregående steg</a:t>
            </a:r>
          </a:p>
          <a:p>
            <a:r>
              <a:rPr lang="sv-SE" b="1"/>
              <a:t>När vi använder biblioteket är </a:t>
            </a:r>
            <a:r>
              <a:rPr lang="sv-SE" b="1">
                <a:latin typeface="Consolas" panose="020B0609020204030204" pitchFamily="49" charset="0"/>
              </a:rPr>
              <a:t>COMMON_UTILITIES_EXPORTS</a:t>
            </a:r>
            <a:r>
              <a:rPr lang="sv-SE" b="1"/>
              <a:t> </a:t>
            </a:r>
            <a:r>
              <a:rPr lang="sv-SE" b="1" i="1"/>
              <a:t>inte</a:t>
            </a:r>
            <a:r>
              <a:rPr lang="sv-SE" b="1"/>
              <a:t> definierat</a:t>
            </a:r>
          </a:p>
          <a:p>
            <a:r>
              <a:rPr lang="sv-SE" b="1"/>
              <a:t>Vi använder </a:t>
            </a:r>
            <a:r>
              <a:rPr lang="sv-SE" b="1">
                <a:latin typeface="Consolas" panose="020B0609020204030204" pitchFamily="49" charset="0"/>
              </a:rPr>
              <a:t>CU_API</a:t>
            </a:r>
            <a:r>
              <a:rPr lang="sv-SE" b="1"/>
              <a:t> före alla funktionsdeklarationer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5 – SKRIV DLL-KOD [DYNAMISKT]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B601B8FC-31B1-4766-8A6A-87544F5D0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37" y="2593914"/>
            <a:ext cx="6972983" cy="136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50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Ett bibliotek med en enkel funktion kan se ut på följande sätt:</a:t>
            </a:r>
            <a:br>
              <a:rPr lang="sv-SE" b="1"/>
            </a:br>
            <a:br>
              <a:rPr lang="sv-SE" b="1"/>
            </a:br>
            <a:r>
              <a:rPr lang="sv-SE" b="1" err="1"/>
              <a:t>MathFunctions.h</a:t>
            </a:r>
            <a:r>
              <a:rPr lang="sv-SE" b="1"/>
              <a:t>				MathFunctions.cpp</a:t>
            </a:r>
          </a:p>
          <a:p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6 – SKRIV BIBLIOTEKET [DYNAMISKT]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7879CF59-22D9-46AE-A453-C058E61E1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95" y="3216355"/>
            <a:ext cx="4629232" cy="2695149"/>
          </a:xfrm>
          <a:prstGeom prst="rect">
            <a:avLst/>
          </a:prstGeom>
        </p:spPr>
      </p:pic>
      <p:pic>
        <p:nvPicPr>
          <p:cNvPr id="6" name="Bildobjekt 5">
            <a:extLst>
              <a:ext uri="{FF2B5EF4-FFF2-40B4-BE49-F238E27FC236}">
                <a16:creationId xmlns:a16="http://schemas.microsoft.com/office/drawing/2014/main" id="{1254BE75-194C-4F92-BF26-69EA64022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915" y="3216355"/>
            <a:ext cx="4444454" cy="221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53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Ett bibliotek med en enkel funktion kan se ut på följande sätt:</a:t>
            </a:r>
            <a:br>
              <a:rPr lang="sv-SE" b="1"/>
            </a:br>
            <a:br>
              <a:rPr lang="sv-SE" b="1"/>
            </a:br>
            <a:r>
              <a:rPr lang="sv-SE" b="1" err="1"/>
              <a:t>MathFunctions.h</a:t>
            </a:r>
            <a:r>
              <a:rPr lang="sv-SE" b="1"/>
              <a:t>				MathFunctions.cpp</a:t>
            </a:r>
          </a:p>
          <a:p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6 – SKRIV BIBLIOTEKET [STATISKT]</a:t>
            </a:r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1254BE75-194C-4F92-BF26-69EA64022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858" y="3255684"/>
            <a:ext cx="4444454" cy="2211171"/>
          </a:xfrm>
          <a:prstGeom prst="rect">
            <a:avLst/>
          </a:prstGeom>
        </p:spPr>
      </p:pic>
      <p:pic>
        <p:nvPicPr>
          <p:cNvPr id="4" name="Bildobjekt 3">
            <a:extLst>
              <a:ext uri="{FF2B5EF4-FFF2-40B4-BE49-F238E27FC236}">
                <a16:creationId xmlns:a16="http://schemas.microsoft.com/office/drawing/2014/main" id="{D99F8D30-13A6-45C3-8B4F-94E6067016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995" y="3255684"/>
            <a:ext cx="4629232" cy="165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850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45537-A55A-DF46-A72F-9EA324DEE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derrubrik 2">
            <a:extLst>
              <a:ext uri="{FF2B5EF4-FFF2-40B4-BE49-F238E27FC236}">
                <a16:creationId xmlns:a16="http://schemas.microsoft.com/office/drawing/2014/main" id="{029F32F2-828C-A9DE-DF2D-856735B4FD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/>
              <a:t>Introduktion till C++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D3BCD1FA-495B-789C-7AEE-5F51C3ACEB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/>
              <a:t>CLEANING UP THE MESS</a:t>
            </a:r>
          </a:p>
        </p:txBody>
      </p:sp>
    </p:spTree>
    <p:extLst>
      <p:ext uri="{BB962C8B-B14F-4D97-AF65-F5344CB8AC3E}">
        <p14:creationId xmlns:p14="http://schemas.microsoft.com/office/powerpoint/2010/main" val="913648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87E666-E43A-48A0-B54F-ECFC9D740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v-SE" sz="1700" b="1" i="1"/>
              <a:t>Nästan</a:t>
            </a:r>
            <a:r>
              <a:rPr lang="sv-SE" sz="1700" b="1"/>
              <a:t> alla filer ni behöver hamnar nu i mappen </a:t>
            </a:r>
            <a:r>
              <a:rPr lang="sv-SE" sz="1700" b="1" i="1"/>
              <a:t>Output</a:t>
            </a:r>
            <a:br>
              <a:rPr lang="sv-SE" sz="1700" b="1" i="1"/>
            </a:br>
            <a:endParaRPr lang="sv-SE" sz="1700" b="1"/>
          </a:p>
          <a:p>
            <a:r>
              <a:rPr lang="sv-SE" sz="1700" b="1"/>
              <a:t>Där hamnar också massa filer ni inte behöver</a:t>
            </a:r>
            <a:br>
              <a:rPr lang="sv-SE" sz="1700" b="1"/>
            </a:br>
            <a:endParaRPr lang="sv-SE" sz="1700" b="1"/>
          </a:p>
          <a:p>
            <a:r>
              <a:rPr lang="sv-SE" sz="1700" b="1"/>
              <a:t>De intressanta filerna är de med följande filändelser:</a:t>
            </a:r>
          </a:p>
          <a:p>
            <a:pPr lvl="1"/>
            <a:r>
              <a:rPr lang="sv-SE" sz="1500"/>
              <a:t>.dll		innehåller implementationen för dynamiska bibliotek</a:t>
            </a:r>
          </a:p>
          <a:p>
            <a:pPr lvl="1"/>
            <a:r>
              <a:rPr lang="sv-SE" sz="1500"/>
              <a:t>.</a:t>
            </a:r>
            <a:r>
              <a:rPr lang="sv-SE" sz="1500" err="1"/>
              <a:t>lib</a:t>
            </a:r>
            <a:r>
              <a:rPr lang="sv-SE" sz="1500"/>
              <a:t>		innehåller implementationen för statiska bibliotek </a:t>
            </a:r>
            <a:br>
              <a:rPr lang="sv-SE" sz="1500"/>
            </a:br>
            <a:r>
              <a:rPr lang="sv-SE" sz="1500"/>
              <a:t>		(eller </a:t>
            </a:r>
            <a:r>
              <a:rPr lang="sv-SE" sz="1500" i="1"/>
              <a:t>info för att inkludera en .dll om det är ett importbibliotek</a:t>
            </a:r>
            <a:r>
              <a:rPr lang="sv-SE" sz="1500"/>
              <a:t>)</a:t>
            </a:r>
          </a:p>
          <a:p>
            <a:pPr lvl="1"/>
            <a:r>
              <a:rPr lang="sv-SE" sz="1500"/>
              <a:t>.</a:t>
            </a:r>
            <a:r>
              <a:rPr lang="sv-SE" sz="1500" err="1"/>
              <a:t>pdb</a:t>
            </a:r>
            <a:r>
              <a:rPr lang="sv-SE" sz="1500"/>
              <a:t>	innehåller </a:t>
            </a:r>
            <a:r>
              <a:rPr lang="sv-SE" sz="1500" err="1"/>
              <a:t>debuginformation</a:t>
            </a:r>
            <a:r>
              <a:rPr lang="sv-SE" sz="1500"/>
              <a:t> för biblioteket</a:t>
            </a:r>
            <a:br>
              <a:rPr lang="sv-SE" sz="1500"/>
            </a:br>
            <a:r>
              <a:rPr lang="sv-SE" sz="1500"/>
              <a:t>		</a:t>
            </a:r>
            <a:r>
              <a:rPr lang="sv-SE" sz="1500">
                <a:solidFill>
                  <a:srgbClr val="C00000"/>
                </a:solidFill>
              </a:rPr>
              <a:t>väldigt användbart men farligt!</a:t>
            </a:r>
            <a:r>
              <a:rPr lang="sv-SE" sz="1500"/>
              <a:t> (Ni får veta mer om detta i 2an)</a:t>
            </a:r>
          </a:p>
          <a:p>
            <a:pPr lvl="1"/>
            <a:r>
              <a:rPr lang="sv-SE" sz="1500"/>
              <a:t>.h/.</a:t>
            </a:r>
            <a:r>
              <a:rPr lang="sv-SE" sz="1500" err="1"/>
              <a:t>hpp</a:t>
            </a:r>
            <a:r>
              <a:rPr lang="sv-SE" sz="1500"/>
              <a:t>	</a:t>
            </a:r>
            <a:r>
              <a:rPr lang="sv-SE" sz="1500" err="1"/>
              <a:t>header</a:t>
            </a:r>
            <a:r>
              <a:rPr lang="sv-SE" sz="1500"/>
              <a:t>-filer, innehåller vilken funktionalitet biblioteket har</a:t>
            </a:r>
          </a:p>
          <a:p>
            <a:pPr lvl="1"/>
            <a:endParaRPr lang="sv-SE" sz="2200"/>
          </a:p>
          <a:p>
            <a:r>
              <a:rPr lang="sv-SE" sz="1700" b="1"/>
              <a:t>Läs på om vad övriga filer är till för så att ni förstår dem!</a:t>
            </a:r>
          </a:p>
          <a:p>
            <a:endParaRPr lang="sv-SE"/>
          </a:p>
          <a:p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CLEANING UP THE MESS</a:t>
            </a:r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032AA8BF-9713-4E8C-B8A3-38098EB4E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605" y="1505666"/>
            <a:ext cx="2800350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70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87E666-E43A-48A0-B54F-ECFC9D740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En vanlig struktur för bibliotek som delas är att ha tre mappar</a:t>
            </a:r>
            <a:r>
              <a:rPr lang="sv-SE"/>
              <a:t>:</a:t>
            </a:r>
          </a:p>
          <a:p>
            <a:pPr lvl="1"/>
            <a:r>
              <a:rPr lang="sv-SE"/>
              <a:t>bin		Binärfiler		Ex.  *.dll	*.</a:t>
            </a:r>
            <a:r>
              <a:rPr lang="sv-SE" err="1"/>
              <a:t>pdb</a:t>
            </a:r>
            <a:endParaRPr lang="sv-SE"/>
          </a:p>
          <a:p>
            <a:pPr lvl="1"/>
            <a:r>
              <a:rPr lang="sv-SE" err="1"/>
              <a:t>include</a:t>
            </a:r>
            <a:r>
              <a:rPr lang="sv-SE"/>
              <a:t>	</a:t>
            </a:r>
            <a:r>
              <a:rPr lang="sv-SE" err="1"/>
              <a:t>Header</a:t>
            </a:r>
            <a:r>
              <a:rPr lang="sv-SE"/>
              <a:t>-filer	Ex.  *.</a:t>
            </a:r>
            <a:r>
              <a:rPr lang="sv-SE" err="1"/>
              <a:t>hpp</a:t>
            </a:r>
            <a:r>
              <a:rPr lang="sv-SE"/>
              <a:t> 	*.h</a:t>
            </a:r>
          </a:p>
          <a:p>
            <a:pPr lvl="1"/>
            <a:r>
              <a:rPr lang="sv-SE" err="1"/>
              <a:t>lib</a:t>
            </a:r>
            <a:r>
              <a:rPr lang="sv-SE"/>
              <a:t>		Biblioteksfiler	Ex.  *.</a:t>
            </a:r>
            <a:r>
              <a:rPr lang="sv-SE" err="1"/>
              <a:t>lib</a:t>
            </a:r>
            <a:endParaRPr lang="sv-SE"/>
          </a:p>
          <a:p>
            <a:endParaRPr lang="sv-SE"/>
          </a:p>
          <a:p>
            <a:r>
              <a:rPr lang="sv-SE" b="1"/>
              <a:t>Exempel: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CLEANING UP THE MESS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F67E030E-41AF-4086-8EEC-27A398540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30" y="4453657"/>
            <a:ext cx="2324100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570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87E666-E43A-48A0-B54F-ECFC9D740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Skapa en mapp och ge den det namn ni har på ert bibliotek</a:t>
            </a:r>
          </a:p>
          <a:p>
            <a:pPr lvl="1"/>
            <a:r>
              <a:rPr lang="sv-SE"/>
              <a:t>Ex. </a:t>
            </a:r>
            <a:r>
              <a:rPr lang="sv-SE" i="1" err="1"/>
              <a:t>CommonUtilities</a:t>
            </a:r>
            <a:endParaRPr lang="sv-SE" i="1"/>
          </a:p>
          <a:p>
            <a:r>
              <a:rPr lang="sv-SE" b="1"/>
              <a:t>Om ditt bibliotek är kompilerat för både 32-bit och 64-bit, skapa vars en mapp för dessa</a:t>
            </a:r>
          </a:p>
          <a:p>
            <a:pPr lvl="1"/>
            <a:r>
              <a:rPr lang="sv-SE"/>
              <a:t>Skapa de tre undermapparna: bin, </a:t>
            </a:r>
            <a:r>
              <a:rPr lang="sv-SE" err="1"/>
              <a:t>include</a:t>
            </a:r>
            <a:r>
              <a:rPr lang="sv-SE"/>
              <a:t> och </a:t>
            </a:r>
            <a:r>
              <a:rPr lang="sv-SE" err="1"/>
              <a:t>lib</a:t>
            </a:r>
            <a:endParaRPr lang="sv-SE"/>
          </a:p>
          <a:p>
            <a:endParaRPr lang="sv-SE"/>
          </a:p>
          <a:p>
            <a:r>
              <a:rPr lang="sv-SE" sz="1800" b="1"/>
              <a:t>Endast en plattform:		Om fler plattformar finns:</a:t>
            </a:r>
          </a:p>
          <a:p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CLEANING UP THE MESS</a:t>
            </a:r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7C837A41-3033-4CB4-B0EE-B16A945FE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121" y="3895009"/>
            <a:ext cx="2657475" cy="1457325"/>
          </a:xfrm>
          <a:prstGeom prst="rect">
            <a:avLst/>
          </a:prstGeom>
        </p:spPr>
      </p:pic>
      <p:pic>
        <p:nvPicPr>
          <p:cNvPr id="5" name="Bildobjekt 4">
            <a:extLst>
              <a:ext uri="{FF2B5EF4-FFF2-40B4-BE49-F238E27FC236}">
                <a16:creationId xmlns:a16="http://schemas.microsoft.com/office/drawing/2014/main" id="{A4FFBA23-A0FA-44C0-BF7A-A96C635A52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3506" y="3895009"/>
            <a:ext cx="2642614" cy="1457324"/>
          </a:xfrm>
          <a:prstGeom prst="rect">
            <a:avLst/>
          </a:prstGeom>
        </p:spPr>
      </p:pic>
      <p:pic>
        <p:nvPicPr>
          <p:cNvPr id="8" name="Bildobjekt 7">
            <a:extLst>
              <a:ext uri="{FF2B5EF4-FFF2-40B4-BE49-F238E27FC236}">
                <a16:creationId xmlns:a16="http://schemas.microsoft.com/office/drawing/2014/main" id="{56226177-4757-48C0-BDA4-514F6442A5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572" y="3895009"/>
            <a:ext cx="2208615" cy="145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158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87E666-E43A-48A0-B54F-ECFC9D740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Kopiera alla filer med följande filändelser till dina mappar:</a:t>
            </a:r>
          </a:p>
          <a:p>
            <a:pPr lvl="1"/>
            <a:r>
              <a:rPr lang="sv-SE"/>
              <a:t>bin		.dll, .</a:t>
            </a:r>
            <a:r>
              <a:rPr lang="sv-SE" err="1"/>
              <a:t>pdb</a:t>
            </a:r>
            <a:endParaRPr lang="sv-SE"/>
          </a:p>
          <a:p>
            <a:pPr lvl="1"/>
            <a:r>
              <a:rPr lang="sv-SE" err="1"/>
              <a:t>include</a:t>
            </a:r>
            <a:r>
              <a:rPr lang="sv-SE"/>
              <a:t>	.h/.</a:t>
            </a:r>
            <a:r>
              <a:rPr lang="sv-SE" err="1"/>
              <a:t>hpp</a:t>
            </a:r>
            <a:endParaRPr lang="sv-SE"/>
          </a:p>
          <a:p>
            <a:pPr lvl="1"/>
            <a:r>
              <a:rPr lang="sv-SE" err="1"/>
              <a:t>lib</a:t>
            </a:r>
            <a:r>
              <a:rPr lang="sv-SE"/>
              <a:t>		.</a:t>
            </a:r>
            <a:r>
              <a:rPr lang="sv-SE" err="1"/>
              <a:t>lib</a:t>
            </a:r>
            <a:endParaRPr lang="sv-SE"/>
          </a:p>
          <a:p>
            <a:pPr lvl="1"/>
            <a:endParaRPr lang="sv-SE"/>
          </a:p>
          <a:p>
            <a:r>
              <a:rPr lang="sv-SE" b="1"/>
              <a:t>Tänk på versionerna om du har både 32- och 64-bitarsversioner!</a:t>
            </a:r>
          </a:p>
          <a:p>
            <a:endParaRPr lang="sv-SE" b="1"/>
          </a:p>
          <a:p>
            <a:r>
              <a:rPr lang="sv-SE" b="1"/>
              <a:t>Nu kan du distribuera ditt bibliotek!</a:t>
            </a:r>
          </a:p>
          <a:p>
            <a:endParaRPr lang="sv-SE" b="1"/>
          </a:p>
          <a:p>
            <a:r>
              <a:rPr lang="sv-SE" b="1"/>
              <a:t>OBS! Oftast vill man göra allt detta med ett skript istället </a:t>
            </a:r>
          </a:p>
          <a:p>
            <a:pPr lvl="1"/>
            <a:r>
              <a:rPr lang="sv-SE"/>
              <a:t>Eller med mer jobb i </a:t>
            </a:r>
            <a:r>
              <a:rPr lang="sv-SE" err="1"/>
              <a:t>visual</a:t>
            </a:r>
            <a:r>
              <a:rPr lang="sv-SE"/>
              <a:t> studios </a:t>
            </a:r>
            <a:r>
              <a:rPr lang="sv-SE" err="1"/>
              <a:t>projektinställningar</a:t>
            </a:r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CLEANING UP THE MESS</a:t>
            </a:r>
          </a:p>
        </p:txBody>
      </p:sp>
    </p:spTree>
    <p:extLst>
      <p:ext uri="{BB962C8B-B14F-4D97-AF65-F5344CB8AC3E}">
        <p14:creationId xmlns:p14="http://schemas.microsoft.com/office/powerpoint/2010/main" val="1581132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1ACB2-188D-6740-850D-941EE1B42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derrubrik 2">
            <a:extLst>
              <a:ext uri="{FF2B5EF4-FFF2-40B4-BE49-F238E27FC236}">
                <a16:creationId xmlns:a16="http://schemas.microsoft.com/office/drawing/2014/main" id="{B04C1288-46D9-39A9-9D43-A305EC9E14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/>
              <a:t>Introduktion till C++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9B3A2A06-38F6-FE87-77BE-DB6B0AD17B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/>
              <a:t>TIMER</a:t>
            </a:r>
          </a:p>
        </p:txBody>
      </p:sp>
    </p:spTree>
    <p:extLst>
      <p:ext uri="{BB962C8B-B14F-4D97-AF65-F5344CB8AC3E}">
        <p14:creationId xmlns:p14="http://schemas.microsoft.com/office/powerpoint/2010/main" val="424578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1CC1-A30F-4425-9FAC-A6A8BE16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Hur lång tid en frame tar beror på:</a:t>
            </a:r>
          </a:p>
          <a:p>
            <a:pPr lvl="1"/>
            <a:r>
              <a:rPr lang="sv-SE"/>
              <a:t>Hårdvaran i datorn</a:t>
            </a:r>
          </a:p>
          <a:p>
            <a:pPr lvl="1"/>
            <a:r>
              <a:rPr lang="sv-SE"/>
              <a:t>Hur mycket kod som exekveras varje frame</a:t>
            </a:r>
          </a:p>
          <a:p>
            <a:pPr lvl="1"/>
            <a:endParaRPr lang="sv-SE"/>
          </a:p>
          <a:p>
            <a:r>
              <a:rPr lang="sv-SE" b="1"/>
              <a:t>Detta ger ett inkonsekvent beteende!</a:t>
            </a:r>
          </a:p>
          <a:p>
            <a:pPr lvl="1"/>
            <a:r>
              <a:rPr lang="sv-SE"/>
              <a:t>Lösning: Ta hänsyn till hur lång tid en frame tar</a:t>
            </a:r>
          </a:p>
          <a:p>
            <a:pPr lvl="1"/>
            <a:r>
              <a:rPr lang="sv-SE"/>
              <a:t>Kräver en timer</a:t>
            </a:r>
          </a:p>
          <a:p>
            <a:pPr lvl="1"/>
            <a:endParaRPr lang="sv-SE"/>
          </a:p>
          <a:p>
            <a:r>
              <a:rPr lang="sv-SE" b="1"/>
              <a:t>Uppgift: Ni ska göra en timer</a:t>
            </a:r>
          </a:p>
          <a:p>
            <a:pPr lvl="1"/>
            <a:r>
              <a:rPr lang="sv-SE"/>
              <a:t>Den kommer att användas till alla realtidsprojekt ni gör</a:t>
            </a:r>
          </a:p>
          <a:p>
            <a:pPr lvl="1"/>
            <a:r>
              <a:rPr lang="sv-SE"/>
              <a:t>Den ska ligga i ett eget bibliotek som ni utökar med annan återanvändningsbar funktionalitet</a:t>
            </a:r>
          </a:p>
          <a:p>
            <a:endParaRPr lang="sv-SE"/>
          </a:p>
          <a:p>
            <a:pPr lvl="1">
              <a:lnSpc>
                <a:spcPct val="80000"/>
              </a:lnSpc>
            </a:pPr>
            <a:endParaRPr lang="sv-SE"/>
          </a:p>
          <a:p>
            <a:pPr lvl="2"/>
            <a:endParaRPr lang="sv-SE"/>
          </a:p>
          <a:p>
            <a:pPr lvl="1"/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TIMER</a:t>
            </a:r>
          </a:p>
        </p:txBody>
      </p:sp>
    </p:spTree>
    <p:extLst>
      <p:ext uri="{BB962C8B-B14F-4D97-AF65-F5344CB8AC3E}">
        <p14:creationId xmlns:p14="http://schemas.microsoft.com/office/powerpoint/2010/main" val="2683349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E8BCF92-40DD-7436-A9CD-6E3C411E1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sz="2000" b="1"/>
              <a:t>Terminologi:</a:t>
            </a:r>
          </a:p>
          <a:p>
            <a:pPr lvl="1"/>
            <a:r>
              <a:rPr lang="sv-SE" sz="1800"/>
              <a:t>Frame		En ”bildruta”, en uppdatering av spelet/bilden</a:t>
            </a:r>
          </a:p>
          <a:p>
            <a:pPr lvl="1"/>
            <a:r>
              <a:rPr lang="sv-SE" sz="1800"/>
              <a:t>Frame rate 	Hur många </a:t>
            </a:r>
            <a:r>
              <a:rPr lang="sv-SE" sz="1800" err="1"/>
              <a:t>frames</a:t>
            </a:r>
            <a:r>
              <a:rPr lang="sv-SE" sz="1800"/>
              <a:t> per sekund</a:t>
            </a:r>
          </a:p>
          <a:p>
            <a:pPr lvl="1"/>
            <a:r>
              <a:rPr lang="sv-SE" sz="1800" err="1"/>
              <a:t>Fps</a:t>
            </a:r>
            <a:r>
              <a:rPr lang="sv-SE" sz="1800"/>
              <a:t>		</a:t>
            </a:r>
            <a:r>
              <a:rPr lang="sv-SE" sz="1800" err="1"/>
              <a:t>Frames</a:t>
            </a:r>
            <a:r>
              <a:rPr lang="sv-SE" sz="1800"/>
              <a:t> per sekund, det vi mäter </a:t>
            </a:r>
            <a:r>
              <a:rPr lang="sv-SE" sz="1800" err="1"/>
              <a:t>framerate</a:t>
            </a:r>
            <a:r>
              <a:rPr lang="sv-SE" sz="1800"/>
              <a:t> med</a:t>
            </a:r>
          </a:p>
          <a:p>
            <a:pPr lvl="1"/>
            <a:r>
              <a:rPr lang="sv-SE" sz="1800"/>
              <a:t>Frame </a:t>
            </a:r>
            <a:r>
              <a:rPr lang="sv-SE" sz="1800" err="1"/>
              <a:t>time</a:t>
            </a:r>
            <a:r>
              <a:rPr lang="sv-SE" sz="1800"/>
              <a:t> 	Hur lång en frame är</a:t>
            </a:r>
          </a:p>
          <a:p>
            <a:pPr lvl="2"/>
            <a:r>
              <a:rPr lang="sv-SE" sz="1600"/>
              <a:t>Frame rate = 1 / Frame </a:t>
            </a:r>
            <a:r>
              <a:rPr lang="sv-SE" sz="1600" err="1"/>
              <a:t>time</a:t>
            </a:r>
            <a:r>
              <a:rPr lang="sv-SE" sz="1600"/>
              <a:t> 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31C53702-8AB6-5C43-BC2A-F4415DFF9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TIMER</a:t>
            </a:r>
          </a:p>
        </p:txBody>
      </p:sp>
    </p:spTree>
    <p:extLst>
      <p:ext uri="{BB962C8B-B14F-4D97-AF65-F5344CB8AC3E}">
        <p14:creationId xmlns:p14="http://schemas.microsoft.com/office/powerpoint/2010/main" val="41274282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1CC1-A30F-4425-9FAC-A6A8BE16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Hur lång tid en frame tog kallas </a:t>
            </a:r>
            <a:r>
              <a:rPr lang="sv-SE" b="1" i="1"/>
              <a:t>delta </a:t>
            </a:r>
            <a:r>
              <a:rPr lang="sv-SE" b="1" i="1" err="1"/>
              <a:t>time</a:t>
            </a:r>
            <a:r>
              <a:rPr lang="sv-SE" b="1"/>
              <a:t> (skrivs ofta </a:t>
            </a:r>
            <a:r>
              <a:rPr lang="sv-SE" b="1" i="1"/>
              <a:t>dt</a:t>
            </a:r>
            <a:r>
              <a:rPr lang="sv-SE" b="1"/>
              <a:t>)</a:t>
            </a:r>
          </a:p>
          <a:p>
            <a:pPr lvl="1"/>
            <a:r>
              <a:rPr lang="sv-SE"/>
              <a:t>60 </a:t>
            </a:r>
            <a:r>
              <a:rPr lang="sv-SE" err="1"/>
              <a:t>fps</a:t>
            </a:r>
            <a:r>
              <a:rPr lang="sv-SE"/>
              <a:t> ger en delta </a:t>
            </a:r>
            <a:r>
              <a:rPr lang="sv-SE" err="1"/>
              <a:t>time</a:t>
            </a:r>
            <a:r>
              <a:rPr lang="sv-SE"/>
              <a:t> på ca 0.0167s (16.7ms)</a:t>
            </a:r>
          </a:p>
          <a:p>
            <a:pPr lvl="1"/>
            <a:r>
              <a:rPr lang="sv-SE"/>
              <a:t>30 </a:t>
            </a:r>
            <a:r>
              <a:rPr lang="sv-SE" err="1"/>
              <a:t>fps</a:t>
            </a:r>
            <a:r>
              <a:rPr lang="sv-SE"/>
              <a:t> ger en delta </a:t>
            </a:r>
            <a:r>
              <a:rPr lang="sv-SE" err="1"/>
              <a:t>time</a:t>
            </a:r>
            <a:r>
              <a:rPr lang="sv-SE"/>
              <a:t> på ca 0.0333s (33.3ms)</a:t>
            </a:r>
          </a:p>
          <a:p>
            <a:pPr lvl="1"/>
            <a:endParaRPr lang="sv-SE"/>
          </a:p>
          <a:p>
            <a:r>
              <a:rPr lang="sv-SE" b="1"/>
              <a:t>Lägre </a:t>
            </a:r>
            <a:r>
              <a:rPr lang="sv-SE" b="1" err="1"/>
              <a:t>fps</a:t>
            </a:r>
            <a:r>
              <a:rPr lang="sv-SE" b="1"/>
              <a:t> ger ett högre dt</a:t>
            </a:r>
          </a:p>
          <a:p>
            <a:pPr lvl="1"/>
            <a:r>
              <a:rPr lang="sv-SE"/>
              <a:t>Detta kan vi använda i våra förflyttningar!</a:t>
            </a:r>
          </a:p>
          <a:p>
            <a:pPr lvl="1"/>
            <a:r>
              <a:rPr lang="sv-SE"/>
              <a:t>Lägre </a:t>
            </a:r>
            <a:r>
              <a:rPr lang="sv-SE" err="1"/>
              <a:t>fps</a:t>
            </a:r>
            <a:r>
              <a:rPr lang="sv-SE"/>
              <a:t> -&gt; Färre </a:t>
            </a:r>
            <a:r>
              <a:rPr lang="sv-SE" err="1"/>
              <a:t>frames</a:t>
            </a:r>
            <a:r>
              <a:rPr lang="sv-SE"/>
              <a:t> under samma tid (ex. en sekund), högre dt</a:t>
            </a:r>
          </a:p>
          <a:p>
            <a:pPr lvl="1"/>
            <a:r>
              <a:rPr lang="sv-SE"/>
              <a:t>Multiplicera med ett högre dt -&gt; Större förflyttning</a:t>
            </a:r>
          </a:p>
          <a:p>
            <a:pPr lvl="1"/>
            <a:endParaRPr lang="sv-SE"/>
          </a:p>
          <a:p>
            <a:pPr lvl="1"/>
            <a:endParaRPr lang="sv-SE"/>
          </a:p>
          <a:p>
            <a:pPr lvl="1">
              <a:lnSpc>
                <a:spcPct val="80000"/>
              </a:lnSpc>
            </a:pPr>
            <a:endParaRPr lang="sv-SE"/>
          </a:p>
          <a:p>
            <a:pPr lvl="2"/>
            <a:endParaRPr lang="sv-SE"/>
          </a:p>
          <a:p>
            <a:pPr lvl="1"/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TIMER</a:t>
            </a:r>
          </a:p>
        </p:txBody>
      </p:sp>
    </p:spTree>
    <p:extLst>
      <p:ext uri="{BB962C8B-B14F-4D97-AF65-F5344CB8AC3E}">
        <p14:creationId xmlns:p14="http://schemas.microsoft.com/office/powerpoint/2010/main" val="1323455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1CC1-A30F-4425-9FAC-A6A8BE16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Om vi multiplicerar all förflyttning med dt kommer vi att normalisera förflyttningen</a:t>
            </a:r>
          </a:p>
          <a:p>
            <a:pPr lvl="1"/>
            <a:r>
              <a:rPr lang="sv-SE"/>
              <a:t>Lägre </a:t>
            </a:r>
            <a:r>
              <a:rPr lang="sv-SE" err="1"/>
              <a:t>fps</a:t>
            </a:r>
            <a:r>
              <a:rPr lang="sv-SE"/>
              <a:t> -&gt; högre dt</a:t>
            </a:r>
          </a:p>
          <a:p>
            <a:pPr lvl="1"/>
            <a:r>
              <a:rPr lang="sv-SE"/>
              <a:t>Högre dt * förflyttningen -&gt; större förflyttning</a:t>
            </a:r>
          </a:p>
          <a:p>
            <a:pPr lvl="1"/>
            <a:r>
              <a:rPr lang="sv-SE"/>
              <a:t>Vi förflyttar oss alltså </a:t>
            </a:r>
            <a:r>
              <a:rPr lang="sv-SE" b="1"/>
              <a:t>mer</a:t>
            </a:r>
            <a:r>
              <a:rPr lang="sv-SE"/>
              <a:t> </a:t>
            </a:r>
            <a:r>
              <a:rPr lang="sv-SE" i="1"/>
              <a:t>varje frame</a:t>
            </a:r>
            <a:r>
              <a:rPr lang="sv-SE"/>
              <a:t> om vi har färre </a:t>
            </a:r>
            <a:r>
              <a:rPr lang="sv-SE" err="1"/>
              <a:t>frames</a:t>
            </a:r>
            <a:r>
              <a:rPr lang="sv-SE"/>
              <a:t> under en sekund</a:t>
            </a:r>
          </a:p>
          <a:p>
            <a:pPr lvl="1"/>
            <a:r>
              <a:rPr lang="sv-SE"/>
              <a:t>Totalförflyttningen blir densamma</a:t>
            </a:r>
          </a:p>
          <a:p>
            <a:pPr lvl="1"/>
            <a:endParaRPr lang="sv-SE"/>
          </a:p>
          <a:p>
            <a:pPr lvl="1"/>
            <a:endParaRPr lang="sv-SE"/>
          </a:p>
          <a:p>
            <a:pPr lvl="1"/>
            <a:endParaRPr lang="sv-SE"/>
          </a:p>
          <a:p>
            <a:pPr lvl="1"/>
            <a:endParaRPr lang="sv-SE"/>
          </a:p>
          <a:p>
            <a:pPr lvl="1"/>
            <a:endParaRPr lang="sv-SE"/>
          </a:p>
          <a:p>
            <a:pPr lvl="1"/>
            <a:r>
              <a:rPr lang="sv-SE"/>
              <a:t>Om dt är i sekunder så blir hastigheten vår </a:t>
            </a:r>
            <a:r>
              <a:rPr lang="sv-SE" i="1"/>
              <a:t>förflyttning per sekund</a:t>
            </a:r>
          </a:p>
          <a:p>
            <a:pPr lvl="1"/>
            <a:endParaRPr lang="sv-SE"/>
          </a:p>
          <a:p>
            <a:pPr lvl="1"/>
            <a:endParaRPr lang="sv-SE"/>
          </a:p>
          <a:p>
            <a:pPr lvl="1">
              <a:lnSpc>
                <a:spcPct val="80000"/>
              </a:lnSpc>
            </a:pPr>
            <a:endParaRPr lang="sv-SE"/>
          </a:p>
          <a:p>
            <a:pPr lvl="2"/>
            <a:endParaRPr lang="sv-SE"/>
          </a:p>
          <a:p>
            <a:pPr lvl="1"/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TIMER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24C2FB24-FA84-4591-9D93-BE6119FB7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17" y="3169097"/>
            <a:ext cx="10654966" cy="166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226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1CC1-A30F-4425-9FAC-A6A8BE16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v-SE" b="1"/>
              <a:t>Istället för timer kan vi köra </a:t>
            </a:r>
            <a:r>
              <a:rPr lang="sv-SE" b="1" i="1" err="1"/>
              <a:t>fixed</a:t>
            </a:r>
            <a:r>
              <a:rPr lang="sv-SE" b="1" i="1"/>
              <a:t> frame rate</a:t>
            </a:r>
          </a:p>
          <a:p>
            <a:pPr lvl="1"/>
            <a:r>
              <a:rPr lang="sv-SE" i="1"/>
              <a:t>Eller </a:t>
            </a:r>
            <a:r>
              <a:rPr lang="sv-SE" i="1" err="1"/>
              <a:t>fixed</a:t>
            </a:r>
            <a:r>
              <a:rPr lang="sv-SE" i="1"/>
              <a:t> frame </a:t>
            </a:r>
            <a:r>
              <a:rPr lang="sv-SE" i="1" err="1"/>
              <a:t>time</a:t>
            </a:r>
            <a:endParaRPr lang="sv-SE" i="1"/>
          </a:p>
          <a:p>
            <a:pPr lvl="1"/>
            <a:endParaRPr lang="sv-SE" i="1"/>
          </a:p>
          <a:p>
            <a:r>
              <a:rPr lang="sv-SE" b="1"/>
              <a:t>Vi bestämmer hur många </a:t>
            </a:r>
            <a:r>
              <a:rPr lang="sv-SE" b="1" err="1"/>
              <a:t>frames</a:t>
            </a:r>
            <a:r>
              <a:rPr lang="sv-SE" b="1"/>
              <a:t> per sekund som ska köras</a:t>
            </a:r>
          </a:p>
          <a:p>
            <a:pPr lvl="1"/>
            <a:r>
              <a:rPr lang="sv-SE"/>
              <a:t>Om en frame går snabbare så väntar datorn</a:t>
            </a:r>
          </a:p>
          <a:p>
            <a:pPr lvl="1"/>
            <a:r>
              <a:rPr lang="sv-SE"/>
              <a:t>Om en frame går långsammare måste detta hanteras</a:t>
            </a:r>
          </a:p>
          <a:p>
            <a:pPr lvl="1"/>
            <a:endParaRPr lang="sv-SE"/>
          </a:p>
          <a:p>
            <a:r>
              <a:rPr lang="sv-SE" b="1"/>
              <a:t>Belastar </a:t>
            </a:r>
            <a:r>
              <a:rPr lang="sv-SE" b="1" err="1"/>
              <a:t>CPU:n</a:t>
            </a:r>
            <a:r>
              <a:rPr lang="sv-SE" b="1"/>
              <a:t> mindre</a:t>
            </a:r>
          </a:p>
          <a:p>
            <a:pPr lvl="1"/>
            <a:r>
              <a:rPr lang="sv-SE"/>
              <a:t>Tar mindre batteri för mobilspel</a:t>
            </a:r>
          </a:p>
          <a:p>
            <a:pPr marL="0" indent="0">
              <a:buNone/>
            </a:pPr>
            <a:endParaRPr lang="sv-SE"/>
          </a:p>
          <a:p>
            <a:r>
              <a:rPr lang="sv-SE" b="1"/>
              <a:t>Även om vi har en </a:t>
            </a:r>
            <a:r>
              <a:rPr lang="sv-SE" b="1" err="1"/>
              <a:t>fixed</a:t>
            </a:r>
            <a:r>
              <a:rPr lang="sv-SE" b="1"/>
              <a:t> </a:t>
            </a:r>
            <a:r>
              <a:rPr lang="sv-SE" b="1" err="1"/>
              <a:t>framerate</a:t>
            </a:r>
            <a:r>
              <a:rPr lang="sv-SE" b="1"/>
              <a:t> brukar vi använda delta </a:t>
            </a:r>
            <a:r>
              <a:rPr lang="sv-SE" b="1" err="1"/>
              <a:t>time</a:t>
            </a:r>
            <a:r>
              <a:rPr lang="sv-SE" b="1"/>
              <a:t> i beräkningar</a:t>
            </a:r>
          </a:p>
          <a:p>
            <a:pPr lvl="1"/>
            <a:r>
              <a:rPr lang="sv-SE"/>
              <a:t>Gör det lättare om man vill ändra delta </a:t>
            </a:r>
            <a:r>
              <a:rPr lang="sv-SE" err="1"/>
              <a:t>time</a:t>
            </a:r>
            <a:endParaRPr lang="sv-SE"/>
          </a:p>
          <a:p>
            <a:pPr marL="457200" lvl="1" indent="0">
              <a:buNone/>
            </a:pPr>
            <a:endParaRPr lang="sv-SE"/>
          </a:p>
          <a:p>
            <a:pPr lvl="1"/>
            <a:endParaRPr lang="sv-SE"/>
          </a:p>
          <a:p>
            <a:pPr lvl="1"/>
            <a:endParaRPr lang="sv-SE"/>
          </a:p>
          <a:p>
            <a:pPr lvl="1">
              <a:lnSpc>
                <a:spcPct val="80000"/>
              </a:lnSpc>
            </a:pPr>
            <a:endParaRPr lang="sv-SE"/>
          </a:p>
          <a:p>
            <a:pPr lvl="2"/>
            <a:endParaRPr lang="sv-SE"/>
          </a:p>
          <a:p>
            <a:pPr lvl="1"/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ALTERNATIV TILL TIMER</a:t>
            </a:r>
          </a:p>
        </p:txBody>
      </p:sp>
    </p:spTree>
    <p:extLst>
      <p:ext uri="{BB962C8B-B14F-4D97-AF65-F5344CB8AC3E}">
        <p14:creationId xmlns:p14="http://schemas.microsoft.com/office/powerpoint/2010/main" val="277772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495CD62-90D5-9F99-392E-67F43D1F5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v-SE" b="1"/>
              <a:t>Vanligt med en blandning</a:t>
            </a:r>
          </a:p>
          <a:p>
            <a:pPr lvl="1"/>
            <a:r>
              <a:rPr lang="sv-SE"/>
              <a:t>Kör den mesta </a:t>
            </a:r>
            <a:r>
              <a:rPr lang="sv-SE" err="1"/>
              <a:t>gameplaylogiken</a:t>
            </a:r>
            <a:r>
              <a:rPr lang="sv-SE"/>
              <a:t> i </a:t>
            </a:r>
            <a:r>
              <a:rPr lang="sv-SE" err="1"/>
              <a:t>fixed</a:t>
            </a:r>
            <a:r>
              <a:rPr lang="sv-SE"/>
              <a:t> </a:t>
            </a:r>
            <a:r>
              <a:rPr lang="sv-SE" err="1"/>
              <a:t>framerate</a:t>
            </a:r>
            <a:endParaRPr lang="sv-SE"/>
          </a:p>
          <a:p>
            <a:pPr lvl="2"/>
            <a:r>
              <a:rPr lang="sv-SE"/>
              <a:t>Samma </a:t>
            </a:r>
            <a:r>
              <a:rPr lang="sv-SE" err="1"/>
              <a:t>framerate</a:t>
            </a:r>
            <a:r>
              <a:rPr lang="sv-SE"/>
              <a:t> oavsett plattform och dator</a:t>
            </a:r>
          </a:p>
          <a:p>
            <a:pPr lvl="1"/>
            <a:r>
              <a:rPr lang="sv-SE"/>
              <a:t>Kör rendering snabbare om det går</a:t>
            </a:r>
          </a:p>
          <a:p>
            <a:pPr lvl="2"/>
            <a:r>
              <a:rPr lang="sv-SE"/>
              <a:t>Eller också </a:t>
            </a:r>
            <a:r>
              <a:rPr lang="sv-SE" err="1"/>
              <a:t>fixed</a:t>
            </a:r>
            <a:r>
              <a:rPr lang="sv-SE"/>
              <a:t>, men anpassad efter skärmen</a:t>
            </a:r>
          </a:p>
          <a:p>
            <a:pPr lvl="1"/>
            <a:endParaRPr lang="sv-SE"/>
          </a:p>
          <a:p>
            <a:r>
              <a:rPr lang="sv-SE" b="1"/>
              <a:t>Enkla grejer är lätta att anpassa efter delta </a:t>
            </a:r>
            <a:r>
              <a:rPr lang="sv-SE" b="1" err="1"/>
              <a:t>time</a:t>
            </a:r>
            <a:br>
              <a:rPr lang="sv-SE" b="1"/>
            </a:br>
            <a:endParaRPr lang="sv-SE" b="1"/>
          </a:p>
          <a:p>
            <a:r>
              <a:rPr lang="sv-SE" b="1"/>
              <a:t>Mer komplexa grejer har ofta subtila skillnader</a:t>
            </a:r>
          </a:p>
          <a:p>
            <a:pPr lvl="1"/>
            <a:r>
              <a:rPr lang="sv-SE"/>
              <a:t>Fysiksimuleringar</a:t>
            </a:r>
            <a:br>
              <a:rPr lang="sv-SE"/>
            </a:br>
            <a:endParaRPr lang="sv-SE"/>
          </a:p>
          <a:p>
            <a:r>
              <a:rPr lang="sv-SE" b="1"/>
              <a:t>Även om det typ är samma så ändras ”spelkänsla” </a:t>
            </a:r>
          </a:p>
          <a:p>
            <a:endParaRPr lang="sv-SE"/>
          </a:p>
          <a:p>
            <a:r>
              <a:rPr lang="sv-SE" b="1"/>
              <a:t>Ex: </a:t>
            </a:r>
            <a:r>
              <a:rPr lang="sv-SE" b="1" err="1"/>
              <a:t>gameplay</a:t>
            </a:r>
            <a:r>
              <a:rPr lang="sv-SE" b="1"/>
              <a:t> i 30 </a:t>
            </a:r>
            <a:r>
              <a:rPr lang="sv-SE" b="1" err="1"/>
              <a:t>fps</a:t>
            </a:r>
            <a:r>
              <a:rPr lang="sv-SE" b="1"/>
              <a:t> för alla, men rendering i 144 </a:t>
            </a:r>
            <a:r>
              <a:rPr lang="sv-SE" b="1" err="1"/>
              <a:t>hz</a:t>
            </a:r>
            <a:r>
              <a:rPr lang="sv-SE" b="1"/>
              <a:t> för en spelare och 60 </a:t>
            </a:r>
            <a:r>
              <a:rPr lang="sv-SE" b="1" err="1"/>
              <a:t>hz</a:t>
            </a:r>
            <a:r>
              <a:rPr lang="sv-SE" b="1"/>
              <a:t> för en annan</a:t>
            </a:r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D0B9F872-B7C0-DFC5-99F1-B49CF74B7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TIMER</a:t>
            </a:r>
          </a:p>
        </p:txBody>
      </p:sp>
    </p:spTree>
    <p:extLst>
      <p:ext uri="{BB962C8B-B14F-4D97-AF65-F5344CB8AC3E}">
        <p14:creationId xmlns:p14="http://schemas.microsoft.com/office/powerpoint/2010/main" val="14032335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87D0C-1D0D-D89B-D9FF-7E3BD1A3A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derrubrik 2">
            <a:extLst>
              <a:ext uri="{FF2B5EF4-FFF2-40B4-BE49-F238E27FC236}">
                <a16:creationId xmlns:a16="http://schemas.microsoft.com/office/drawing/2014/main" id="{62C3C2C3-91EA-8B97-C985-111FA1F977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/>
              <a:t>Introduktion till C++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68001E01-2B7B-0633-8956-94CB5143EB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/>
              <a:t>LÄNKA IN ETT EGET BIBLIOTEK</a:t>
            </a:r>
          </a:p>
        </p:txBody>
      </p:sp>
    </p:spTree>
    <p:extLst>
      <p:ext uri="{BB962C8B-B14F-4D97-AF65-F5344CB8AC3E}">
        <p14:creationId xmlns:p14="http://schemas.microsoft.com/office/powerpoint/2010/main" val="3770952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Steg för steg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/>
              <a:t>Lägg filerna i projektet/där de ska vara</a:t>
            </a:r>
          </a:p>
          <a:p>
            <a:pPr marL="914400" lvl="1" indent="-457200">
              <a:buFont typeface="+mj-lt"/>
              <a:buAutoNum type="arabicPeriod"/>
              <a:tabLst>
                <a:tab pos="5295900" algn="l"/>
              </a:tabLst>
            </a:pPr>
            <a:r>
              <a:rPr lang="sv-SE"/>
              <a:t>Ställa in vår IDE (Visual Studio) så att den hittar </a:t>
            </a:r>
            <a:r>
              <a:rPr lang="sv-SE" err="1"/>
              <a:t>header</a:t>
            </a:r>
            <a:r>
              <a:rPr lang="sv-SE"/>
              <a:t>-filer och .</a:t>
            </a:r>
            <a:r>
              <a:rPr lang="sv-SE" err="1"/>
              <a:t>lib</a:t>
            </a:r>
            <a:r>
              <a:rPr lang="sv-SE"/>
              <a:t>-filer för projektet</a:t>
            </a:r>
          </a:p>
          <a:p>
            <a:pPr marL="914400" lvl="1" indent="-457200">
              <a:buFont typeface="+mj-lt"/>
              <a:buAutoNum type="arabicPeriod"/>
              <a:tabLst>
                <a:tab pos="5295900" algn="l"/>
              </a:tabLst>
            </a:pPr>
            <a:r>
              <a:rPr lang="sv-SE"/>
              <a:t>Ange vilka biblioteksfiler som ska länkas in [Statiska bibliotek/Importbibliotek]</a:t>
            </a:r>
          </a:p>
          <a:p>
            <a:pPr marL="914400" lvl="1" indent="-457200">
              <a:buFont typeface="+mj-lt"/>
              <a:buAutoNum type="arabicPeriod"/>
              <a:tabLst>
                <a:tab pos="5295900" algn="l"/>
              </a:tabLst>
            </a:pPr>
            <a:r>
              <a:rPr lang="sv-SE"/>
              <a:t>Inkludera de </a:t>
            </a:r>
            <a:r>
              <a:rPr lang="sv-SE" err="1"/>
              <a:t>header</a:t>
            </a:r>
            <a:r>
              <a:rPr lang="sv-SE"/>
              <a:t>-filer du behöver använda i de filer där de behövs</a:t>
            </a:r>
          </a:p>
          <a:p>
            <a:pPr marL="914400" lvl="1" indent="-457200">
              <a:buFont typeface="+mj-lt"/>
              <a:buAutoNum type="arabicPeriod"/>
              <a:tabLst>
                <a:tab pos="5295900" algn="l"/>
              </a:tabLst>
            </a:pPr>
            <a:r>
              <a:rPr lang="sv-SE"/>
              <a:t>Se till att </a:t>
            </a:r>
            <a:r>
              <a:rPr lang="sv-SE" err="1"/>
              <a:t>IDE:n</a:t>
            </a:r>
            <a:r>
              <a:rPr lang="sv-SE"/>
              <a:t> kan hitta de .</a:t>
            </a:r>
            <a:r>
              <a:rPr lang="sv-SE" err="1"/>
              <a:t>dll-filer</a:t>
            </a:r>
            <a:r>
              <a:rPr lang="sv-SE"/>
              <a:t> som behövs [Dynamiska bibliotek]</a:t>
            </a:r>
          </a:p>
          <a:p>
            <a:pPr lvl="1"/>
            <a:endParaRPr lang="sv-SE"/>
          </a:p>
          <a:p>
            <a:pPr lvl="1"/>
            <a:endParaRPr lang="sv-SE" i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LÄNKA IN ETT EGET BIBLIOTEK</a:t>
            </a:r>
          </a:p>
        </p:txBody>
      </p:sp>
    </p:spTree>
    <p:extLst>
      <p:ext uri="{BB962C8B-B14F-4D97-AF65-F5344CB8AC3E}">
        <p14:creationId xmlns:p14="http://schemas.microsoft.com/office/powerpoint/2010/main" val="151265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Det lättaste är att kopiera in vår distribution i projektmappen</a:t>
            </a:r>
          </a:p>
          <a:p>
            <a:pPr lvl="1"/>
            <a:r>
              <a:rPr lang="sv-SE"/>
              <a:t>Distribution = mappen vi skapade och kopierade in filer i</a:t>
            </a:r>
          </a:p>
          <a:p>
            <a:pPr lvl="1"/>
            <a:r>
              <a:rPr lang="sv-SE"/>
              <a:t>Exemplet antar att den heter </a:t>
            </a:r>
            <a:r>
              <a:rPr lang="sv-SE" i="1" err="1"/>
              <a:t>CommonUtilities</a:t>
            </a:r>
            <a:endParaRPr lang="sv-SE" i="1"/>
          </a:p>
          <a:p>
            <a:pPr lvl="1"/>
            <a:endParaRPr lang="sv-SE" i="1"/>
          </a:p>
          <a:p>
            <a:r>
              <a:rPr lang="sv-SE" b="1"/>
              <a:t>I projektmappen, där .</a:t>
            </a:r>
            <a:r>
              <a:rPr lang="sv-SE" b="1" err="1"/>
              <a:t>sln</a:t>
            </a:r>
            <a:r>
              <a:rPr lang="sv-SE" b="1"/>
              <a:t>-filen ligger, skapa mappen </a:t>
            </a:r>
            <a:r>
              <a:rPr lang="sv-SE" b="1" i="1" err="1"/>
              <a:t>External</a:t>
            </a:r>
            <a:endParaRPr lang="sv-SE" b="1" i="1"/>
          </a:p>
          <a:p>
            <a:pPr lvl="1"/>
            <a:r>
              <a:rPr lang="sv-SE"/>
              <a:t>Kopiera in distributionen hit</a:t>
            </a:r>
          </a:p>
          <a:p>
            <a:pPr lvl="1"/>
            <a:endParaRPr lang="sv-SE"/>
          </a:p>
          <a:p>
            <a:endParaRPr lang="sv-SE"/>
          </a:p>
          <a:p>
            <a:pPr lvl="1"/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1 - LÄGG IN FILERNA</a:t>
            </a:r>
          </a:p>
        </p:txBody>
      </p:sp>
    </p:spTree>
    <p:extLst>
      <p:ext uri="{BB962C8B-B14F-4D97-AF65-F5344CB8AC3E}">
        <p14:creationId xmlns:p14="http://schemas.microsoft.com/office/powerpoint/2010/main" val="1361616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Under </a:t>
            </a:r>
            <a:r>
              <a:rPr lang="sv-SE" b="1" i="1" err="1"/>
              <a:t>Additional</a:t>
            </a:r>
            <a:r>
              <a:rPr lang="sv-SE" b="1" i="1"/>
              <a:t> </a:t>
            </a:r>
            <a:r>
              <a:rPr lang="sv-SE" b="1" i="1" err="1"/>
              <a:t>Include</a:t>
            </a:r>
            <a:r>
              <a:rPr lang="sv-SE" b="1" i="1"/>
              <a:t> </a:t>
            </a:r>
            <a:r>
              <a:rPr lang="sv-SE" b="1" i="1" err="1"/>
              <a:t>Directories</a:t>
            </a:r>
            <a:r>
              <a:rPr lang="sv-SE" b="1"/>
              <a:t> fyller vi i sökvägen till vår </a:t>
            </a:r>
            <a:r>
              <a:rPr lang="sv-SE" b="1" i="1" err="1"/>
              <a:t>include</a:t>
            </a:r>
            <a:r>
              <a:rPr lang="sv-SE" b="1"/>
              <a:t>-mapp:</a:t>
            </a:r>
            <a:br>
              <a:rPr lang="sv-SE"/>
            </a:br>
            <a:r>
              <a:rPr lang="sv-SE" sz="1400">
                <a:latin typeface="+mn-lt"/>
              </a:rPr>
              <a:t>$(</a:t>
            </a:r>
            <a:r>
              <a:rPr lang="sv-SE" sz="1400" err="1">
                <a:latin typeface="+mn-lt"/>
              </a:rPr>
              <a:t>SolutionDir</a:t>
            </a:r>
            <a:r>
              <a:rPr lang="sv-SE" sz="1400">
                <a:latin typeface="+mn-lt"/>
              </a:rPr>
              <a:t>)</a:t>
            </a:r>
            <a:r>
              <a:rPr lang="sv-SE" sz="1400" err="1">
                <a:latin typeface="+mn-lt"/>
              </a:rPr>
              <a:t>External</a:t>
            </a:r>
            <a:r>
              <a:rPr lang="sv-SE" sz="1400">
                <a:latin typeface="+mn-lt"/>
              </a:rPr>
              <a:t>\</a:t>
            </a:r>
            <a:r>
              <a:rPr lang="sv-SE" sz="1400" err="1">
                <a:latin typeface="+mn-lt"/>
              </a:rPr>
              <a:t>CommonUtilities</a:t>
            </a:r>
            <a:r>
              <a:rPr lang="sv-SE" sz="1400">
                <a:latin typeface="+mn-lt"/>
              </a:rPr>
              <a:t>\</a:t>
            </a:r>
            <a:r>
              <a:rPr lang="sv-SE" sz="1400" err="1">
                <a:latin typeface="+mn-lt"/>
              </a:rPr>
              <a:t>include</a:t>
            </a:r>
            <a:br>
              <a:rPr lang="sv-SE" sz="1400">
                <a:latin typeface="+mn-lt"/>
              </a:rPr>
            </a:br>
            <a:r>
              <a:rPr lang="sv-SE" sz="1400">
                <a:latin typeface="+mn-lt"/>
              </a:rPr>
              <a:t>$(</a:t>
            </a:r>
            <a:r>
              <a:rPr lang="sv-SE" sz="1400" err="1">
                <a:latin typeface="+mn-lt"/>
              </a:rPr>
              <a:t>SolutionDir</a:t>
            </a:r>
            <a:r>
              <a:rPr lang="sv-SE" sz="1400">
                <a:latin typeface="+mn-lt"/>
              </a:rPr>
              <a:t>)</a:t>
            </a:r>
            <a:r>
              <a:rPr lang="sv-SE" sz="1400" err="1">
                <a:latin typeface="+mn-lt"/>
              </a:rPr>
              <a:t>External</a:t>
            </a:r>
            <a:r>
              <a:rPr lang="sv-SE" sz="1400">
                <a:latin typeface="+mn-lt"/>
              </a:rPr>
              <a:t>\</a:t>
            </a:r>
            <a:r>
              <a:rPr lang="sv-SE" sz="1400" err="1">
                <a:latin typeface="+mn-lt"/>
              </a:rPr>
              <a:t>CommonUtilities</a:t>
            </a:r>
            <a:r>
              <a:rPr lang="sv-SE" sz="1400">
                <a:latin typeface="+mn-lt"/>
              </a:rPr>
              <a:t>\64-bit\</a:t>
            </a:r>
            <a:r>
              <a:rPr lang="sv-SE" sz="1400" err="1">
                <a:latin typeface="+mn-lt"/>
              </a:rPr>
              <a:t>include</a:t>
            </a:r>
            <a:endParaRPr lang="sv-SE" sz="1400">
              <a:latin typeface="+mn-lt"/>
            </a:endParaRPr>
          </a:p>
          <a:p>
            <a:endParaRPr lang="sv-SE"/>
          </a:p>
          <a:p>
            <a:pPr lvl="1"/>
            <a:endParaRPr lang="sv-SE"/>
          </a:p>
          <a:p>
            <a:endParaRPr lang="sv-SE"/>
          </a:p>
          <a:p>
            <a:pPr lvl="1"/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2 – STÄLL IN </a:t>
            </a:r>
            <a:r>
              <a:rPr lang="sv-SE" err="1"/>
              <a:t>IDE:n</a:t>
            </a:r>
            <a:endParaRPr lang="sv-SE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E60F1B8A-40F0-47D9-8788-1F8EE5919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29" y="3249612"/>
            <a:ext cx="7486650" cy="2447925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781913F1-254E-4059-986E-C3C0B1CC9C11}"/>
              </a:ext>
            </a:extLst>
          </p:cNvPr>
          <p:cNvSpPr/>
          <p:nvPr/>
        </p:nvSpPr>
        <p:spPr>
          <a:xfrm>
            <a:off x="2849003" y="3987639"/>
            <a:ext cx="5239370" cy="201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60343362-67B9-4ADA-9288-F200934C965F}"/>
              </a:ext>
            </a:extLst>
          </p:cNvPr>
          <p:cNvSpPr/>
          <p:nvPr/>
        </p:nvSpPr>
        <p:spPr>
          <a:xfrm>
            <a:off x="921962" y="4842588"/>
            <a:ext cx="1483529" cy="381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72505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sz="1400" b="1"/>
              <a:t>Under </a:t>
            </a:r>
            <a:r>
              <a:rPr lang="sv-SE" sz="1400" b="1" err="1"/>
              <a:t>Additional</a:t>
            </a:r>
            <a:r>
              <a:rPr lang="sv-SE" sz="1400" b="1"/>
              <a:t> </a:t>
            </a:r>
            <a:r>
              <a:rPr lang="sv-SE" sz="1400" b="1" err="1"/>
              <a:t>Library</a:t>
            </a:r>
            <a:r>
              <a:rPr lang="sv-SE" sz="1400" b="1"/>
              <a:t> </a:t>
            </a:r>
            <a:r>
              <a:rPr lang="sv-SE" sz="1400" b="1" err="1"/>
              <a:t>Directories</a:t>
            </a:r>
            <a:r>
              <a:rPr lang="sv-SE" sz="1400" b="1"/>
              <a:t> fyller vi i sökvägen till vår </a:t>
            </a:r>
            <a:r>
              <a:rPr lang="sv-SE" sz="1400" b="1" err="1"/>
              <a:t>lib</a:t>
            </a:r>
            <a:r>
              <a:rPr lang="sv-SE" sz="1400" b="1"/>
              <a:t>-mapp:</a:t>
            </a:r>
            <a:br>
              <a:rPr lang="sv-SE" sz="1400"/>
            </a:br>
            <a:r>
              <a:rPr lang="sv-SE" sz="1400" b="1"/>
              <a:t>$(</a:t>
            </a:r>
            <a:r>
              <a:rPr lang="sv-SE" sz="1400" b="1" err="1"/>
              <a:t>SolutionDir</a:t>
            </a:r>
            <a:r>
              <a:rPr lang="sv-SE" sz="1400" b="1"/>
              <a:t>)</a:t>
            </a:r>
            <a:r>
              <a:rPr lang="sv-SE" sz="1400" b="1" err="1"/>
              <a:t>External</a:t>
            </a:r>
            <a:r>
              <a:rPr lang="sv-SE" sz="1400" b="1"/>
              <a:t>\</a:t>
            </a:r>
            <a:r>
              <a:rPr lang="sv-SE" sz="1400" b="1" err="1"/>
              <a:t>CommonUtilities</a:t>
            </a:r>
            <a:r>
              <a:rPr lang="sv-SE" sz="1400" b="1"/>
              <a:t>\</a:t>
            </a:r>
            <a:r>
              <a:rPr lang="sv-SE" sz="1400" b="1" err="1"/>
              <a:t>lib</a:t>
            </a:r>
            <a:br>
              <a:rPr lang="sv-SE" sz="1400" b="1"/>
            </a:br>
            <a:r>
              <a:rPr lang="sv-SE" sz="1400" b="1"/>
              <a:t>$(</a:t>
            </a:r>
            <a:r>
              <a:rPr lang="sv-SE" sz="1400" b="1" err="1"/>
              <a:t>SolutionDir</a:t>
            </a:r>
            <a:r>
              <a:rPr lang="sv-SE" sz="1400" b="1"/>
              <a:t>)</a:t>
            </a:r>
            <a:r>
              <a:rPr lang="sv-SE" sz="1400" b="1" err="1"/>
              <a:t>External</a:t>
            </a:r>
            <a:r>
              <a:rPr lang="sv-SE" sz="1400" b="1"/>
              <a:t>\</a:t>
            </a:r>
            <a:r>
              <a:rPr lang="sv-SE" sz="1400" b="1" err="1"/>
              <a:t>CommonUtilities</a:t>
            </a:r>
            <a:r>
              <a:rPr lang="sv-SE" sz="1400" b="1"/>
              <a:t>\64-bit\</a:t>
            </a:r>
            <a:r>
              <a:rPr lang="sv-SE" sz="1400" b="1" err="1"/>
              <a:t>lib</a:t>
            </a:r>
            <a:endParaRPr lang="sv-SE" sz="1400" b="1"/>
          </a:p>
          <a:p>
            <a:pPr lvl="1"/>
            <a:r>
              <a:rPr lang="sv-SE"/>
              <a:t>Endast om vi har .</a:t>
            </a:r>
            <a:r>
              <a:rPr lang="sv-SE" err="1"/>
              <a:t>lib</a:t>
            </a:r>
            <a:r>
              <a:rPr lang="sv-SE"/>
              <a:t>-filer, dvs. ett statiskt bibliotek eller ett dynamiskt med ett importbibliotek</a:t>
            </a:r>
          </a:p>
          <a:p>
            <a:pPr lvl="1"/>
            <a:endParaRPr lang="sv-SE" sz="2000">
              <a:latin typeface="Consolas" panose="020B0609020204030204" pitchFamily="49" charset="0"/>
            </a:endParaRPr>
          </a:p>
          <a:p>
            <a:endParaRPr lang="sv-SE"/>
          </a:p>
          <a:p>
            <a:pPr lvl="1"/>
            <a:endParaRPr lang="sv-SE"/>
          </a:p>
          <a:p>
            <a:endParaRPr lang="sv-SE"/>
          </a:p>
          <a:p>
            <a:pPr lvl="1"/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2 – STÄLL IN </a:t>
            </a:r>
            <a:r>
              <a:rPr lang="sv-SE" err="1"/>
              <a:t>IDE:n</a:t>
            </a:r>
            <a:endParaRPr lang="sv-SE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B08CF913-901E-45BC-876D-AA20BA4F5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32" y="2830512"/>
            <a:ext cx="7448550" cy="2867025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B5390406-890E-4354-A521-AE81A000E4F2}"/>
              </a:ext>
            </a:extLst>
          </p:cNvPr>
          <p:cNvSpPr/>
          <p:nvPr/>
        </p:nvSpPr>
        <p:spPr>
          <a:xfrm>
            <a:off x="2891913" y="5022850"/>
            <a:ext cx="5216699" cy="201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B2B58FB1-64E7-4F2A-8C7C-1406CFE15403}"/>
              </a:ext>
            </a:extLst>
          </p:cNvPr>
          <p:cNvSpPr/>
          <p:nvPr/>
        </p:nvSpPr>
        <p:spPr>
          <a:xfrm>
            <a:off x="1002658" y="4590875"/>
            <a:ext cx="1491086" cy="3702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34599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sz="1400" b="1"/>
              <a:t>Om vi har .</a:t>
            </a:r>
            <a:r>
              <a:rPr lang="sv-SE" sz="1400" b="1" err="1"/>
              <a:t>lib</a:t>
            </a:r>
            <a:r>
              <a:rPr lang="sv-SE" sz="1400" b="1"/>
              <a:t>-filer så behöver vi ange vilka av dem vi använder</a:t>
            </a:r>
            <a:br>
              <a:rPr lang="sv-SE" sz="1400" b="1"/>
            </a:br>
            <a:endParaRPr lang="sv-SE" sz="1400" b="1"/>
          </a:p>
          <a:p>
            <a:r>
              <a:rPr lang="sv-SE" sz="1400" b="1"/>
              <a:t>Det kan vi göra på två sätt:</a:t>
            </a:r>
          </a:p>
          <a:p>
            <a:pPr lvl="1"/>
            <a:r>
              <a:rPr lang="sv-SE" sz="1200"/>
              <a:t>Lista alla under </a:t>
            </a:r>
            <a:r>
              <a:rPr lang="sv-SE" sz="1200" i="1" err="1"/>
              <a:t>Additional</a:t>
            </a:r>
            <a:r>
              <a:rPr lang="sv-SE" sz="1200" i="1"/>
              <a:t> </a:t>
            </a:r>
            <a:r>
              <a:rPr lang="sv-SE" sz="1200" i="1" err="1"/>
              <a:t>Dependencies</a:t>
            </a:r>
            <a:endParaRPr lang="sv-SE" sz="1200" i="1"/>
          </a:p>
          <a:p>
            <a:pPr lvl="1"/>
            <a:r>
              <a:rPr lang="sv-SE" sz="1200"/>
              <a:t>Skriv en </a:t>
            </a:r>
            <a:r>
              <a:rPr lang="sv-SE" sz="1200">
                <a:latin typeface="Consolas" panose="020B0609020204030204" pitchFamily="49" charset="0"/>
              </a:rPr>
              <a:t>#pragma </a:t>
            </a:r>
            <a:r>
              <a:rPr lang="sv-SE" sz="1200" err="1">
                <a:latin typeface="Consolas" panose="020B0609020204030204" pitchFamily="49" charset="0"/>
              </a:rPr>
              <a:t>comment</a:t>
            </a:r>
            <a:r>
              <a:rPr lang="sv-SE" sz="1200"/>
              <a:t>-rad någonstans i koden för varje .</a:t>
            </a:r>
            <a:r>
              <a:rPr lang="sv-SE" sz="1200" err="1"/>
              <a:t>lib</a:t>
            </a:r>
            <a:r>
              <a:rPr lang="sv-SE" sz="1200"/>
              <a:t>-fil, ex:</a:t>
            </a:r>
          </a:p>
          <a:p>
            <a:pPr lvl="2"/>
            <a:r>
              <a:rPr lang="sv-SE" sz="1100">
                <a:latin typeface="Consolas" panose="020B0609020204030204" pitchFamily="49" charset="0"/>
              </a:rPr>
              <a:t>#pragma </a:t>
            </a:r>
            <a:r>
              <a:rPr lang="sv-SE" sz="1100" err="1">
                <a:latin typeface="Consolas" panose="020B0609020204030204" pitchFamily="49" charset="0"/>
              </a:rPr>
              <a:t>comment</a:t>
            </a:r>
            <a:r>
              <a:rPr lang="sv-SE" sz="1100">
                <a:latin typeface="Consolas" panose="020B0609020204030204" pitchFamily="49" charset="0"/>
              </a:rPr>
              <a:t>(</a:t>
            </a:r>
            <a:r>
              <a:rPr lang="sv-SE" sz="1100" err="1">
                <a:latin typeface="Consolas" panose="020B0609020204030204" pitchFamily="49" charset="0"/>
              </a:rPr>
              <a:t>lib</a:t>
            </a:r>
            <a:r>
              <a:rPr lang="sv-SE" sz="1100">
                <a:latin typeface="Consolas" panose="020B0609020204030204" pitchFamily="49" charset="0"/>
              </a:rPr>
              <a:t>, ”MathsFunction.lib”)</a:t>
            </a:r>
          </a:p>
          <a:p>
            <a:pPr lvl="1"/>
            <a:endParaRPr lang="sv-SE"/>
          </a:p>
          <a:p>
            <a:pPr lvl="1"/>
            <a:endParaRPr lang="sv-SE"/>
          </a:p>
          <a:p>
            <a:pPr lvl="1"/>
            <a:endParaRPr lang="sv-SE" sz="2000">
              <a:latin typeface="Consolas" panose="020B0609020204030204" pitchFamily="49" charset="0"/>
            </a:endParaRPr>
          </a:p>
          <a:p>
            <a:endParaRPr lang="sv-SE"/>
          </a:p>
          <a:p>
            <a:pPr lvl="1"/>
            <a:endParaRPr lang="sv-SE"/>
          </a:p>
          <a:p>
            <a:endParaRPr lang="sv-SE"/>
          </a:p>
          <a:p>
            <a:pPr lvl="1"/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3 – STÄLL IN </a:t>
            </a:r>
            <a:r>
              <a:rPr lang="sv-SE" err="1"/>
              <a:t>IDE:n</a:t>
            </a:r>
            <a:endParaRPr lang="sv-SE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26AC9438-8F15-4C5F-A88A-07283D6D8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923" y="3500193"/>
            <a:ext cx="6241630" cy="2479226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F37B575C-C42E-4CEC-ABC6-621407C61A21}"/>
              </a:ext>
            </a:extLst>
          </p:cNvPr>
          <p:cNvSpPr/>
          <p:nvPr/>
        </p:nvSpPr>
        <p:spPr>
          <a:xfrm>
            <a:off x="2546784" y="4087135"/>
            <a:ext cx="4355198" cy="1952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33D72BEC-02F7-4E8F-AA67-66A684EC0C7A}"/>
              </a:ext>
            </a:extLst>
          </p:cNvPr>
          <p:cNvSpPr/>
          <p:nvPr/>
        </p:nvSpPr>
        <p:spPr>
          <a:xfrm>
            <a:off x="1027823" y="4954968"/>
            <a:ext cx="523786" cy="1759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D78D99E5-B513-4016-BF5C-1F36A66DBB6C}"/>
              </a:ext>
            </a:extLst>
          </p:cNvPr>
          <p:cNvSpPr/>
          <p:nvPr/>
        </p:nvSpPr>
        <p:spPr>
          <a:xfrm>
            <a:off x="1289716" y="5239225"/>
            <a:ext cx="881568" cy="1759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94495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Där vi behöver använda biblioteksfunktionerna inkluderar vi den </a:t>
            </a:r>
            <a:r>
              <a:rPr lang="sv-SE" b="1" err="1"/>
              <a:t>header</a:t>
            </a:r>
            <a:r>
              <a:rPr lang="sv-SE" b="1"/>
              <a:t> som innehåller funktionerna vi behöver</a:t>
            </a:r>
            <a:br>
              <a:rPr lang="sv-SE"/>
            </a:br>
            <a:r>
              <a:rPr lang="sv-SE">
                <a:latin typeface="Consolas" panose="020B0609020204030204" pitchFamily="49" charset="0"/>
              </a:rPr>
              <a:t>#include &lt;</a:t>
            </a:r>
            <a:r>
              <a:rPr lang="sv-SE" err="1">
                <a:latin typeface="Consolas" panose="020B0609020204030204" pitchFamily="49" charset="0"/>
              </a:rPr>
              <a:t>MathsFunction.h</a:t>
            </a:r>
            <a:r>
              <a:rPr lang="sv-SE"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sv-SE"/>
              <a:t>Vi använder taggarna ( &lt;&gt; ) eftersom vi använt inställningen i </a:t>
            </a:r>
            <a:r>
              <a:rPr lang="sv-SE" i="1" err="1"/>
              <a:t>Additional</a:t>
            </a:r>
            <a:r>
              <a:rPr lang="sv-SE" i="1"/>
              <a:t> </a:t>
            </a:r>
            <a:r>
              <a:rPr lang="sv-SE" i="1" err="1"/>
              <a:t>Include</a:t>
            </a:r>
            <a:r>
              <a:rPr lang="sv-SE" i="1"/>
              <a:t> </a:t>
            </a:r>
            <a:r>
              <a:rPr lang="sv-SE" i="1" err="1"/>
              <a:t>Directories</a:t>
            </a:r>
            <a:r>
              <a:rPr lang="sv-SE"/>
              <a:t> för att berätta var filerna finns.</a:t>
            </a:r>
          </a:p>
          <a:p>
            <a:pPr lvl="1"/>
            <a:endParaRPr lang="sv-SE"/>
          </a:p>
          <a:p>
            <a:pPr lvl="1"/>
            <a:endParaRPr lang="sv-SE" sz="2000">
              <a:latin typeface="Consolas" panose="020B0609020204030204" pitchFamily="49" charset="0"/>
            </a:endParaRPr>
          </a:p>
          <a:p>
            <a:endParaRPr lang="sv-SE"/>
          </a:p>
          <a:p>
            <a:pPr lvl="1"/>
            <a:endParaRPr lang="sv-SE"/>
          </a:p>
          <a:p>
            <a:endParaRPr lang="sv-SE"/>
          </a:p>
          <a:p>
            <a:pPr lvl="1"/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4 – INKLUDERA HEADER-FILER</a:t>
            </a:r>
          </a:p>
        </p:txBody>
      </p:sp>
    </p:spTree>
    <p:extLst>
      <p:ext uri="{BB962C8B-B14F-4D97-AF65-F5344CB8AC3E}">
        <p14:creationId xmlns:p14="http://schemas.microsoft.com/office/powerpoint/2010/main" val="144495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Om vi har .</a:t>
            </a:r>
            <a:r>
              <a:rPr lang="sv-SE" b="1" err="1"/>
              <a:t>dll-filer</a:t>
            </a:r>
            <a:r>
              <a:rPr lang="sv-SE" b="1"/>
              <a:t>:</a:t>
            </a:r>
          </a:p>
          <a:p>
            <a:pPr lvl="1"/>
            <a:r>
              <a:rPr lang="sv-SE"/>
              <a:t>Kopiera dem vi behöver från mappen bin/ till mappen där projektets .</a:t>
            </a:r>
            <a:r>
              <a:rPr lang="sv-SE" err="1"/>
              <a:t>exe</a:t>
            </a:r>
            <a:r>
              <a:rPr lang="sv-SE"/>
              <a:t> ligger</a:t>
            </a:r>
          </a:p>
          <a:p>
            <a:pPr lvl="1"/>
            <a:endParaRPr lang="sv-SE"/>
          </a:p>
          <a:p>
            <a:pPr lvl="1"/>
            <a:endParaRPr lang="sv-SE"/>
          </a:p>
          <a:p>
            <a:pPr lvl="1"/>
            <a:endParaRPr lang="sv-SE"/>
          </a:p>
          <a:p>
            <a:pPr marL="457200" lvl="1" indent="0">
              <a:buNone/>
            </a:pPr>
            <a:endParaRPr lang="sv-SE"/>
          </a:p>
          <a:p>
            <a:pPr lvl="1"/>
            <a:r>
              <a:rPr lang="sv-SE"/>
              <a:t>Om du inte vet vilka du behöver: </a:t>
            </a:r>
            <a:r>
              <a:rPr lang="sv-SE" i="1"/>
              <a:t>Flytta inga</a:t>
            </a:r>
          </a:p>
          <a:p>
            <a:pPr lvl="2"/>
            <a:r>
              <a:rPr lang="sv-SE"/>
              <a:t>När du kör programmet kommer det att</a:t>
            </a:r>
            <a:br>
              <a:rPr lang="sv-SE"/>
            </a:br>
            <a:r>
              <a:rPr lang="sv-SE"/>
              <a:t>krascha och meddela vilken fil som saknas</a:t>
            </a:r>
          </a:p>
          <a:p>
            <a:pPr lvl="2"/>
            <a:r>
              <a:rPr lang="sv-SE"/>
              <a:t>Kopiera in filen som meddelades saknad</a:t>
            </a:r>
          </a:p>
          <a:p>
            <a:pPr lvl="2"/>
            <a:r>
              <a:rPr lang="sv-SE"/>
              <a:t>Om flera filer saknas kraschar</a:t>
            </a:r>
            <a:br>
              <a:rPr lang="sv-SE"/>
            </a:br>
            <a:r>
              <a:rPr lang="sv-SE"/>
              <a:t>programmet igen och meddelar nästa fil</a:t>
            </a:r>
          </a:p>
          <a:p>
            <a:pPr lvl="2"/>
            <a:r>
              <a:rPr lang="sv-SE"/>
              <a:t>Upprepa tills alla filer lagts till</a:t>
            </a:r>
          </a:p>
          <a:p>
            <a:pPr lvl="1"/>
            <a:endParaRPr lang="sv-SE"/>
          </a:p>
          <a:p>
            <a:pPr lvl="1"/>
            <a:endParaRPr lang="sv-SE"/>
          </a:p>
          <a:p>
            <a:pPr lvl="1"/>
            <a:endParaRPr lang="sv-SE" sz="2000">
              <a:latin typeface="Consolas" panose="020B0609020204030204" pitchFamily="49" charset="0"/>
            </a:endParaRPr>
          </a:p>
          <a:p>
            <a:endParaRPr lang="sv-SE"/>
          </a:p>
          <a:p>
            <a:pPr lvl="1"/>
            <a:endParaRPr lang="sv-SE"/>
          </a:p>
          <a:p>
            <a:endParaRPr lang="sv-SE"/>
          </a:p>
          <a:p>
            <a:pPr lvl="1"/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5 – SE TILL ATT </a:t>
            </a:r>
            <a:r>
              <a:rPr lang="sv-SE" err="1"/>
              <a:t>IDE:n</a:t>
            </a:r>
            <a:r>
              <a:rPr lang="sv-SE"/>
              <a:t> HITTAR .DLL-FILERNA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9360A27D-82BF-47CB-AE7B-2EBFD133A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299" y="2199510"/>
            <a:ext cx="4757382" cy="1307921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FA469FEA-C0CF-4E3B-A8E3-7FB3993D6771}"/>
              </a:ext>
            </a:extLst>
          </p:cNvPr>
          <p:cNvSpPr/>
          <p:nvPr/>
        </p:nvSpPr>
        <p:spPr>
          <a:xfrm>
            <a:off x="1277138" y="2623513"/>
            <a:ext cx="4088350" cy="3086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61653C46-67E5-41AB-B726-D1056F69B6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0201" y="4099686"/>
            <a:ext cx="3809016" cy="2045109"/>
          </a:xfrm>
          <a:prstGeom prst="rect">
            <a:avLst/>
          </a:prstGeom>
        </p:spPr>
      </p:pic>
      <p:sp>
        <p:nvSpPr>
          <p:cNvPr id="8" name="Rektangel 7">
            <a:extLst>
              <a:ext uri="{FF2B5EF4-FFF2-40B4-BE49-F238E27FC236}">
                <a16:creationId xmlns:a16="http://schemas.microsoft.com/office/drawing/2014/main" id="{78A6EC33-F711-4AA7-8E81-EA08EACBAD80}"/>
              </a:ext>
            </a:extLst>
          </p:cNvPr>
          <p:cNvSpPr/>
          <p:nvPr/>
        </p:nvSpPr>
        <p:spPr>
          <a:xfrm>
            <a:off x="7949990" y="5040536"/>
            <a:ext cx="1148668" cy="1964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19578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8E858B-0190-4D8E-9FD0-B43A0092B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Kompileringsfel:</a:t>
            </a:r>
          </a:p>
          <a:p>
            <a:pPr lvl="1"/>
            <a:r>
              <a:rPr lang="sv-SE"/>
              <a:t>Felmeddelande ”</a:t>
            </a:r>
            <a:r>
              <a:rPr lang="sv-SE" err="1"/>
              <a:t>Cannot</a:t>
            </a:r>
            <a:r>
              <a:rPr lang="sv-SE"/>
              <a:t> </a:t>
            </a:r>
            <a:r>
              <a:rPr lang="sv-SE" err="1"/>
              <a:t>open</a:t>
            </a:r>
            <a:r>
              <a:rPr lang="sv-SE"/>
              <a:t> </a:t>
            </a:r>
            <a:r>
              <a:rPr lang="sv-SE" err="1"/>
              <a:t>include</a:t>
            </a:r>
            <a:r>
              <a:rPr lang="sv-SE"/>
              <a:t> </a:t>
            </a:r>
            <a:r>
              <a:rPr lang="sv-SE" err="1"/>
              <a:t>file</a:t>
            </a:r>
            <a:r>
              <a:rPr lang="sv-SE"/>
              <a:t>…”</a:t>
            </a:r>
          </a:p>
          <a:p>
            <a:pPr lvl="2"/>
            <a:r>
              <a:rPr lang="sv-SE" err="1"/>
              <a:t>Additional</a:t>
            </a:r>
            <a:r>
              <a:rPr lang="sv-SE"/>
              <a:t> </a:t>
            </a:r>
            <a:r>
              <a:rPr lang="sv-SE" err="1"/>
              <a:t>Include</a:t>
            </a:r>
            <a:r>
              <a:rPr lang="sv-SE"/>
              <a:t> </a:t>
            </a:r>
            <a:r>
              <a:rPr lang="sv-SE" err="1"/>
              <a:t>Directories</a:t>
            </a:r>
            <a:r>
              <a:rPr lang="sv-SE"/>
              <a:t> är inte satt korrekt</a:t>
            </a:r>
            <a:br>
              <a:rPr lang="sv-SE"/>
            </a:br>
            <a:endParaRPr lang="sv-SE"/>
          </a:p>
          <a:p>
            <a:pPr lvl="1"/>
            <a:r>
              <a:rPr lang="sv-SE"/>
              <a:t>När du skriver </a:t>
            </a:r>
            <a:r>
              <a:rPr lang="sv-SE">
                <a:latin typeface="Consolas" panose="020B0609020204030204" pitchFamily="49" charset="0"/>
              </a:rPr>
              <a:t>#include &lt;</a:t>
            </a:r>
            <a:r>
              <a:rPr lang="sv-SE"/>
              <a:t> så hittar du inte </a:t>
            </a:r>
            <a:r>
              <a:rPr lang="sv-SE" err="1"/>
              <a:t>header</a:t>
            </a:r>
            <a:r>
              <a:rPr lang="sv-SE"/>
              <a:t>-filen du letar efter i listan som kommer upp</a:t>
            </a:r>
          </a:p>
          <a:p>
            <a:pPr lvl="2"/>
            <a:r>
              <a:rPr lang="sv-SE" err="1"/>
              <a:t>Additional</a:t>
            </a:r>
            <a:r>
              <a:rPr lang="sv-SE"/>
              <a:t> </a:t>
            </a:r>
            <a:r>
              <a:rPr lang="sv-SE" err="1"/>
              <a:t>Include</a:t>
            </a:r>
            <a:r>
              <a:rPr lang="sv-SE"/>
              <a:t> </a:t>
            </a:r>
            <a:r>
              <a:rPr lang="sv-SE" err="1"/>
              <a:t>Directories</a:t>
            </a:r>
            <a:r>
              <a:rPr lang="sv-SE"/>
              <a:t> är inte satt korrekt</a:t>
            </a:r>
            <a:br>
              <a:rPr lang="sv-SE"/>
            </a:br>
            <a:endParaRPr lang="sv-SE"/>
          </a:p>
          <a:p>
            <a:pPr lvl="1"/>
            <a:r>
              <a:rPr lang="sv-SE"/>
              <a:t>Felmeddelande ”</a:t>
            </a:r>
            <a:r>
              <a:rPr lang="sv-SE" err="1"/>
              <a:t>Unresolved</a:t>
            </a:r>
            <a:r>
              <a:rPr lang="sv-SE"/>
              <a:t> </a:t>
            </a:r>
            <a:r>
              <a:rPr lang="sv-SE" err="1"/>
              <a:t>external</a:t>
            </a:r>
            <a:r>
              <a:rPr lang="sv-SE"/>
              <a:t> symbol ”__</a:t>
            </a:r>
            <a:r>
              <a:rPr lang="sv-SE" err="1"/>
              <a:t>declspec</a:t>
            </a:r>
            <a:r>
              <a:rPr lang="sv-SE"/>
              <a:t>(</a:t>
            </a:r>
            <a:r>
              <a:rPr lang="sv-SE" err="1"/>
              <a:t>dllimport</a:t>
            </a:r>
            <a:r>
              <a:rPr lang="sv-SE"/>
              <a:t>) […]” ”</a:t>
            </a:r>
          </a:p>
          <a:p>
            <a:pPr lvl="2"/>
            <a:r>
              <a:rPr lang="sv-SE" err="1"/>
              <a:t>Additional</a:t>
            </a:r>
            <a:r>
              <a:rPr lang="sv-SE"/>
              <a:t> </a:t>
            </a:r>
            <a:r>
              <a:rPr lang="sv-SE" err="1"/>
              <a:t>Library</a:t>
            </a:r>
            <a:r>
              <a:rPr lang="sv-SE"/>
              <a:t> </a:t>
            </a:r>
            <a:r>
              <a:rPr lang="sv-SE" err="1"/>
              <a:t>Directories</a:t>
            </a:r>
            <a:r>
              <a:rPr lang="sv-SE"/>
              <a:t> är inte satt korrekt</a:t>
            </a:r>
          </a:p>
          <a:p>
            <a:pPr lvl="2"/>
            <a:r>
              <a:rPr lang="sv-SE"/>
              <a:t>Vi har glömt att lägga till de .</a:t>
            </a:r>
            <a:r>
              <a:rPr lang="sv-SE" err="1"/>
              <a:t>lib</a:t>
            </a:r>
            <a:r>
              <a:rPr lang="sv-SE"/>
              <a:t>-filer vi använder i </a:t>
            </a:r>
            <a:r>
              <a:rPr lang="sv-SE" err="1"/>
              <a:t>Linker</a:t>
            </a:r>
            <a:r>
              <a:rPr lang="sv-SE"/>
              <a:t> -&gt; Input -&gt; </a:t>
            </a:r>
            <a:r>
              <a:rPr lang="sv-SE" err="1"/>
              <a:t>Additional</a:t>
            </a:r>
            <a:r>
              <a:rPr lang="sv-SE"/>
              <a:t> </a:t>
            </a:r>
            <a:r>
              <a:rPr lang="sv-SE" err="1"/>
              <a:t>Dependencies</a:t>
            </a:r>
            <a:br>
              <a:rPr lang="sv-SE"/>
            </a:br>
            <a:endParaRPr lang="sv-SE"/>
          </a:p>
          <a:p>
            <a:pPr lvl="1"/>
            <a:r>
              <a:rPr lang="sv-SE"/>
              <a:t>Felmeddelande ”</a:t>
            </a:r>
            <a:r>
              <a:rPr lang="sv-SE" err="1"/>
              <a:t>Cannot</a:t>
            </a:r>
            <a:r>
              <a:rPr lang="sv-SE"/>
              <a:t> </a:t>
            </a:r>
            <a:r>
              <a:rPr lang="sv-SE" err="1"/>
              <a:t>open</a:t>
            </a:r>
            <a:r>
              <a:rPr lang="sv-SE"/>
              <a:t> </a:t>
            </a:r>
            <a:r>
              <a:rPr lang="sv-SE" err="1"/>
              <a:t>file</a:t>
            </a:r>
            <a:r>
              <a:rPr lang="sv-SE"/>
              <a:t> xxx.lib”</a:t>
            </a:r>
          </a:p>
          <a:p>
            <a:pPr lvl="2"/>
            <a:r>
              <a:rPr lang="sv-SE" err="1"/>
              <a:t>Additional</a:t>
            </a:r>
            <a:r>
              <a:rPr lang="sv-SE"/>
              <a:t> </a:t>
            </a:r>
            <a:r>
              <a:rPr lang="sv-SE" err="1"/>
              <a:t>Library</a:t>
            </a:r>
            <a:r>
              <a:rPr lang="sv-SE"/>
              <a:t> </a:t>
            </a:r>
            <a:r>
              <a:rPr lang="sv-SE" err="1"/>
              <a:t>Directories</a:t>
            </a:r>
            <a:r>
              <a:rPr lang="sv-SE"/>
              <a:t> är inte satt korrekt (så kompilatorn hittar inte de .</a:t>
            </a:r>
            <a:r>
              <a:rPr lang="sv-SE" err="1"/>
              <a:t>lib</a:t>
            </a:r>
            <a:r>
              <a:rPr lang="sv-SE"/>
              <a:t>-filer vi sagt att vi vill använda)</a:t>
            </a:r>
          </a:p>
          <a:p>
            <a:pPr lvl="1"/>
            <a:endParaRPr lang="sv-S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0AC8CC-3BF3-4ADB-8A83-087010510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VANLIGA FEL</a:t>
            </a:r>
          </a:p>
        </p:txBody>
      </p:sp>
    </p:spTree>
    <p:extLst>
      <p:ext uri="{BB962C8B-B14F-4D97-AF65-F5344CB8AC3E}">
        <p14:creationId xmlns:p14="http://schemas.microsoft.com/office/powerpoint/2010/main" val="3389413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8E858B-0190-4D8E-9FD0-B43A0092B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b="1"/>
              <a:t>Körningsfel:</a:t>
            </a:r>
          </a:p>
          <a:p>
            <a:pPr lvl="1"/>
            <a:r>
              <a:rPr lang="sv-SE"/>
              <a:t>Krasch med meddelandet: ”The program </a:t>
            </a:r>
            <a:r>
              <a:rPr lang="sv-SE" err="1"/>
              <a:t>can’t</a:t>
            </a:r>
            <a:r>
              <a:rPr lang="sv-SE"/>
              <a:t> start </a:t>
            </a:r>
            <a:r>
              <a:rPr lang="sv-SE" err="1"/>
              <a:t>because</a:t>
            </a:r>
            <a:r>
              <a:rPr lang="sv-SE"/>
              <a:t> xxx.dll is </a:t>
            </a:r>
            <a:r>
              <a:rPr lang="sv-SE" err="1"/>
              <a:t>missing</a:t>
            </a:r>
            <a:r>
              <a:rPr lang="sv-SE"/>
              <a:t> from </a:t>
            </a:r>
            <a:r>
              <a:rPr lang="sv-SE" err="1"/>
              <a:t>your</a:t>
            </a:r>
            <a:r>
              <a:rPr lang="sv-SE"/>
              <a:t> computer. Try </a:t>
            </a:r>
            <a:r>
              <a:rPr lang="sv-SE" err="1"/>
              <a:t>reinstalling</a:t>
            </a:r>
            <a:r>
              <a:rPr lang="sv-SE"/>
              <a:t> the program to fix </a:t>
            </a:r>
            <a:r>
              <a:rPr lang="sv-SE" err="1"/>
              <a:t>this</a:t>
            </a:r>
            <a:r>
              <a:rPr lang="sv-SE"/>
              <a:t> problem.”</a:t>
            </a:r>
          </a:p>
          <a:p>
            <a:pPr lvl="2"/>
            <a:r>
              <a:rPr lang="sv-SE"/>
              <a:t>.</a:t>
            </a:r>
            <a:r>
              <a:rPr lang="sv-SE" err="1"/>
              <a:t>dll-filen</a:t>
            </a:r>
            <a:r>
              <a:rPr lang="sv-SE"/>
              <a:t> ligger inte i samma mapp som .</a:t>
            </a:r>
            <a:r>
              <a:rPr lang="sv-SE" err="1"/>
              <a:t>exe</a:t>
            </a:r>
            <a:r>
              <a:rPr lang="sv-SE"/>
              <a:t>-filen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0AC8CC-3BF3-4ADB-8A83-087010510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VANLIGA FEL</a:t>
            </a:r>
          </a:p>
        </p:txBody>
      </p:sp>
    </p:spTree>
    <p:extLst>
      <p:ext uri="{BB962C8B-B14F-4D97-AF65-F5344CB8AC3E}">
        <p14:creationId xmlns:p14="http://schemas.microsoft.com/office/powerpoint/2010/main" val="1577492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46227-A645-CEB0-5B5F-FAD9BE36F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derrubrik 2">
            <a:extLst>
              <a:ext uri="{FF2B5EF4-FFF2-40B4-BE49-F238E27FC236}">
                <a16:creationId xmlns:a16="http://schemas.microsoft.com/office/drawing/2014/main" id="{E1CC9FE3-801B-188D-101C-4CC1713BB9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/>
              <a:t>Introduktion till C++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DF5C4625-5C18-968D-93CC-A532CC7474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/>
              <a:t>AVSLUTNINGSVIS</a:t>
            </a:r>
          </a:p>
        </p:txBody>
      </p:sp>
    </p:spTree>
    <p:extLst>
      <p:ext uri="{BB962C8B-B14F-4D97-AF65-F5344CB8AC3E}">
        <p14:creationId xmlns:p14="http://schemas.microsoft.com/office/powerpoint/2010/main" val="1837307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8E858B-0190-4D8E-9FD0-B43A0092BB6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r>
              <a:rPr lang="sv-SE" sz="1800" b="1"/>
              <a:t>Läs inför nästa föreläsning, C++ Primer:</a:t>
            </a:r>
          </a:p>
          <a:p>
            <a:pPr lvl="1"/>
            <a:r>
              <a:rPr lang="sv-SE" sz="1600"/>
              <a:t>6.3.5 (sid. 240-242)</a:t>
            </a:r>
          </a:p>
          <a:p>
            <a:pPr lvl="1"/>
            <a:endParaRPr lang="sv-SE" sz="1600">
              <a:sym typeface="Wingdings" panose="05000000000000000000" pitchFamily="2" charset="2"/>
            </a:endParaRPr>
          </a:p>
          <a:p>
            <a:r>
              <a:rPr lang="sv-SE" sz="1800" b="1">
                <a:sym typeface="Wingdings" panose="05000000000000000000" pitchFamily="2" charset="2"/>
              </a:rPr>
              <a:t>Uppgift:</a:t>
            </a:r>
          </a:p>
          <a:p>
            <a:pPr lvl="1"/>
            <a:r>
              <a:rPr lang="sv-SE" sz="1600">
                <a:sym typeface="Wingdings" panose="05000000000000000000" pitchFamily="2" charset="2"/>
              </a:rPr>
              <a:t>Uppgift 10 - Timer</a:t>
            </a:r>
            <a:endParaRPr lang="sv-SE" sz="160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0AC8CC-3BF3-4ADB-8A83-087010510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LÄSNING / UPPGIFTEN</a:t>
            </a:r>
          </a:p>
        </p:txBody>
      </p:sp>
      <p:pic>
        <p:nvPicPr>
          <p:cNvPr id="3" name="Bild 5">
            <a:extLst>
              <a:ext uri="{FF2B5EF4-FFF2-40B4-BE49-F238E27FC236}">
                <a16:creationId xmlns:a16="http://schemas.microsoft.com/office/drawing/2014/main" id="{B65EC9C6-3966-01E7-02A2-DD68EA3B33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60847" y="1285905"/>
            <a:ext cx="4366305" cy="428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82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1">
            <a:extLst>
              <a:ext uri="{FF2B5EF4-FFF2-40B4-BE49-F238E27FC236}">
                <a16:creationId xmlns:a16="http://schemas.microsoft.com/office/drawing/2014/main" id="{249F41F7-1F1F-3755-1E89-36BA0C2603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8335" y="1627518"/>
            <a:ext cx="5735330" cy="3602964"/>
          </a:xfrm>
          <a:prstGeom prst="rect">
            <a:avLst/>
          </a:prstGeom>
        </p:spPr>
      </p:pic>
      <p:sp>
        <p:nvSpPr>
          <p:cNvPr id="3" name="Rubrik 2">
            <a:extLst>
              <a:ext uri="{FF2B5EF4-FFF2-40B4-BE49-F238E27FC236}">
                <a16:creationId xmlns:a16="http://schemas.microsoft.com/office/drawing/2014/main" id="{348B77A5-5AB4-CD66-D0AB-EBB0FC40B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FRÅGOR?</a:t>
            </a:r>
          </a:p>
        </p:txBody>
      </p:sp>
    </p:spTree>
    <p:extLst>
      <p:ext uri="{BB962C8B-B14F-4D97-AF65-F5344CB8AC3E}">
        <p14:creationId xmlns:p14="http://schemas.microsoft.com/office/powerpoint/2010/main" val="2113149433"/>
      </p:ext>
    </p:extLst>
  </p:cSld>
  <p:clrMapOvr>
    <a:masterClrMapping/>
  </p:clrMapOvr>
</p:sld>
</file>

<file path=ppt/theme/theme1.xml><?xml version="1.0" encoding="utf-8"?>
<a:theme xmlns:a="http://schemas.openxmlformats.org/drawingml/2006/main" name="Blackbit">
  <a:themeElements>
    <a:clrScheme name="TGA Yellow">
      <a:dk1>
        <a:srgbClr val="000000"/>
      </a:dk1>
      <a:lt1>
        <a:srgbClr val="FFFFFF"/>
      </a:lt1>
      <a:dk2>
        <a:srgbClr val="FFC907"/>
      </a:dk2>
      <a:lt2>
        <a:srgbClr val="FFF6E1"/>
      </a:lt2>
      <a:accent1>
        <a:srgbClr val="FFFFFF"/>
      </a:accent1>
      <a:accent2>
        <a:srgbClr val="933C80"/>
      </a:accent2>
      <a:accent3>
        <a:srgbClr val="019AB1"/>
      </a:accent3>
      <a:accent4>
        <a:srgbClr val="FFC907"/>
      </a:accent4>
      <a:accent5>
        <a:srgbClr val="3E063F"/>
      </a:accent5>
      <a:accent6>
        <a:srgbClr val="003333"/>
      </a:accent6>
      <a:hlink>
        <a:srgbClr val="933C80"/>
      </a:hlink>
      <a:folHlink>
        <a:srgbClr val="0097A7"/>
      </a:folHlink>
    </a:clrScheme>
    <a:fontScheme name="TGA">
      <a:majorFont>
        <a:latin typeface="Barlow Semi Condensed Medium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GA_Powerpoint-template_2026.potx" id="{6CD8C450-888A-4E33-867B-71C6E505F12B}" vid="{04F51BFE-CAE6-4A2C-8897-B90419005CA5}"/>
    </a:ext>
  </a:extLst>
</a:theme>
</file>

<file path=ppt/theme/theme2.xml><?xml version="1.0" encoding="utf-8"?>
<a:theme xmlns:a="http://schemas.openxmlformats.org/drawingml/2006/main" name="Light Pixel Plum">
  <a:themeElements>
    <a:clrScheme name="TGA Pink">
      <a:dk1>
        <a:srgbClr val="000000"/>
      </a:dk1>
      <a:lt1>
        <a:srgbClr val="FFFFFF"/>
      </a:lt1>
      <a:dk2>
        <a:srgbClr val="933C80"/>
      </a:dk2>
      <a:lt2>
        <a:srgbClr val="F9DEF9"/>
      </a:lt2>
      <a:accent1>
        <a:srgbClr val="FFFFFF"/>
      </a:accent1>
      <a:accent2>
        <a:srgbClr val="933C80"/>
      </a:accent2>
      <a:accent3>
        <a:srgbClr val="019AB1"/>
      </a:accent3>
      <a:accent4>
        <a:srgbClr val="FFC907"/>
      </a:accent4>
      <a:accent5>
        <a:srgbClr val="3E063F"/>
      </a:accent5>
      <a:accent6>
        <a:srgbClr val="003333"/>
      </a:accent6>
      <a:hlink>
        <a:srgbClr val="933C80"/>
      </a:hlink>
      <a:folHlink>
        <a:srgbClr val="0097A7"/>
      </a:folHlink>
    </a:clrScheme>
    <a:fontScheme name="TGA Fonts">
      <a:majorFont>
        <a:latin typeface="Barlow Semi Condensed Medium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GA_Powerpoint-template_2026.potx" id="{6CD8C450-888A-4E33-867B-71C6E505F12B}" vid="{25187318-5690-49CA-B275-AABEE5C1A978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B668B93E5FEE44FA1CF4C215761010E" ma:contentTypeVersion="12" ma:contentTypeDescription="Skapa ett nytt dokument." ma:contentTypeScope="" ma:versionID="f42d918fcb3d950cad7dcf9cdf251a22">
  <xsd:schema xmlns:xsd="http://www.w3.org/2001/XMLSchema" xmlns:xs="http://www.w3.org/2001/XMLSchema" xmlns:p="http://schemas.microsoft.com/office/2006/metadata/properties" xmlns:ns2="bf173c2e-83f0-486a-a849-dc1af1c205ed" xmlns:ns3="4c13cf56-8770-44b7-9ee4-06b92f0bc1e4" targetNamespace="http://schemas.microsoft.com/office/2006/metadata/properties" ma:root="true" ma:fieldsID="2c247a5fb6f101c8b09fc84dd18d5f13" ns2:_="" ns3:_="">
    <xsd:import namespace="bf173c2e-83f0-486a-a849-dc1af1c205ed"/>
    <xsd:import namespace="4c13cf56-8770-44b7-9ee4-06b92f0bc1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173c2e-83f0-486a-a849-dc1af1c205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Bildmarkeringar" ma:readOnly="false" ma:fieldId="{5cf76f15-5ced-4ddc-b409-7134ff3c332f}" ma:taxonomyMulti="true" ma:sspId="5c710d13-4dcc-47ab-8cf0-c7c483f2e8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3cf56-8770-44b7-9ee4-06b92f0bc1e4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0c1d7cac-a4ed-4573-b988-fdf4faad32e6}" ma:internalName="TaxCatchAll" ma:showField="CatchAllData" ma:web="4c13cf56-8770-44b7-9ee4-06b92f0bc1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Ite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f173c2e-83f0-486a-a849-dc1af1c205ed">
      <Terms xmlns="http://schemas.microsoft.com/office/infopath/2007/PartnerControls"/>
    </lcf76f155ced4ddcb4097134ff3c332f>
    <TaxCatchAll xmlns="4c13cf56-8770-44b7-9ee4-06b92f0bc1e4" xsi:nil="true"/>
  </documentManagement>
</p:properties>
</file>

<file path=customXml/itemProps1.xml><?xml version="1.0" encoding="utf-8"?>
<ds:datastoreItem xmlns:ds="http://schemas.openxmlformats.org/officeDocument/2006/customXml" ds:itemID="{1F5F5FE1-4435-49C0-89A1-488D030E084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AC66D55-3D98-4432-A943-14BE277965C3}">
  <ds:schemaRefs>
    <ds:schemaRef ds:uri="4c13cf56-8770-44b7-9ee4-06b92f0bc1e4"/>
    <ds:schemaRef ds:uri="bf173c2e-83f0-486a-a849-dc1af1c205e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4D3333B-DB1F-4BA2-A97F-A02ECCD53341}">
  <ds:schemaRefs>
    <ds:schemaRef ds:uri="4c13cf56-8770-44b7-9ee4-06b92f0bc1e4"/>
    <ds:schemaRef ds:uri="bf173c2e-83f0-486a-a849-dc1af1c205e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80</Slides>
  <Notes>56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80</vt:i4>
      </vt:variant>
    </vt:vector>
  </HeadingPairs>
  <TitlesOfParts>
    <vt:vector size="82" baseType="lpstr">
      <vt:lpstr>Blackbit</vt:lpstr>
      <vt:lpstr>Light Pixel Plum</vt:lpstr>
      <vt:lpstr>INTRODUKTION TILL PROGRAMMERING I C++</vt:lpstr>
      <vt:lpstr>AGENDA</vt:lpstr>
      <vt:lpstr>BIBLIOTEK</vt:lpstr>
      <vt:lpstr>BIBLIOTEK – LÄNKNING</vt:lpstr>
      <vt:lpstr>BIBLIOTEK - PROJEKTINSTÄLLNINGAR</vt:lpstr>
      <vt:lpstr>BIBLIOTEK – STEG FÖR ATT BYGGA</vt:lpstr>
      <vt:lpstr>BIBLIOTEK – DLL</vt:lpstr>
      <vt:lpstr>BIBLIOTEK – STRUKTUR</vt:lpstr>
      <vt:lpstr>BIBLIOTEK – FELSÖKNING</vt:lpstr>
      <vt:lpstr>TIMER</vt:lpstr>
      <vt:lpstr>TIMER - TRE BEGREPP ATT HÅLLA ISÄR</vt:lpstr>
      <vt:lpstr>TIMER – DELTA TIME NORMALISERAR RÖRELSE</vt:lpstr>
      <vt:lpstr>TIMER – ALTERNATIVE: FIXED FRAME RATE </vt:lpstr>
      <vt:lpstr>SAMMANFATTNING</vt:lpstr>
      <vt:lpstr>PROJEKTINSTÄLLNINGAR</vt:lpstr>
      <vt:lpstr>PROJEKTINSTÄLLNINGAR</vt:lpstr>
      <vt:lpstr>PROJEKTINSTÄLLNINGAR</vt:lpstr>
      <vt:lpstr>MAKRON</vt:lpstr>
      <vt:lpstr>MAKRON</vt:lpstr>
      <vt:lpstr>MAKRON</vt:lpstr>
      <vt:lpstr>PROJEKTINSTÄLLNINGAR</vt:lpstr>
      <vt:lpstr>PROJEKTINSTÄLLNINGAR</vt:lpstr>
      <vt:lpstr>PROJEKTINSTÄLLNINGAR</vt:lpstr>
      <vt:lpstr>PROJEKTINSTÄLLNINGAR</vt:lpstr>
      <vt:lpstr>PROJEKTINSTÄLLNINGAR</vt:lpstr>
      <vt:lpstr>PROJEKTINSTÄLLNINGAR</vt:lpstr>
      <vt:lpstr>PROJEKTINSTÄLLNINGAR</vt:lpstr>
      <vt:lpstr>KONFIGURATIONER</vt:lpstr>
      <vt:lpstr>KONFIGURATIONER</vt:lpstr>
      <vt:lpstr>KONFIGURATIONER</vt:lpstr>
      <vt:lpstr>KONFIGURATIONER</vt:lpstr>
      <vt:lpstr>KONFIGURATIONER</vt:lpstr>
      <vt:lpstr>LÄNKA IN BIBLIOTEK</vt:lpstr>
      <vt:lpstr>LÄNKA IN BIBLIOTEK</vt:lpstr>
      <vt:lpstr>LÄNKA IN BIBLIOTEK</vt:lpstr>
      <vt:lpstr>1 – LADDA NER BIBLIOTEKET</vt:lpstr>
      <vt:lpstr>1 – LADDA NER BIBLIOTEKET</vt:lpstr>
      <vt:lpstr>2 – INSTALLERA BIBLIOTEKET</vt:lpstr>
      <vt:lpstr>3 – STÄLL IN IDE:n</vt:lpstr>
      <vt:lpstr>4 – ANGE FILER SOM SKA LÄNKAS IN</vt:lpstr>
      <vt:lpstr>5 – INKLUDERA HEADER-FILER</vt:lpstr>
      <vt:lpstr>5 – INKLUDERA HEADER-FILER</vt:lpstr>
      <vt:lpstr>6 – SE TILL ATT IDE:n HITTAR .dll-FILERNA</vt:lpstr>
      <vt:lpstr>SKAPA ETT EGET BIBLIOTEK</vt:lpstr>
      <vt:lpstr>SKAPA ETT EGET BIBLIOTEK</vt:lpstr>
      <vt:lpstr>1 – SKAPA ETT PROJEKT</vt:lpstr>
      <vt:lpstr>1 – TA BORT 32BITARSPLATTFORM</vt:lpstr>
      <vt:lpstr>2 – STÄLL IN INSTÄLLNINGARNA</vt:lpstr>
      <vt:lpstr>2 – STÄLL IN INSTÄLLNINGARNA</vt:lpstr>
      <vt:lpstr>2 – STÄLL IN INSTÄLLNINGARNA</vt:lpstr>
      <vt:lpstr>3 – SKAPA FILER FÖR DIN FÖRSTA KLASS</vt:lpstr>
      <vt:lpstr>4 – STÄLL IN PREPROCESSORN [DYNAMISKT]</vt:lpstr>
      <vt:lpstr>5 – SKRIV DLL-KOD [DYNAMISKT]</vt:lpstr>
      <vt:lpstr>6 – SKRIV BIBLIOTEKET [DYNAMISKT]</vt:lpstr>
      <vt:lpstr>6 – SKRIV BIBLIOTEKET [STATISKT]</vt:lpstr>
      <vt:lpstr>CLEANING UP THE MESS</vt:lpstr>
      <vt:lpstr>CLEANING UP THE MESS</vt:lpstr>
      <vt:lpstr>CLEANING UP THE MESS</vt:lpstr>
      <vt:lpstr>CLEANING UP THE MESS</vt:lpstr>
      <vt:lpstr>CLEANING UP THE MESS</vt:lpstr>
      <vt:lpstr>TIMER</vt:lpstr>
      <vt:lpstr>TIMER</vt:lpstr>
      <vt:lpstr>TIMER</vt:lpstr>
      <vt:lpstr>TIMER</vt:lpstr>
      <vt:lpstr>TIMER</vt:lpstr>
      <vt:lpstr>ALTERNATIV TILL TIMER</vt:lpstr>
      <vt:lpstr>TIMER</vt:lpstr>
      <vt:lpstr>LÄNKA IN ETT EGET BIBLIOTEK</vt:lpstr>
      <vt:lpstr>LÄNKA IN ETT EGET BIBLIOTEK</vt:lpstr>
      <vt:lpstr>1 - LÄGG IN FILERNA</vt:lpstr>
      <vt:lpstr>2 – STÄLL IN IDE:n</vt:lpstr>
      <vt:lpstr>2 – STÄLL IN IDE:n</vt:lpstr>
      <vt:lpstr>3 – STÄLL IN IDE:n</vt:lpstr>
      <vt:lpstr>4 – INKLUDERA HEADER-FILER</vt:lpstr>
      <vt:lpstr>5 – SE TILL ATT IDE:n HITTAR .DLL-FILERNA</vt:lpstr>
      <vt:lpstr>VANLIGA FEL</vt:lpstr>
      <vt:lpstr>VANLIGA FEL</vt:lpstr>
      <vt:lpstr>AVSLUTNINGSVIS</vt:lpstr>
      <vt:lpstr>LÄSNING / UPPGIFTEN</vt:lpstr>
      <vt:lpstr>FRÅGOR?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Borgshammar</dc:creator>
  <cp:revision>1090</cp:revision>
  <dcterms:created xsi:type="dcterms:W3CDTF">2021-10-04T08:47:50Z</dcterms:created>
  <dcterms:modified xsi:type="dcterms:W3CDTF">2026-10-20T07:26:26Z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0x010100CB668B93E5FEE44FA1CF4C215761010E</vt:lpwstr>
  </property>
  <property fmtid="{D5CDD505-2E9C-101B-9397-08002B2CF9AE}" pid="3" name="MediaServiceImageTags">
    <vt:lpwstr/>
  </property>
  <property fmtid="{D5CDD505-2E9C-101B-9397-08002B2CF9AE}" pid="4" name="_ExtendedDescription">
    <vt:lpwstr/>
  </property>
</Properties>
</file>